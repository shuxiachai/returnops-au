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h3CtfHZgHJ993fvSJvUfGZ4me1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B4A142-9A98-4E43-85FE-73311155B4A8}">
  <a:tblStyle styleId="{BAB4A142-9A98-4E43-85FE-73311155B4A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  0:00–0:35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ReturnOps AU is our proposed returns system for one Australian online store. Consider a synthetic example: a customer receives a desk lamp with a cracked base and requests a return. The Founder needs the original complaint, purchase evidence and relevant guidance before deciding. Our design prepares a traceable recommendation, then requires human approval for a simulated return and parcel label. This example illustrates the design without claiming a legal entitlement.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Chinese guide</a:t>
            </a:r>
            <a:endParaRPr/>
          </a:p>
          <a:p>
            <a:pPr indent="0" lvl="0" marL="0" rtl="0" algn="l">
              <a:spcBef>
                <a:spcPts val="0"/>
              </a:spcBef>
              <a:spcAft>
                <a:spcPts val="0"/>
              </a:spcAft>
              <a:buNone/>
            </a:pPr>
            <a:r>
              <a:rPr lang="en-US" sz="1200"/>
              <a:t>A 先用台灯破损案例说明业务问题，再指出系统帮助 Founder 做有依据的决定。台灯是报告中的合成示例，不是已运行的系统演示或真实消费者案例。</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Visual cue</a:t>
            </a:r>
            <a:endParaRPr/>
          </a:p>
          <a:p>
            <a:pPr indent="0" lvl="0" marL="0" rtl="0" algn="l">
              <a:spcBef>
                <a:spcPts val="0"/>
              </a:spcBef>
              <a:spcAft>
                <a:spcPts val="0"/>
              </a:spcAft>
              <a:buNone/>
            </a:pPr>
            <a:r>
              <a:rPr lang="en-US" sz="1200"/>
              <a:t>本页是纯文字封面。口头引入合成台灯案例，画面停留在项目标题、one store、three AI roles 和 human approval 文字；本页没有台灯图片或业务流程图。</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 report v0.3, Sections 1–2. Illustration refers to a hypothetical desk-lamp case. No measured result.</a:t>
            </a:r>
            <a:endParaRPr/>
          </a:p>
          <a:p>
            <a:pPr indent="0" lvl="0" marL="0" rtl="0" algn="l">
              <a:spcBef>
                <a:spcPts val="0"/>
              </a:spcBef>
              <a:spcAft>
                <a:spcPts val="0"/>
              </a:spcAft>
              <a:buNone/>
            </a:pPr>
            <a:r>
              <a:rPr lang="en-US" sz="1200"/>
              <a:t>https://docs.google.com/document/d/1xvGO8EA_yZwWj1It3UM7AKDFEoQjsj5eJJXbCz4bcnc/edit</a:t>
            </a:r>
            <a:endParaRPr/>
          </a:p>
          <a:p>
            <a:pPr indent="0" lvl="0" marL="0" rtl="0" algn="l">
              <a:spcBef>
                <a:spcPts val="0"/>
              </a:spcBef>
              <a:spcAft>
                <a:spcPts val="0"/>
              </a:spcAft>
              <a:buNone/>
            </a:pPr>
            <a:r>
              <a:rPr lang="en-US" sz="1200"/>
              <a:t>Canvas video: https://canvas.sydney.edu.au/courses/74323/assignments/695833</a:t>
            </a:r>
            <a:endParaRPr/>
          </a:p>
          <a:p>
            <a:pPr indent="0" lvl="0" marL="0" rtl="0" algn="l">
              <a:spcBef>
                <a:spcPts val="0"/>
              </a:spcBef>
              <a:spcAft>
                <a:spcPts val="0"/>
              </a:spcAft>
              <a:buNone/>
            </a:pPr>
            <a:r>
              <a:rPr lang="en-US" sz="1200"/>
              <a:t>AI-assisted preparation. Verify wording and acknowledge assistance before submission.</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  0:35–1:15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distinguish project assumptions, required core capabilities and selected optional features. Our project assumes one store and mock provider execution. A owns lifecycle and controlled execution, B owns intake and Founder review, and C owns retrieval and independent risk review. These are required core capabilities. The selected optional features are A's logistics test adapter, B's analytics and C's image observations. They remain commitments, although logistics test access is unresolved. Traceability and human approval govern the core. Real refunds, physical inspection and inventory restocking remain outside 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Chinese guide</a:t>
            </a:r>
            <a:endParaRPr/>
          </a:p>
          <a:p>
            <a:pPr indent="0" lvl="0" marL="0" rtl="0" algn="l">
              <a:spcBef>
                <a:spcPts val="0"/>
              </a:spcBef>
              <a:spcAft>
                <a:spcPts val="0"/>
              </a:spcAft>
              <a:buNone/>
            </a:pPr>
            <a:r>
              <a:rPr lang="en-US" sz="1200"/>
              <a:t>B 先区分项目约定、必选核心能力与已选 optional。项目约定是一家商店与模拟 provider 执行；A/B/C 各自的两项 core 是必选能力，三项已选 optional 仍是本组承诺。物流测试接入尚有外部依赖，不能把未解决依赖说成已完成，也不能把 human approval 仅说成可选约定。</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Visual cue</a:t>
            </a:r>
            <a:endParaRPr/>
          </a:p>
          <a:p>
            <a:pPr indent="0" lvl="0" marL="0" rtl="0" algn="l">
              <a:spcBef>
                <a:spcPts val="0"/>
              </a:spcBef>
              <a:spcAft>
                <a:spcPts val="0"/>
              </a:spcAft>
              <a:buNone/>
            </a:pPr>
            <a:r>
              <a:rPr lang="en-US" sz="1200"/>
              <a:t>本页是原报告 requirements/Feature 的可编辑摘要，不是 Figure 2 整图。先指 Project assumptions，再按 A/B/C 三行指 Required core 与 Selected optional；随后点出全局 quality constraints 和 outside the core，保留 A3 access unresolved。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 report v0.3, Section 3 and Figure 2. Selected optional features remain commitments. A3 access is unresolved.</a:t>
            </a:r>
            <a:endParaRPr/>
          </a:p>
          <a:p>
            <a:pPr indent="0" lvl="0" marL="0" rtl="0" algn="l">
              <a:spcBef>
                <a:spcPts val="0"/>
              </a:spcBef>
              <a:spcAft>
                <a:spcPts val="0"/>
              </a:spcAft>
              <a:buNone/>
            </a:pPr>
            <a:r>
              <a:rPr lang="en-US" sz="1200"/>
              <a:t>https://docs.google.com/document/d/1xvGO8EA_yZwWj1It3UM7AKDFEoQjsj5eJJXbCz4bcnc/edit</a:t>
            </a:r>
            <a:endParaRPr/>
          </a:p>
          <a:p>
            <a:pPr indent="0" lvl="0" marL="0" rtl="0" algn="l">
              <a:spcBef>
                <a:spcPts val="0"/>
              </a:spcBef>
              <a:spcAft>
                <a:spcPts val="0"/>
              </a:spcAft>
              <a:buNone/>
            </a:pPr>
            <a:r>
              <a:rPr lang="en-US" sz="1200"/>
              <a:t>Canvas video: https://canvas.sydney.edu.au/courses/74323/assignments/695833</a:t>
            </a:r>
            <a:endParaRPr/>
          </a:p>
          <a:p>
            <a:pPr indent="0" lvl="0" marL="0" rtl="0" algn="l">
              <a:spcBef>
                <a:spcPts val="0"/>
              </a:spcBef>
              <a:spcAft>
                <a:spcPts val="0"/>
              </a:spcAft>
              <a:buNone/>
            </a:pPr>
            <a:r>
              <a:rPr lang="en-US" sz="1200"/>
              <a:t>AI-assisted preparation. Verify wording and acknowledge assistance before submission.</a:t>
            </a:r>
            <a:endParaRPr/>
          </a:p>
        </p:txBody>
      </p:sp>
      <p:sp>
        <p:nvSpPr>
          <p:cNvPr id="24" name="Google Shape;2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 name="Google Shape;3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  1:15–2:05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Three AI roles support the Founder. The Coordinator extracts facts and requests missing information. Assessment combines those facts with order evidence and retrieved sources to propose an action. Risk examines the accepted evidence in a separate invocation. An orchestrator coordinates these calls. Domain validates their outputs and owns authoritative state and business audit. Only the Founder can approve an eligible proposal with an exact action scope. Operations then checks that authority before calling a mock provider. Operations follows deterministic rules, so it adds no fourth AI role. The browser presents server facts and submits user intent.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Chinese guide</a:t>
            </a:r>
            <a:endParaRPr/>
          </a:p>
          <a:p>
            <a:pPr indent="0" lvl="0" marL="0" rtl="0" algn="l">
              <a:spcBef>
                <a:spcPts val="0"/>
              </a:spcBef>
              <a:spcAft>
                <a:spcPts val="0"/>
              </a:spcAft>
              <a:buNone/>
            </a:pPr>
            <a:r>
              <a:rPr lang="en-US" sz="1200"/>
              <a:t>A 按消息方向介绍三个 AI 角色，再把注意力转向 Domain 的权威写入边界。指出 Founder 决定和 Operations 执行与 AI 生成建议分开，Operations 不是第四个 AI。图中的结构部件也不意味着每个都要部署成一个微服务。</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Visual cue</a:t>
            </a:r>
            <a:endParaRPr/>
          </a:p>
          <a:p>
            <a:pPr indent="0" lvl="0" marL="0" rtl="0" algn="l">
              <a:spcBef>
                <a:spcPts val="0"/>
              </a:spcBef>
              <a:spcAft>
                <a:spcPts val="0"/>
              </a:spcAft>
              <a:buNone/>
            </a:pPr>
            <a:r>
              <a:rPr lang="en-US" sz="1200"/>
              <a:t>本页是原生可编辑架构摘要，非 Figures 9–11 的原图。先指上排三个AI角色，再指 bounded orchestrator、Domain、Founder、Operations 和 PostgreSQL；连线表达概念依赖，实际独立调用由 orchestrator 使用 Domain 已接受的材料完成。</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 report v0.3, Section 5 and Figures 8–11. Schematic abbreviates the invocation path. The orchestrator invokes Risk using Domain-accepted evidence. Domain alone commits business state. Connections are conceptual, not new APIs.</a:t>
            </a:r>
            <a:endParaRPr/>
          </a:p>
          <a:p>
            <a:pPr indent="0" lvl="0" marL="0" rtl="0" algn="l">
              <a:spcBef>
                <a:spcPts val="0"/>
              </a:spcBef>
              <a:spcAft>
                <a:spcPts val="0"/>
              </a:spcAft>
              <a:buNone/>
            </a:pPr>
            <a:r>
              <a:rPr lang="en-US" sz="1200"/>
              <a:t>https://docs.google.com/document/d/1xvGO8EA_yZwWj1It3UM7AKDFEoQjsj5eJJXbCz4bcnc/edit</a:t>
            </a:r>
            <a:endParaRPr/>
          </a:p>
          <a:p>
            <a:pPr indent="0" lvl="0" marL="0" rtl="0" algn="l">
              <a:spcBef>
                <a:spcPts val="0"/>
              </a:spcBef>
              <a:spcAft>
                <a:spcPts val="0"/>
              </a:spcAft>
              <a:buNone/>
            </a:pPr>
            <a:r>
              <a:rPr lang="en-US" sz="1200"/>
              <a:t>Canvas video: https://canvas.sydney.edu.au/courses/74323/assignments/695833</a:t>
            </a:r>
            <a:endParaRPr/>
          </a:p>
          <a:p>
            <a:pPr indent="0" lvl="0" marL="0" rtl="0" algn="l">
              <a:spcBef>
                <a:spcPts val="0"/>
              </a:spcBef>
              <a:spcAft>
                <a:spcPts val="0"/>
              </a:spcAft>
              <a:buNone/>
            </a:pPr>
            <a:r>
              <a:rPr lang="en-US" sz="1200"/>
              <a:t>AI-assisted preparation. Verify wording and acknowledge assistance before submission.</a:t>
            </a:r>
            <a:endParaRPr/>
          </a:p>
        </p:txBody>
      </p:sp>
      <p:sp>
        <p:nvSpPr>
          <p:cNvPr id="37" name="Google Shape;3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  2:05–2:50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UC zero one records the original request. Only if required information is missing does UC zero one E collect answers to current authorised questions, such as an order reference. Accepted clarification triggers reassessment, not approval. UC zero two prepares evidence and review. In UC zero three, the Founder inspects the exact proposed scope. Only valid approval allows UC zero four to create the simulated return, then its label, and send the outcome. UC zero five provides authorised read-only state and history. Blocking conflicts follow an explicit alternative.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Chinese guide</a:t>
            </a:r>
            <a:endParaRPr/>
          </a:p>
          <a:p>
            <a:pPr indent="0" lvl="0" marL="0" rtl="0" algn="l">
              <a:spcBef>
                <a:spcPts val="0"/>
              </a:spcBef>
              <a:spcAft>
                <a:spcPts val="0"/>
              </a:spcAft>
              <a:buNone/>
            </a:pPr>
            <a:r>
              <a:rPr lang="en-US" sz="1200"/>
              <a:t>B 沿 UC journey 讲台灯案例，强调补充信息不是每次都必经的正常步骤。只有缺少必要信息，才进入 UC-01E，且只能回答当前授权的问题；补充材料被接受后重新评估，不能跳过 UC-02 或自动批准。UC-03 是 Founder 决定，UC-04 是合法批准后的执行，UC-05 只读。</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Visual cue</a:t>
            </a:r>
            <a:endParaRPr/>
          </a:p>
          <a:p>
            <a:pPr indent="0" lvl="0" marL="0" rtl="0" algn="l">
              <a:spcBef>
                <a:spcPts val="0"/>
              </a:spcBef>
              <a:spcAft>
                <a:spcPts val="0"/>
              </a:spcAft>
              <a:buNone/>
            </a:pPr>
            <a:r>
              <a:rPr lang="en-US" sz="1200"/>
              <a:t>本页是 UC journey 摘要，不是 Figure 3 的正式 overall Use-case 整图。先指 UC-01，再指 UC-01E 的缺少必要信息条件和补充后重新评估说明；随后指 UC-02、UC-03 与 UC-04。UC-05 是只读侧路，不能沿连线暗示每案必经补信息或自动批准。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 report v0.3, Section 4 and Figure 3. This is an illustrative journey, not a replacement for the formal overall use-case diagram. UC05 is a read view, not a step granting authority.</a:t>
            </a:r>
            <a:endParaRPr/>
          </a:p>
          <a:p>
            <a:pPr indent="0" lvl="0" marL="0" rtl="0" algn="l">
              <a:spcBef>
                <a:spcPts val="0"/>
              </a:spcBef>
              <a:spcAft>
                <a:spcPts val="0"/>
              </a:spcAft>
              <a:buNone/>
            </a:pPr>
            <a:r>
              <a:rPr lang="en-US" sz="1200"/>
              <a:t>https://docs.google.com/document/d/1xvGO8EA_yZwWj1It3UM7AKDFEoQjsj5eJJXbCz4bcnc/edit</a:t>
            </a:r>
            <a:endParaRPr/>
          </a:p>
          <a:p>
            <a:pPr indent="0" lvl="0" marL="0" rtl="0" algn="l">
              <a:spcBef>
                <a:spcPts val="0"/>
              </a:spcBef>
              <a:spcAft>
                <a:spcPts val="0"/>
              </a:spcAft>
              <a:buNone/>
            </a:pPr>
            <a:r>
              <a:rPr lang="en-US" sz="1200"/>
              <a:t>Canvas video: https://canvas.sydney.edu.au/courses/74323/assignments/695833</a:t>
            </a:r>
            <a:endParaRPr/>
          </a:p>
          <a:p>
            <a:pPr indent="0" lvl="0" marL="0" rtl="0" algn="l">
              <a:spcBef>
                <a:spcPts val="0"/>
              </a:spcBef>
              <a:spcAft>
                <a:spcPts val="0"/>
              </a:spcAft>
              <a:buNone/>
            </a:pPr>
            <a:r>
              <a:rPr lang="en-US" sz="1200"/>
              <a:t>AI-assisted preparation. Verify wording and acknowledge assistance before submission.</a:t>
            </a:r>
            <a:endParaRPr/>
          </a:p>
        </p:txBody>
      </p:sp>
      <p:sp>
        <p:nvSpPr>
          <p:cNvPr id="63" name="Google Shape;6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  2:50–3:40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My assigned modelling chain starts with AH zero one: preserve the customer's original request through a usable interface. UC zero one leads into the Activity and Sequence views. Only freshly accepted input starts processing. If the response disappears, the client reuses the same request identity and unchanged body, while the server checks current access. Replay creates no new work. The state model follows a durable IntakeSession owned by the case. Closing the browser leaves it intact. Further clarification requires current questions and a legal Domain transition. An accepted request alone does not mean a completed return.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Chinese guide</a:t>
            </a:r>
            <a:endParaRPr/>
          </a:p>
          <a:p>
            <a:pPr indent="0" lvl="0" marL="0" rtl="0" algn="l">
              <a:spcBef>
                <a:spcPts val="0"/>
              </a:spcBef>
              <a:spcAft>
                <a:spcPts val="0"/>
              </a:spcAft>
              <a:buNone/>
            </a:pPr>
            <a:r>
              <a:rPr lang="en-US" sz="1200"/>
              <a:t>B 将 AH-01、UC-01 与自己的三类行为模型串起来，本页画面只显示请求与重放的 Sequence 局部。指 stable key 和 no new work，口头说明原报告中的 admission 与 processing 是两个独立交互。底部 State 提示的主体是持久 IntakeSession，不能把浏览器关闭或 Activity 的 stop 当作案件结束。</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Visual cue</a:t>
            </a:r>
            <a:endParaRPr/>
          </a:p>
          <a:p>
            <a:pPr indent="0" lvl="0" marL="0" rtl="0" algn="l">
              <a:spcBef>
                <a:spcPts val="0"/>
              </a:spcBef>
              <a:spcAft>
                <a:spcPts val="0"/>
              </a:spcAft>
              <a:buNone/>
            </a:pPr>
            <a:r>
              <a:rPr lang="en-US" sz="1200"/>
              <a:t>屏幕仅展示 Customer/Portal/Domain 的请求与重放 Sequence 摘要。按 stable key、accepted reference/error、replay 三个消息指图，再指右侧 current access/no new work 和底部 Activity/State 文字提示；完整 Activity、两个独立 Sequence 和 IntakeSession State 在报告 Figures 17–20，本页没有展示其全部图形。</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 report v0.3, Section 7 and Figures 17–20. Sequence excerpt omits clarification and removed-receipt branches. Consult full report. COMPLETE is a quiescent intake state, not a completed return.</a:t>
            </a:r>
            <a:endParaRPr/>
          </a:p>
          <a:p>
            <a:pPr indent="0" lvl="0" marL="0" rtl="0" algn="l">
              <a:spcBef>
                <a:spcPts val="0"/>
              </a:spcBef>
              <a:spcAft>
                <a:spcPts val="0"/>
              </a:spcAft>
              <a:buNone/>
            </a:pPr>
            <a:r>
              <a:rPr lang="en-US" sz="1200"/>
              <a:t>https://docs.google.com/document/d/1xvGO8EA_yZwWj1It3UM7AKDFEoQjsj5eJJXbCz4bcnc/edit</a:t>
            </a:r>
            <a:endParaRPr/>
          </a:p>
          <a:p>
            <a:pPr indent="0" lvl="0" marL="0" rtl="0" algn="l">
              <a:spcBef>
                <a:spcPts val="0"/>
              </a:spcBef>
              <a:spcAft>
                <a:spcPts val="0"/>
              </a:spcAft>
              <a:buNone/>
            </a:pPr>
            <a:r>
              <a:rPr lang="en-US" sz="1200"/>
              <a:t>Canvas video: https://canvas.sydney.edu.au/courses/74323/assignments/695833</a:t>
            </a:r>
            <a:endParaRPr/>
          </a:p>
          <a:p>
            <a:pPr indent="0" lvl="0" marL="0" rtl="0" algn="l">
              <a:spcBef>
                <a:spcPts val="0"/>
              </a:spcBef>
              <a:spcAft>
                <a:spcPts val="0"/>
              </a:spcAft>
              <a:buNone/>
            </a:pPr>
            <a:r>
              <a:rPr lang="en-US" sz="1200"/>
              <a:t>AI-assisted preparation. Verify wording and acknowledge assistance before submission.</a:t>
            </a:r>
            <a:endParaRPr/>
          </a:p>
        </p:txBody>
      </p:sp>
      <p:sp>
        <p:nvSpPr>
          <p:cNvPr id="87" name="Google Shape;8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  3:40–4:40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My chain links AH zero eight to UC zero two. Consider a synthetic case with two materially conflicting sources. We preserve both. C1 checks whether each citation resolves; that alone does not establish support for the claim. Domain accepts the complete evidence, then C2 reviews it independently. A blocking conflict produces ESCALATE. Domain blocks approval of that proposal, while valid revision or manual handling remains possible. The Activity shows this routing; the Sequence separates the review invocation. The State model tracks internal work phases, distinct from the five business outcomes. Technical failures use separate handling. This prevents a source conflict from being hidden behind a valid citation.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Chinese guide</a:t>
            </a:r>
            <a:endParaRPr/>
          </a:p>
          <a:p>
            <a:pPr indent="0" lvl="0" marL="0" rtl="0" algn="l">
              <a:spcBef>
                <a:spcPts val="0"/>
              </a:spcBef>
              <a:spcAft>
                <a:spcPts val="0"/>
              </a:spcAft>
              <a:buNone/>
            </a:pPr>
            <a:r>
              <a:rPr lang="en-US" sz="1200"/>
              <a:t>C 用一个合成的阻断性来源冲突串起 AH-08、UC-02 与三类行为模型：保留两个来源，C1 引用可解析不等于内容支持主张，Domain 接受完整材料后 C2 独立审查，ESCALATE 阻止批准该 proposal。不要把所有来源差异都说成阻断冲突；合法修订或人工处理仍可能继续。五种业务 outcome 与内部工作阶段分开，技术错误另走失败处理。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Visual cue</a:t>
            </a:r>
            <a:endParaRPr/>
          </a:p>
          <a:p>
            <a:pPr indent="0" lvl="0" marL="0" rtl="0" algn="l">
              <a:spcBef>
                <a:spcPts val="0"/>
              </a:spcBef>
              <a:spcAft>
                <a:spcPts val="0"/>
              </a:spcAft>
              <a:buNone/>
            </a:pPr>
            <a:r>
              <a:rPr lang="en-US" sz="1200"/>
              <a:t>沿顶部 C1、Domain 接受完整材料、C2 与 Domain 验证走到突出显示的 ESCALATE 和阻止批准提示。五个 outcome 框保留作为完整分流背景，不逐个念 enum。底部说明技术失败及内部阶段；Sequence 与 State 的完整图仅口头引用 Figures 22–23，不指向本页不存在的图。</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 report v0.3, Section 8 and Figures 21A–B, 22–23, including the 21 September clarification. Only a current Domain-accepted result enters the five displayed outcome routes. Spaces in PASS WITH WARNING / NEEDS INFORMATION are display labels for enum underscores. Technical failure/staleness are separate. The last allowed REVISE follow-up preserves REVISE and its current proposal when exhausted. No fabricated ESCALATE or ProcessingFailure.</a:t>
            </a:r>
            <a:endParaRPr/>
          </a:p>
          <a:p>
            <a:pPr indent="0" lvl="0" marL="0" rtl="0" algn="l">
              <a:spcBef>
                <a:spcPts val="0"/>
              </a:spcBef>
              <a:spcAft>
                <a:spcPts val="0"/>
              </a:spcAft>
              <a:buNone/>
            </a:pPr>
            <a:r>
              <a:rPr lang="en-US" sz="1200"/>
              <a:t>https://docs.google.com/document/d/1xvGO8EA_yZwWj1It3UM7AKDFEoQjsj5eJJXbCz4bcnc/edit</a:t>
            </a:r>
            <a:endParaRPr/>
          </a:p>
          <a:p>
            <a:pPr indent="0" lvl="0" marL="0" rtl="0" algn="l">
              <a:spcBef>
                <a:spcPts val="0"/>
              </a:spcBef>
              <a:spcAft>
                <a:spcPts val="0"/>
              </a:spcAft>
              <a:buNone/>
            </a:pPr>
            <a:r>
              <a:rPr lang="en-US" sz="1200"/>
              <a:t>Canvas video: https://canvas.sydney.edu.au/courses/74323/assignments/695833</a:t>
            </a:r>
            <a:endParaRPr/>
          </a:p>
          <a:p>
            <a:pPr indent="0" lvl="0" marL="0" rtl="0" algn="l">
              <a:spcBef>
                <a:spcPts val="0"/>
              </a:spcBef>
              <a:spcAft>
                <a:spcPts val="0"/>
              </a:spcAft>
              <a:buNone/>
            </a:pPr>
            <a:r>
              <a:rPr lang="en-US" sz="1200"/>
              <a:t>AI-assisted preparation. Verify wording and acknowledge assistance before submission.</a:t>
            </a:r>
            <a:endParaRPr/>
          </a:p>
        </p:txBody>
      </p:sp>
      <p:sp>
        <p:nvSpPr>
          <p:cNvPr id="123" name="Google Shape;12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  4:40–5:40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My assigned chain starts with AH ten: execute only the approved action without duplicate effects. UC zero three records the Founder's exact approval. UC zero four then records durable intent and checks current authority before each provider call. The Activity creates a return before its label. Our report's Sequence explains why timeouts cannot justify another provider effect. In the state model, UNKNOWN means uncertainty and requires reconciliation using the original identity. If label success is already known but its file is unavailable, only artifact recovery continues. Finally, notification has separate work and state. Retrying a failed notification leaves the successful return and label unchanged. These safeguards require implementation and failure tests.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Chinese guide</a:t>
            </a:r>
            <a:endParaRPr/>
          </a:p>
          <a:p>
            <a:pPr indent="0" lvl="0" marL="0" rtl="0" algn="l">
              <a:spcBef>
                <a:spcPts val="0"/>
              </a:spcBef>
              <a:spcAft>
                <a:spcPts val="0"/>
              </a:spcAft>
              <a:buNone/>
            </a:pPr>
            <a:r>
              <a:rPr lang="en-US" sz="1200"/>
              <a:t>A 指当前 OperationAttempt 部分状态投影，口头衔接原报告 Activity 和 Sequence 的批准/派发与恢复规则。UNKNOWN 代表效果不明，需要查询原身份；已知 label 成功但文件未保存则是 EXECUTING 下的 artifact-only recovery。通知失败只重试通知，不再次创建 return/label，模型规则尚需运行证据验证。</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Visual cue</a:t>
            </a:r>
            <a:endParaRPr/>
          </a:p>
          <a:p>
            <a:pPr indent="0" lvl="0" marL="0" rtl="0" algn="l">
              <a:spcBef>
                <a:spcPts val="0"/>
              </a:spcBef>
              <a:spcAft>
                <a:spcPts val="0"/>
              </a:spcAft>
              <a:buNone/>
            </a:pPr>
            <a:r>
              <a:rPr lang="en-US" sz="1200"/>
              <a:t>屏幕只显示 OperationAttempt 的部分 state 投影：PENDING、EXECUTING、SUCCEEDED、UNKNOWN、RECONCILING 和 BLOCKED 提示，并非全部七状态/转移。先指 final guards，再指 UNKNOWN 到 RECONCILING 和 original identity，最后指底部 artifact recovery 与 notification-only retry 两行。Activity/Sequence 的 return-before-label 与恢复依据是对报告 Figures 13–15 的口头引用，本页未展示其整图。</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 report v0.3, Section 6 and Figures 13–16. Partial state projection. Conclusive no-effect evidence leads to FAILED; inconclusive reconciliation can return to UNKNOWN. Known label success with incomplete artifact storage stays EXECUTING. This slide does not show every state/transition.</a:t>
            </a:r>
            <a:endParaRPr/>
          </a:p>
          <a:p>
            <a:pPr indent="0" lvl="0" marL="0" rtl="0" algn="l">
              <a:spcBef>
                <a:spcPts val="0"/>
              </a:spcBef>
              <a:spcAft>
                <a:spcPts val="0"/>
              </a:spcAft>
              <a:buNone/>
            </a:pPr>
            <a:r>
              <a:rPr lang="en-US" sz="1200"/>
              <a:t>https://docs.google.com/document/d/1xvGO8EA_yZwWj1It3UM7AKDFEoQjsj5eJJXbCz4bcnc/edit</a:t>
            </a:r>
            <a:endParaRPr/>
          </a:p>
          <a:p>
            <a:pPr indent="0" lvl="0" marL="0" rtl="0" algn="l">
              <a:spcBef>
                <a:spcPts val="0"/>
              </a:spcBef>
              <a:spcAft>
                <a:spcPts val="0"/>
              </a:spcAft>
              <a:buNone/>
            </a:pPr>
            <a:r>
              <a:rPr lang="en-US" sz="1200"/>
              <a:t>Canvas video: https://canvas.sydney.edu.au/courses/74323/assignments/695833</a:t>
            </a:r>
            <a:endParaRPr/>
          </a:p>
          <a:p>
            <a:pPr indent="0" lvl="0" marL="0" rtl="0" algn="l">
              <a:spcBef>
                <a:spcPts val="0"/>
              </a:spcBef>
              <a:spcAft>
                <a:spcPts val="0"/>
              </a:spcAft>
              <a:buNone/>
            </a:pPr>
            <a:r>
              <a:rPr lang="en-US" sz="1200"/>
              <a:t>AI-assisted preparation. Verify wording and acknowledge assistance before submission.</a:t>
            </a:r>
            <a:endParaRPr/>
          </a:p>
        </p:txBody>
      </p:sp>
      <p:sp>
        <p:nvSpPr>
          <p:cNvPr id="151" name="Google Shape;15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  5:40–6:30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shared Class views define records and relationships: a case preserves statements, proposals and their exact reviews. A decision targets one eligible record, and only valid approval creates execution authority. The report's runtime views show collaborating parts and typed ports, with Domain controlling business writes. The Object diagram makes those relationships concrete. Named synthetic instances connect one proposal to two conflicting passages and an ESCALATE review. The Founder has made no decision. Together, the views let us check that the review belongs to the exact proposal and both sources remain available before any decision.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Chinese guide</a:t>
            </a:r>
            <a:endParaRPr/>
          </a:p>
          <a:p>
            <a:pPr indent="0" lvl="0" marL="0" rtl="0" algn="l">
              <a:spcBef>
                <a:spcPts val="0"/>
              </a:spcBef>
              <a:spcAft>
                <a:spcPts val="0"/>
              </a:spcAft>
              <a:buNone/>
            </a:pPr>
            <a:r>
              <a:rPr lang="en-US" sz="1200"/>
              <a:t>C 先指左侧 Class fragment 的类型/关联，再用右侧具名对象说明为何需要两类视图：Class 规定关系，Object 用一个具体设计时刻检查 exact proposal、review 与两个来源是否连接一致。Founder 尚未决定；这是合成快照，不是运行截图。Runtime parts/ports 仍只口头引用原报告。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Visual cue</a:t>
            </a:r>
            <a:endParaRPr/>
          </a:p>
          <a:p>
            <a:pPr indent="0" lvl="0" marL="0" rtl="0" algn="l">
              <a:spcBef>
                <a:spcPts val="0"/>
              </a:spcBef>
              <a:spcAft>
                <a:spcPts val="0"/>
              </a:spcAft>
              <a:buNone/>
            </a:pPr>
            <a:r>
              <a:rPr lang="en-US" sz="1200"/>
              <a:t>左侧是 ReturnCase/DecisionPacket 的可编辑 Class fragment，右侧是 Figure 24 的 synthetic object 摘要。先指类型关系，再指 case02、packet02、review02 和两个冲突来源节点，说明如何检查同一 proposal 的 review 及证据链接。Runtime parts/ports 仅引用 Figures 9–11，本页没有 Composite 整图。</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 report v0.3, Sections 5 and 8, Figures 5–8 and 24. Selected attributes and links only. The 21 September report clarification normalises Figure 6 to proposal_version. ProposalReview conceptual result maps to RiskReview wire DTO. This synthetic snapshot is not Gold data or execution evidence.</a:t>
            </a:r>
            <a:endParaRPr/>
          </a:p>
          <a:p>
            <a:pPr indent="0" lvl="0" marL="0" rtl="0" algn="l">
              <a:spcBef>
                <a:spcPts val="0"/>
              </a:spcBef>
              <a:spcAft>
                <a:spcPts val="0"/>
              </a:spcAft>
              <a:buNone/>
            </a:pPr>
            <a:r>
              <a:rPr lang="en-US" sz="1200"/>
              <a:t>https://docs.google.com/document/d/1xvGO8EA_yZwWj1It3UM7AKDFEoQjsj5eJJXbCz4bcnc/edit</a:t>
            </a:r>
            <a:endParaRPr/>
          </a:p>
          <a:p>
            <a:pPr indent="0" lvl="0" marL="0" rtl="0" algn="l">
              <a:spcBef>
                <a:spcPts val="0"/>
              </a:spcBef>
              <a:spcAft>
                <a:spcPts val="0"/>
              </a:spcAft>
              <a:buNone/>
            </a:pPr>
            <a:r>
              <a:rPr lang="en-US" sz="1200"/>
              <a:t>Canvas video: https://canvas.sydney.edu.au/courses/74323/assignments/695833</a:t>
            </a:r>
            <a:endParaRPr/>
          </a:p>
          <a:p>
            <a:pPr indent="0" lvl="0" marL="0" rtl="0" algn="l">
              <a:spcBef>
                <a:spcPts val="0"/>
              </a:spcBef>
              <a:spcAft>
                <a:spcPts val="0"/>
              </a:spcAft>
              <a:buNone/>
            </a:pPr>
            <a:r>
              <a:rPr lang="en-US" sz="1200"/>
              <a:t>AI-assisted preparation. Verify wording and acknowledge assistance before submission.</a:t>
            </a:r>
            <a:endParaRPr/>
          </a:p>
        </p:txBody>
      </p:sp>
      <p:sp>
        <p:nvSpPr>
          <p:cNvPr id="178" name="Google Shape;17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 / C  6:30–7:30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We selected a modular application with PostgreSQL to keep authoritative state and audit together. Microservices would add distributed coordination beyond this prototype's needs. We also rejected an unrestricted prompt with tool authority. Separate review adds cost and latency, but gives evidence and authority explicit boundaries.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 Our Stage One criterion is consistency from requirements through use cases to behavioural and shared models. A planned failure check will test whether notification retries leave the original return and label unchanged, creating neither again. Scope or interface changes require review of affected models and tests. These are design criteria, not completed runtime or joint-acceptance evidence. Our materials disclose AI assistance.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Chinese guide</a:t>
            </a:r>
            <a:endParaRPr/>
          </a:p>
          <a:p>
            <a:pPr indent="0" lvl="0" marL="0" rtl="0" algn="l">
              <a:spcBef>
                <a:spcPts val="0"/>
              </a:spcBef>
              <a:spcAft>
                <a:spcPts val="0"/>
              </a:spcAft>
              <a:buNone/>
            </a:pPr>
            <a:r>
              <a:rPr lang="en-US" sz="1200"/>
              <a:t>A 保留原有架构取舍。C 提出明确验收标准：需求、用例、行为模型与共享模型必须一致；计划的通知失败测试应确认重试不会再次创建 return 或 label，原有成功结果保持不变。范围或接口变化需评审受影响模型与测试。标准和计划不是已经通过的运行或联合验收证据，保留 AI 使用披露；个人讲解与提交责任仍在录制步骤中。</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Visual cue</a:t>
            </a:r>
            <a:endParaRPr/>
          </a:p>
          <a:p>
            <a:pPr indent="0" lvl="0" marL="0" rtl="0" algn="l">
              <a:spcBef>
                <a:spcPts val="0"/>
              </a:spcBef>
              <a:spcAft>
                <a:spcPts val="0"/>
              </a:spcAft>
              <a:buNone/>
            </a:pPr>
            <a:r>
              <a:rPr lang="en-US" sz="1200"/>
              <a:t>两栏布局不变。6:30–6:56 由 A 指左栏讲设计取舍；6:56–7:30 由 C 依次指右栏三个块：Stage 1 一致性、计划的通知失败检查、范围与接口变更评审，再指底部 AI disclosure。第二块是 planned check，不把它讲成已通过测试或展示虚构运行结果。</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 report v0.3, Sections 9–12. Course Project Description p2 requires discarded choices and change/acceptance basis. A3 test access, joint acceptance and personal contribution confirmation remain unresolved. This video states design, not benchmark improvement.</a:t>
            </a:r>
            <a:endParaRPr/>
          </a:p>
          <a:p>
            <a:pPr indent="0" lvl="0" marL="0" rtl="0" algn="l">
              <a:spcBef>
                <a:spcPts val="0"/>
              </a:spcBef>
              <a:spcAft>
                <a:spcPts val="0"/>
              </a:spcAft>
              <a:buNone/>
            </a:pPr>
            <a:r>
              <a:rPr lang="en-US" sz="1200"/>
              <a:t>https://docs.google.com/document/d/1xvGO8EA_yZwWj1It3UM7AKDFEoQjsj5eJJXbCz4bcnc/edit</a:t>
            </a:r>
            <a:endParaRPr/>
          </a:p>
          <a:p>
            <a:pPr indent="0" lvl="0" marL="0" rtl="0" algn="l">
              <a:spcBef>
                <a:spcPts val="0"/>
              </a:spcBef>
              <a:spcAft>
                <a:spcPts val="0"/>
              </a:spcAft>
              <a:buNone/>
            </a:pPr>
            <a:r>
              <a:rPr lang="en-US" sz="1200"/>
              <a:t>Canvas video: https://canvas.sydney.edu.au/courses/74323/assignments/695833</a:t>
            </a:r>
            <a:endParaRPr/>
          </a:p>
          <a:p>
            <a:pPr indent="0" lvl="0" marL="0" rtl="0" algn="l">
              <a:spcBef>
                <a:spcPts val="0"/>
              </a:spcBef>
              <a:spcAft>
                <a:spcPts val="0"/>
              </a:spcAft>
              <a:buNone/>
            </a:pPr>
            <a:r>
              <a:rPr lang="en-US" sz="1200"/>
              <a:t>AI-assisted preparation. Verify wording and acknowledge assistance before submission.</a:t>
            </a:r>
            <a:endParaRPr/>
          </a:p>
        </p:txBody>
      </p:sp>
      <p:sp>
        <p:nvSpPr>
          <p:cNvPr id="209" name="Google Shape;20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619125" y="1047750"/>
            <a:ext cx="10477500" cy="104775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5700"/>
              <a:buFont typeface="Arial"/>
              <a:buNone/>
            </a:pPr>
            <a:r>
              <a:rPr b="1" lang="en-US" sz="5700">
                <a:solidFill>
                  <a:srgbClr val="142C43"/>
                </a:solidFill>
                <a:latin typeface="Arial"/>
                <a:ea typeface="Arial"/>
                <a:cs typeface="Arial"/>
                <a:sym typeface="Arial"/>
              </a:rPr>
              <a:t>ReturnOps AU</a:t>
            </a:r>
            <a:endParaRPr/>
          </a:p>
        </p:txBody>
      </p:sp>
      <p:sp>
        <p:nvSpPr>
          <p:cNvPr id="17" name="Google Shape;17;p1"/>
          <p:cNvSpPr/>
          <p:nvPr/>
        </p:nvSpPr>
        <p:spPr>
          <a:xfrm>
            <a:off x="666750" y="2305050"/>
            <a:ext cx="10477500" cy="95250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2850"/>
              <a:buFont typeface="Arial"/>
              <a:buNone/>
            </a:pPr>
            <a:r>
              <a:rPr b="0" lang="en-US" sz="2850">
                <a:solidFill>
                  <a:srgbClr val="142C43"/>
                </a:solidFill>
                <a:latin typeface="Arial"/>
                <a:ea typeface="Arial"/>
                <a:cs typeface="Arial"/>
                <a:sym typeface="Arial"/>
              </a:rPr>
              <a:t>Human-governed AI for returns operations</a:t>
            </a:r>
            <a:endParaRPr/>
          </a:p>
        </p:txBody>
      </p:sp>
      <p:sp>
        <p:nvSpPr>
          <p:cNvPr id="18" name="Google Shape;18;p1"/>
          <p:cNvSpPr/>
          <p:nvPr/>
        </p:nvSpPr>
        <p:spPr>
          <a:xfrm>
            <a:off x="685800" y="3629025"/>
            <a:ext cx="9334500" cy="14001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27B78"/>
              </a:buClr>
              <a:buSzPts val="2175"/>
              <a:buFont typeface="Arial"/>
              <a:buNone/>
            </a:pPr>
            <a:r>
              <a:rPr b="0" lang="en-US" sz="2175">
                <a:solidFill>
                  <a:srgbClr val="127B78"/>
                </a:solidFill>
                <a:latin typeface="Arial"/>
                <a:ea typeface="Arial"/>
                <a:cs typeface="Arial"/>
                <a:sym typeface="Arial"/>
              </a:rPr>
              <a:t>One Australian online store</a:t>
            </a:r>
            <a:endParaRPr/>
          </a:p>
          <a:p>
            <a:pPr indent="0" lvl="0" marL="0" marR="0" rtl="0" algn="l">
              <a:spcBef>
                <a:spcPts val="0"/>
              </a:spcBef>
              <a:spcAft>
                <a:spcPts val="0"/>
              </a:spcAft>
              <a:buClr>
                <a:srgbClr val="127B78"/>
              </a:buClr>
              <a:buSzPts val="2175"/>
              <a:buFont typeface="Arial"/>
              <a:buNone/>
            </a:pPr>
            <a:r>
              <a:rPr b="0" lang="en-US" sz="2175">
                <a:solidFill>
                  <a:srgbClr val="127B78"/>
                </a:solidFill>
                <a:latin typeface="Arial"/>
                <a:ea typeface="Arial"/>
                <a:cs typeface="Arial"/>
                <a:sym typeface="Arial"/>
              </a:rPr>
              <a:t>Three AI business roles</a:t>
            </a:r>
            <a:endParaRPr/>
          </a:p>
          <a:p>
            <a:pPr indent="0" lvl="0" marL="0" marR="0" rtl="0" algn="l">
              <a:spcBef>
                <a:spcPts val="0"/>
              </a:spcBef>
              <a:spcAft>
                <a:spcPts val="0"/>
              </a:spcAft>
              <a:buClr>
                <a:srgbClr val="127B78"/>
              </a:buClr>
              <a:buSzPts val="2175"/>
              <a:buFont typeface="Arial"/>
              <a:buNone/>
            </a:pPr>
            <a:r>
              <a:rPr b="0" lang="en-US" sz="2175">
                <a:solidFill>
                  <a:srgbClr val="127B78"/>
                </a:solidFill>
                <a:latin typeface="Arial"/>
                <a:ea typeface="Arial"/>
                <a:cs typeface="Arial"/>
                <a:sym typeface="Arial"/>
              </a:rPr>
              <a:t>Human approval before simulated actions</a:t>
            </a:r>
            <a:endParaRPr/>
          </a:p>
        </p:txBody>
      </p:sp>
      <p:sp>
        <p:nvSpPr>
          <p:cNvPr id="19" name="Google Shape;19;p1"/>
          <p:cNvSpPr/>
          <p:nvPr/>
        </p:nvSpPr>
        <p:spPr>
          <a:xfrm>
            <a:off x="685800" y="5657850"/>
            <a:ext cx="10477500" cy="38100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725"/>
              <a:buFont typeface="Arial"/>
              <a:buNone/>
            </a:pPr>
            <a:r>
              <a:rPr b="0" lang="en-US" sz="1725">
                <a:solidFill>
                  <a:srgbClr val="536472"/>
                </a:solidFill>
                <a:latin typeface="Arial"/>
                <a:ea typeface="Arial"/>
                <a:cs typeface="Arial"/>
                <a:sym typeface="Arial"/>
              </a:rPr>
              <a:t>ELEC5620   Stage 1 requirements and design</a:t>
            </a:r>
            <a:endParaRPr/>
          </a:p>
        </p:txBody>
      </p:sp>
      <p:sp>
        <p:nvSpPr>
          <p:cNvPr id="20" name="Google Shape;20;p1"/>
          <p:cNvSpPr/>
          <p:nvPr/>
        </p:nvSpPr>
        <p:spPr>
          <a:xfrm>
            <a:off x="685800" y="6096000"/>
            <a:ext cx="10096500" cy="3333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Jingbo Chai (A)     Chengsi Li (B)     Yuwei Tao (C)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571500" y="333375"/>
            <a:ext cx="11049000" cy="61912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3225"/>
              <a:buFont typeface="Arial"/>
              <a:buNone/>
            </a:pPr>
            <a:r>
              <a:rPr b="1" lang="en-US" sz="3225">
                <a:solidFill>
                  <a:srgbClr val="142C43"/>
                </a:solidFill>
                <a:latin typeface="Arial"/>
                <a:ea typeface="Arial"/>
                <a:cs typeface="Arial"/>
                <a:sym typeface="Arial"/>
              </a:rPr>
              <a:t>Requirements and scope</a:t>
            </a:r>
            <a:endParaRPr/>
          </a:p>
        </p:txBody>
      </p:sp>
      <p:sp>
        <p:nvSpPr>
          <p:cNvPr id="27" name="Google Shape;27;p2"/>
          <p:cNvSpPr/>
          <p:nvPr/>
        </p:nvSpPr>
        <p:spPr>
          <a:xfrm>
            <a:off x="590550" y="1047750"/>
            <a:ext cx="10991850" cy="4476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800"/>
              <a:buFont typeface="Arial"/>
              <a:buNone/>
            </a:pPr>
            <a:r>
              <a:rPr b="0" lang="en-US" sz="1800">
                <a:solidFill>
                  <a:srgbClr val="536472"/>
                </a:solidFill>
                <a:latin typeface="Arial"/>
                <a:ea typeface="Arial"/>
                <a:cs typeface="Arial"/>
                <a:sym typeface="Arial"/>
              </a:rPr>
              <a:t>Project assumptions: one store and synthetic data</a:t>
            </a:r>
            <a:endParaRPr/>
          </a:p>
        </p:txBody>
      </p:sp>
      <p:sp>
        <p:nvSpPr>
          <p:cNvPr id="28" name="Google Shape;28;p2"/>
          <p:cNvSpPr/>
          <p:nvPr/>
        </p:nvSpPr>
        <p:spPr>
          <a:xfrm>
            <a:off x="10287000" y="6391275"/>
            <a:ext cx="1333500" cy="247650"/>
          </a:xfrm>
          <a:prstGeom prst="rect">
            <a:avLst/>
          </a:prstGeom>
          <a:noFill/>
          <a:ln>
            <a:noFill/>
          </a:ln>
        </p:spPr>
        <p:txBody>
          <a:bodyPr anchorCtr="0" anchor="ctr" bIns="47625" lIns="66675" spcFirstLastPara="1" rIns="66675" wrap="square" tIns="47625">
            <a:noAutofit/>
          </a:bodyPr>
          <a:lstStyle/>
          <a:p>
            <a:pPr indent="0" lvl="0" marL="0" marR="0" rtl="0" algn="r">
              <a:spcBef>
                <a:spcPts val="0"/>
              </a:spcBef>
              <a:spcAft>
                <a:spcPts val="0"/>
              </a:spcAft>
              <a:buClr>
                <a:srgbClr val="536472"/>
              </a:buClr>
              <a:buSzPts val="1200"/>
              <a:buFont typeface="Arial"/>
              <a:buNone/>
            </a:pPr>
            <a:r>
              <a:rPr b="0" lang="en-US" sz="1200">
                <a:solidFill>
                  <a:srgbClr val="536472"/>
                </a:solidFill>
                <a:latin typeface="Arial"/>
                <a:ea typeface="Arial"/>
                <a:cs typeface="Arial"/>
                <a:sym typeface="Arial"/>
              </a:rPr>
              <a:t>B   2 / 9</a:t>
            </a:r>
            <a:endParaRPr/>
          </a:p>
        </p:txBody>
      </p:sp>
      <p:graphicFrame>
        <p:nvGraphicFramePr>
          <p:cNvPr id="29" name="Google Shape;29;p2"/>
          <p:cNvGraphicFramePr/>
          <p:nvPr/>
        </p:nvGraphicFramePr>
        <p:xfrm>
          <a:off x="619125" y="1809750"/>
          <a:ext cx="3000000" cy="3000000"/>
        </p:xfrm>
        <a:graphic>
          <a:graphicData uri="http://schemas.openxmlformats.org/drawingml/2006/table">
            <a:tbl>
              <a:tblPr>
                <a:noFill/>
                <a:tableStyleId>{BAB4A142-9A98-4E43-85FE-73311155B4A8}</a:tableStyleId>
              </a:tblPr>
              <a:tblGrid>
                <a:gridCol w="1190625"/>
                <a:gridCol w="5191125"/>
                <a:gridCol w="4572000"/>
              </a:tblGrid>
              <a:tr h="495300">
                <a:tc>
                  <a:txBody>
                    <a:bodyPr/>
                    <a:lstStyle/>
                    <a:p>
                      <a:pPr indent="0" lvl="0" marL="0" marR="0" rtl="0" algn="l">
                        <a:spcBef>
                          <a:spcPts val="0"/>
                        </a:spcBef>
                        <a:spcAft>
                          <a:spcPts val="0"/>
                        </a:spcAft>
                        <a:buClr>
                          <a:srgbClr val="FFFFFF"/>
                        </a:buClr>
                        <a:buSzPts val="1800"/>
                        <a:buFont typeface="Arial"/>
                        <a:buNone/>
                      </a:pPr>
                      <a:r>
                        <a:rPr b="1" lang="en-US" sz="1800" u="none" cap="none" strike="noStrike">
                          <a:solidFill>
                            <a:srgbClr val="FFFFFF"/>
                          </a:solidFill>
                          <a:latin typeface="Arial"/>
                          <a:ea typeface="Arial"/>
                          <a:cs typeface="Arial"/>
                          <a:sym typeface="Arial"/>
                        </a:rPr>
                        <a:t>Owner</a:t>
                      </a:r>
                      <a:endParaRPr/>
                    </a:p>
                  </a:txBody>
                  <a:tcPr marT="45725" marB="45725" marR="91450" marL="91450" anchor="ctr">
                    <a:solidFill>
                      <a:srgbClr val="142C43"/>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Required core capabilities</a:t>
                      </a:r>
                      <a:endParaRPr/>
                    </a:p>
                  </a:txBody>
                  <a:tcPr marT="45725" marB="45725" marR="91450" marL="91450" anchor="ctr">
                    <a:solidFill>
                      <a:srgbClr val="142C43"/>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Selected optional (committed)</a:t>
                      </a:r>
                      <a:endParaRPr/>
                    </a:p>
                  </a:txBody>
                  <a:tcPr marT="45725" marB="45725" marR="91450" marL="91450" anchor="ctr">
                    <a:solidFill>
                      <a:srgbClr val="142C43"/>
                    </a:solidFill>
                  </a:tcPr>
                </a:tc>
              </a:tr>
              <a:tr h="809625">
                <a:tc>
                  <a:txBody>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A</a:t>
                      </a:r>
                      <a:endParaRPr/>
                    </a:p>
                  </a:txBody>
                  <a:tcPr marT="45725" marB="45725" marR="91450" marL="91450" anchor="ctr">
                    <a:solidFill>
                      <a:srgbClr val="F0F3F6"/>
                    </a:solidFill>
                  </a:tcPr>
                </a:tc>
                <a:tc>
                  <a:txBody>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Case lifecycle and proposals</a:t>
                      </a:r>
                      <a:endParaRPr/>
                    </a:p>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Approval and simulated execution</a:t>
                      </a:r>
                      <a:endParaRPr/>
                    </a:p>
                  </a:txBody>
                  <a:tcPr marT="45725" marB="45725" marR="91450" marL="91450" anchor="ctr">
                    <a:solidFill>
                      <a:srgbClr val="F0F3F6"/>
                    </a:solidFill>
                  </a:tcPr>
                </a:tc>
                <a:tc>
                  <a:txBody>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Logistics test adapter</a:t>
                      </a:r>
                      <a:endParaRPr/>
                    </a:p>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External access unresolved</a:t>
                      </a:r>
                      <a:endParaRPr/>
                    </a:p>
                  </a:txBody>
                  <a:tcPr marT="45725" marB="45725" marR="91450" marL="91450" anchor="ctr">
                    <a:solidFill>
                      <a:srgbClr val="F0F3F6"/>
                    </a:solidFill>
                  </a:tcPr>
                </a:tc>
              </a:tr>
              <a:tr h="809625">
                <a:tc>
                  <a:txBody>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B</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Customer intake and clarification</a:t>
                      </a:r>
                      <a:endParaRPr/>
                    </a:p>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Founder review dashboard</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Operations analytics</a:t>
                      </a:r>
                      <a:endParaRPr/>
                    </a:p>
                  </a:txBody>
                  <a:tcPr marT="45725" marB="45725" marR="91450" marL="91450" anchor="ctr">
                    <a:solidFill>
                      <a:srgbClr val="FFFFFF"/>
                    </a:solidFill>
                  </a:tcPr>
                </a:tc>
              </a:tr>
              <a:tr h="809625">
                <a:tc>
                  <a:txBody>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C</a:t>
                      </a:r>
                      <a:endParaRPr/>
                    </a:p>
                  </a:txBody>
                  <a:tcPr marT="45725" marB="45725" marR="91450" marL="91450" anchor="ctr">
                    <a:solidFill>
                      <a:srgbClr val="F0F3F6"/>
                    </a:solidFill>
                  </a:tcPr>
                </a:tc>
                <a:tc>
                  <a:txBody>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Retrieval and citation verification</a:t>
                      </a:r>
                      <a:endParaRPr/>
                    </a:p>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Independent risk review</a:t>
                      </a:r>
                      <a:endParaRPr/>
                    </a:p>
                  </a:txBody>
                  <a:tcPr marT="45725" marB="45725" marR="91450" marL="91450" anchor="ctr">
                    <a:solidFill>
                      <a:srgbClr val="F0F3F6"/>
                    </a:solidFill>
                  </a:tcPr>
                </a:tc>
                <a:tc>
                  <a:txBody>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Image observations</a:t>
                      </a:r>
                      <a:endParaRPr/>
                    </a:p>
                  </a:txBody>
                  <a:tcPr marT="45725" marB="45725" marR="91450" marL="91450" anchor="ctr">
                    <a:solidFill>
                      <a:srgbClr val="F0F3F6"/>
                    </a:solidFill>
                  </a:tcPr>
                </a:tc>
              </a:tr>
            </a:tbl>
          </a:graphicData>
        </a:graphic>
      </p:graphicFrame>
      <p:sp>
        <p:nvSpPr>
          <p:cNvPr id="30" name="Google Shape;30;p2"/>
          <p:cNvSpPr/>
          <p:nvPr/>
        </p:nvSpPr>
        <p:spPr>
          <a:xfrm>
            <a:off x="647700" y="5010150"/>
            <a:ext cx="3000375" cy="3714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1875"/>
              <a:buFont typeface="Arial"/>
              <a:buNone/>
            </a:pPr>
            <a:r>
              <a:rPr b="1" lang="en-US" sz="1875">
                <a:solidFill>
                  <a:srgbClr val="142C43"/>
                </a:solidFill>
                <a:latin typeface="Arial"/>
                <a:ea typeface="Arial"/>
                <a:cs typeface="Arial"/>
                <a:sym typeface="Arial"/>
              </a:rPr>
              <a:t>Required qualities</a:t>
            </a:r>
            <a:endParaRPr/>
          </a:p>
        </p:txBody>
      </p:sp>
      <p:sp>
        <p:nvSpPr>
          <p:cNvPr id="31" name="Google Shape;31;p2"/>
          <p:cNvSpPr/>
          <p:nvPr/>
        </p:nvSpPr>
        <p:spPr>
          <a:xfrm>
            <a:off x="3524250" y="5010150"/>
            <a:ext cx="7953375" cy="40005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1875"/>
              <a:buFont typeface="Arial"/>
              <a:buNone/>
            </a:pPr>
            <a:r>
              <a:rPr b="0" lang="en-US" sz="1875">
                <a:solidFill>
                  <a:srgbClr val="142C43"/>
                </a:solidFill>
                <a:latin typeface="Arial"/>
                <a:ea typeface="Arial"/>
                <a:cs typeface="Arial"/>
                <a:sym typeface="Arial"/>
              </a:rPr>
              <a:t>Traceability, privacy, safe retries and controlled model inputs</a:t>
            </a:r>
            <a:endParaRPr/>
          </a:p>
        </p:txBody>
      </p:sp>
      <p:sp>
        <p:nvSpPr>
          <p:cNvPr id="32" name="Google Shape;32;p2"/>
          <p:cNvSpPr/>
          <p:nvPr/>
        </p:nvSpPr>
        <p:spPr>
          <a:xfrm>
            <a:off x="647700" y="5553075"/>
            <a:ext cx="2857500" cy="3714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1875"/>
              <a:buFont typeface="Arial"/>
              <a:buNone/>
            </a:pPr>
            <a:r>
              <a:rPr b="1" lang="en-US" sz="1875">
                <a:solidFill>
                  <a:srgbClr val="142C43"/>
                </a:solidFill>
                <a:latin typeface="Arial"/>
                <a:ea typeface="Arial"/>
                <a:cs typeface="Arial"/>
                <a:sym typeface="Arial"/>
              </a:rPr>
              <a:t>Outside the core</a:t>
            </a:r>
            <a:endParaRPr/>
          </a:p>
        </p:txBody>
      </p:sp>
      <p:sp>
        <p:nvSpPr>
          <p:cNvPr id="33" name="Google Shape;33;p2"/>
          <p:cNvSpPr/>
          <p:nvPr/>
        </p:nvSpPr>
        <p:spPr>
          <a:xfrm>
            <a:off x="3524250" y="5524500"/>
            <a:ext cx="7953375" cy="60960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Real refunds, physical inspection, restocking and live commerce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p3"/>
          <p:cNvSpPr/>
          <p:nvPr/>
        </p:nvSpPr>
        <p:spPr>
          <a:xfrm>
            <a:off x="571500" y="333375"/>
            <a:ext cx="11049000" cy="61912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3225"/>
              <a:buFont typeface="Arial"/>
              <a:buNone/>
            </a:pPr>
            <a:r>
              <a:rPr b="1" lang="en-US" sz="3225">
                <a:solidFill>
                  <a:srgbClr val="142C43"/>
                </a:solidFill>
                <a:latin typeface="Arial"/>
                <a:ea typeface="Arial"/>
                <a:cs typeface="Arial"/>
                <a:sym typeface="Arial"/>
              </a:rPr>
              <a:t>Agent roles and trusted services</a:t>
            </a:r>
            <a:endParaRPr/>
          </a:p>
        </p:txBody>
      </p:sp>
      <p:sp>
        <p:nvSpPr>
          <p:cNvPr id="40" name="Google Shape;40;p3"/>
          <p:cNvSpPr/>
          <p:nvPr/>
        </p:nvSpPr>
        <p:spPr>
          <a:xfrm>
            <a:off x="590550" y="1047750"/>
            <a:ext cx="10991850" cy="4476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800"/>
              <a:buFont typeface="Arial"/>
              <a:buNone/>
            </a:pPr>
            <a:r>
              <a:rPr b="0" lang="en-US" sz="1800">
                <a:solidFill>
                  <a:srgbClr val="536472"/>
                </a:solidFill>
                <a:latin typeface="Arial"/>
                <a:ea typeface="Arial"/>
                <a:cs typeface="Arial"/>
                <a:sym typeface="Arial"/>
              </a:rPr>
              <a:t>AI produces observations. Domain owns accepted business state.</a:t>
            </a:r>
            <a:endParaRPr/>
          </a:p>
        </p:txBody>
      </p:sp>
      <p:sp>
        <p:nvSpPr>
          <p:cNvPr id="41" name="Google Shape;41;p3"/>
          <p:cNvSpPr/>
          <p:nvPr/>
        </p:nvSpPr>
        <p:spPr>
          <a:xfrm>
            <a:off x="10287000" y="6391275"/>
            <a:ext cx="1333500" cy="247650"/>
          </a:xfrm>
          <a:prstGeom prst="rect">
            <a:avLst/>
          </a:prstGeom>
          <a:noFill/>
          <a:ln>
            <a:noFill/>
          </a:ln>
        </p:spPr>
        <p:txBody>
          <a:bodyPr anchorCtr="0" anchor="ctr" bIns="47625" lIns="66675" spcFirstLastPara="1" rIns="66675" wrap="square" tIns="47625">
            <a:noAutofit/>
          </a:bodyPr>
          <a:lstStyle/>
          <a:p>
            <a:pPr indent="0" lvl="0" marL="0" marR="0" rtl="0" algn="r">
              <a:spcBef>
                <a:spcPts val="0"/>
              </a:spcBef>
              <a:spcAft>
                <a:spcPts val="0"/>
              </a:spcAft>
              <a:buClr>
                <a:srgbClr val="536472"/>
              </a:buClr>
              <a:buSzPts val="1200"/>
              <a:buFont typeface="Arial"/>
              <a:buNone/>
            </a:pPr>
            <a:r>
              <a:rPr b="0" lang="en-US" sz="1200">
                <a:solidFill>
                  <a:srgbClr val="536472"/>
                </a:solidFill>
                <a:latin typeface="Arial"/>
                <a:ea typeface="Arial"/>
                <a:cs typeface="Arial"/>
                <a:sym typeface="Arial"/>
              </a:rPr>
              <a:t>A   3 / 9</a:t>
            </a:r>
            <a:endParaRPr/>
          </a:p>
        </p:txBody>
      </p:sp>
      <p:sp>
        <p:nvSpPr>
          <p:cNvPr id="42" name="Google Shape;42;p3"/>
          <p:cNvSpPr/>
          <p:nvPr/>
        </p:nvSpPr>
        <p:spPr>
          <a:xfrm>
            <a:off x="666750" y="1819275"/>
            <a:ext cx="3095625" cy="933450"/>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Coordinator</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Extract facts and ask questions</a:t>
            </a:r>
            <a:endParaRPr/>
          </a:p>
        </p:txBody>
      </p:sp>
      <p:sp>
        <p:nvSpPr>
          <p:cNvPr id="43" name="Google Shape;43;p3"/>
          <p:cNvSpPr/>
          <p:nvPr/>
        </p:nvSpPr>
        <p:spPr>
          <a:xfrm>
            <a:off x="4543425" y="1819275"/>
            <a:ext cx="3095625" cy="933450"/>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Assessment</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Draft a conditional proposal</a:t>
            </a:r>
            <a:endParaRPr/>
          </a:p>
        </p:txBody>
      </p:sp>
      <p:sp>
        <p:nvSpPr>
          <p:cNvPr id="44" name="Google Shape;44;p3"/>
          <p:cNvSpPr/>
          <p:nvPr/>
        </p:nvSpPr>
        <p:spPr>
          <a:xfrm>
            <a:off x="8420100" y="1819275"/>
            <a:ext cx="3095625" cy="933450"/>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Independent Risk</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Challenge support and scope</a:t>
            </a:r>
            <a:endParaRPr/>
          </a:p>
        </p:txBody>
      </p:sp>
      <p:sp>
        <p:nvSpPr>
          <p:cNvPr id="45" name="Google Shape;45;p3"/>
          <p:cNvSpPr/>
          <p:nvPr/>
        </p:nvSpPr>
        <p:spPr>
          <a:xfrm>
            <a:off x="3810000" y="3524250"/>
            <a:ext cx="4048125" cy="77152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Bounded orchestrator</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Typed, separate invocations</a:t>
            </a:r>
            <a:endParaRPr/>
          </a:p>
        </p:txBody>
      </p:sp>
      <p:sp>
        <p:nvSpPr>
          <p:cNvPr id="46" name="Google Shape;46;p3"/>
          <p:cNvSpPr/>
          <p:nvPr/>
        </p:nvSpPr>
        <p:spPr>
          <a:xfrm>
            <a:off x="3810000" y="5057775"/>
            <a:ext cx="4048125" cy="876300"/>
          </a:xfrm>
          <a:prstGeom prst="rect">
            <a:avLst/>
          </a:prstGeom>
          <a:solidFill>
            <a:srgbClr val="142C43"/>
          </a:solidFill>
          <a:ln cap="flat" cmpd="sng" w="14275">
            <a:solidFill>
              <a:srgbClr val="142C43"/>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FFFFFF"/>
              </a:buClr>
              <a:buSzPts val="1800"/>
              <a:buFont typeface="Arial"/>
              <a:buNone/>
            </a:pPr>
            <a:r>
              <a:rPr b="0" lang="en-US" sz="1800">
                <a:solidFill>
                  <a:srgbClr val="FFFFFF"/>
                </a:solidFill>
                <a:latin typeface="Arial"/>
                <a:ea typeface="Arial"/>
                <a:cs typeface="Arial"/>
                <a:sym typeface="Arial"/>
              </a:rPr>
              <a:t>Domain Service</a:t>
            </a:r>
            <a:endParaRPr/>
          </a:p>
          <a:p>
            <a:pPr indent="0" lvl="0" marL="0" marR="0" rtl="0" algn="ctr">
              <a:spcBef>
                <a:spcPts val="0"/>
              </a:spcBef>
              <a:spcAft>
                <a:spcPts val="0"/>
              </a:spcAft>
              <a:buClr>
                <a:srgbClr val="FFFFFF"/>
              </a:buClr>
              <a:buSzPts val="1800"/>
              <a:buFont typeface="Arial"/>
              <a:buNone/>
            </a:pPr>
            <a:r>
              <a:rPr b="0" lang="en-US" sz="1800">
                <a:solidFill>
                  <a:srgbClr val="FFFFFF"/>
                </a:solidFill>
                <a:latin typeface="Arial"/>
                <a:ea typeface="Arial"/>
                <a:cs typeface="Arial"/>
                <a:sym typeface="Arial"/>
              </a:rPr>
              <a:t>Validate, persist and audit</a:t>
            </a:r>
            <a:endParaRPr/>
          </a:p>
        </p:txBody>
      </p:sp>
      <p:sp>
        <p:nvSpPr>
          <p:cNvPr id="47" name="Google Shape;47;p3"/>
          <p:cNvSpPr/>
          <p:nvPr/>
        </p:nvSpPr>
        <p:spPr>
          <a:xfrm>
            <a:off x="8620125" y="3524250"/>
            <a:ext cx="2857500" cy="77152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Human Founder</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Review and decide</a:t>
            </a:r>
            <a:endParaRPr/>
          </a:p>
        </p:txBody>
      </p:sp>
      <p:sp>
        <p:nvSpPr>
          <p:cNvPr id="48" name="Google Shape;48;p3"/>
          <p:cNvSpPr/>
          <p:nvPr/>
        </p:nvSpPr>
        <p:spPr>
          <a:xfrm>
            <a:off x="619125" y="5057775"/>
            <a:ext cx="2571750" cy="876300"/>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650"/>
              <a:buFont typeface="Arial"/>
              <a:buNone/>
            </a:pPr>
            <a:r>
              <a:rPr b="0" lang="en-US" sz="1650">
                <a:solidFill>
                  <a:srgbClr val="142C43"/>
                </a:solidFill>
                <a:latin typeface="Arial"/>
                <a:ea typeface="Arial"/>
                <a:cs typeface="Arial"/>
                <a:sym typeface="Arial"/>
              </a:rPr>
              <a:t>PostgreSQL</a:t>
            </a:r>
            <a:endParaRPr/>
          </a:p>
          <a:p>
            <a:pPr indent="0" lvl="0" marL="0" marR="0" rtl="0" algn="ctr">
              <a:spcBef>
                <a:spcPts val="0"/>
              </a:spcBef>
              <a:spcAft>
                <a:spcPts val="0"/>
              </a:spcAft>
              <a:buClr>
                <a:srgbClr val="142C43"/>
              </a:buClr>
              <a:buSzPts val="1650"/>
              <a:buFont typeface="Arial"/>
              <a:buNone/>
            </a:pPr>
            <a:r>
              <a:rPr b="0" lang="en-US" sz="1650">
                <a:solidFill>
                  <a:srgbClr val="142C43"/>
                </a:solidFill>
                <a:latin typeface="Arial"/>
                <a:ea typeface="Arial"/>
                <a:cs typeface="Arial"/>
                <a:sym typeface="Arial"/>
              </a:rPr>
              <a:t>Authoritative records</a:t>
            </a:r>
            <a:endParaRPr/>
          </a:p>
        </p:txBody>
      </p:sp>
      <p:sp>
        <p:nvSpPr>
          <p:cNvPr id="49" name="Google Shape;49;p3"/>
          <p:cNvSpPr/>
          <p:nvPr/>
        </p:nvSpPr>
        <p:spPr>
          <a:xfrm>
            <a:off x="8620125" y="5057775"/>
            <a:ext cx="2857500" cy="876300"/>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725"/>
              <a:buFont typeface="Arial"/>
              <a:buNone/>
            </a:pPr>
            <a:r>
              <a:rPr b="0" lang="en-US" sz="1725">
                <a:solidFill>
                  <a:srgbClr val="142C43"/>
                </a:solidFill>
                <a:latin typeface="Arial"/>
                <a:ea typeface="Arial"/>
                <a:cs typeface="Arial"/>
                <a:sym typeface="Arial"/>
              </a:rPr>
              <a:t>Operations Service</a:t>
            </a:r>
            <a:endParaRPr/>
          </a:p>
          <a:p>
            <a:pPr indent="0" lvl="0" marL="0" marR="0" rtl="0" algn="ctr">
              <a:spcBef>
                <a:spcPts val="0"/>
              </a:spcBef>
              <a:spcAft>
                <a:spcPts val="0"/>
              </a:spcAft>
              <a:buClr>
                <a:srgbClr val="142C43"/>
              </a:buClr>
              <a:buSzPts val="1725"/>
              <a:buFont typeface="Arial"/>
              <a:buNone/>
            </a:pPr>
            <a:r>
              <a:rPr b="0" lang="en-US" sz="1725">
                <a:solidFill>
                  <a:srgbClr val="142C43"/>
                </a:solidFill>
                <a:latin typeface="Arial"/>
                <a:ea typeface="Arial"/>
                <a:cs typeface="Arial"/>
                <a:sym typeface="Arial"/>
              </a:rPr>
              <a:t>Approved simulations</a:t>
            </a:r>
            <a:endParaRPr/>
          </a:p>
        </p:txBody>
      </p:sp>
      <p:cxnSp>
        <p:nvCxnSpPr>
          <p:cNvPr id="50" name="Google Shape;50;p3"/>
          <p:cNvCxnSpPr>
            <a:stCxn id="45" idx="0"/>
            <a:endCxn id="42" idx="2"/>
          </p:cNvCxnSpPr>
          <p:nvPr/>
        </p:nvCxnSpPr>
        <p:spPr>
          <a:xfrm rot="10800000">
            <a:off x="2214563" y="2752650"/>
            <a:ext cx="3619500" cy="771600"/>
          </a:xfrm>
          <a:prstGeom prst="straightConnector1">
            <a:avLst/>
          </a:prstGeom>
          <a:noFill/>
          <a:ln cap="flat" cmpd="sng" w="19050">
            <a:solidFill>
              <a:srgbClr val="748591"/>
            </a:solidFill>
            <a:prstDash val="solid"/>
            <a:round/>
            <a:headEnd len="sm" w="sm" type="none"/>
            <a:tailEnd len="sm" w="sm" type="triangle"/>
          </a:ln>
        </p:spPr>
      </p:cxnSp>
      <p:cxnSp>
        <p:nvCxnSpPr>
          <p:cNvPr id="51" name="Google Shape;51;p3"/>
          <p:cNvCxnSpPr>
            <a:stCxn id="45" idx="0"/>
            <a:endCxn id="43" idx="2"/>
          </p:cNvCxnSpPr>
          <p:nvPr/>
        </p:nvCxnSpPr>
        <p:spPr>
          <a:xfrm flipH="1" rot="10800000">
            <a:off x="5834063" y="2752650"/>
            <a:ext cx="257100" cy="771600"/>
          </a:xfrm>
          <a:prstGeom prst="straightConnector1">
            <a:avLst/>
          </a:prstGeom>
          <a:noFill/>
          <a:ln cap="flat" cmpd="sng" w="19050">
            <a:solidFill>
              <a:srgbClr val="748591"/>
            </a:solidFill>
            <a:prstDash val="solid"/>
            <a:round/>
            <a:headEnd len="sm" w="sm" type="none"/>
            <a:tailEnd len="sm" w="sm" type="triangle"/>
          </a:ln>
        </p:spPr>
      </p:cxnSp>
      <p:cxnSp>
        <p:nvCxnSpPr>
          <p:cNvPr id="52" name="Google Shape;52;p3"/>
          <p:cNvCxnSpPr>
            <a:stCxn id="45" idx="0"/>
            <a:endCxn id="44" idx="2"/>
          </p:cNvCxnSpPr>
          <p:nvPr/>
        </p:nvCxnSpPr>
        <p:spPr>
          <a:xfrm flipH="1" rot="10800000">
            <a:off x="5834063" y="2752650"/>
            <a:ext cx="4134000" cy="771600"/>
          </a:xfrm>
          <a:prstGeom prst="straightConnector1">
            <a:avLst/>
          </a:prstGeom>
          <a:noFill/>
          <a:ln cap="flat" cmpd="sng" w="19050">
            <a:solidFill>
              <a:srgbClr val="748591"/>
            </a:solidFill>
            <a:prstDash val="solid"/>
            <a:round/>
            <a:headEnd len="sm" w="sm" type="none"/>
            <a:tailEnd len="sm" w="sm" type="triangle"/>
          </a:ln>
        </p:spPr>
      </p:cxnSp>
      <p:cxnSp>
        <p:nvCxnSpPr>
          <p:cNvPr id="53" name="Google Shape;53;p3"/>
          <p:cNvCxnSpPr>
            <a:stCxn id="45" idx="2"/>
            <a:endCxn id="46" idx="0"/>
          </p:cNvCxnSpPr>
          <p:nvPr/>
        </p:nvCxnSpPr>
        <p:spPr>
          <a:xfrm>
            <a:off x="5834063" y="4295775"/>
            <a:ext cx="0" cy="762000"/>
          </a:xfrm>
          <a:prstGeom prst="straightConnector1">
            <a:avLst/>
          </a:prstGeom>
          <a:noFill/>
          <a:ln cap="flat" cmpd="sng" w="19050">
            <a:solidFill>
              <a:srgbClr val="748591"/>
            </a:solidFill>
            <a:prstDash val="solid"/>
            <a:round/>
            <a:headEnd len="sm" w="sm" type="none"/>
            <a:tailEnd len="sm" w="sm" type="triangle"/>
          </a:ln>
        </p:spPr>
      </p:cxnSp>
      <p:cxnSp>
        <p:nvCxnSpPr>
          <p:cNvPr id="54" name="Google Shape;54;p3"/>
          <p:cNvCxnSpPr>
            <a:stCxn id="47" idx="1"/>
            <a:endCxn id="46" idx="3"/>
          </p:cNvCxnSpPr>
          <p:nvPr/>
        </p:nvCxnSpPr>
        <p:spPr>
          <a:xfrm flipH="1">
            <a:off x="7858125" y="3910013"/>
            <a:ext cx="762000" cy="1585800"/>
          </a:xfrm>
          <a:prstGeom prst="bentConnector3">
            <a:avLst>
              <a:gd fmla="val 50000" name="adj1"/>
            </a:avLst>
          </a:prstGeom>
          <a:noFill/>
          <a:ln cap="flat" cmpd="sng" w="19050">
            <a:solidFill>
              <a:srgbClr val="748591"/>
            </a:solidFill>
            <a:prstDash val="solid"/>
            <a:round/>
            <a:headEnd len="sm" w="sm" type="none"/>
            <a:tailEnd len="sm" w="sm" type="triangle"/>
          </a:ln>
        </p:spPr>
      </p:cxnSp>
      <p:cxnSp>
        <p:nvCxnSpPr>
          <p:cNvPr id="55" name="Google Shape;55;p3"/>
          <p:cNvCxnSpPr>
            <a:stCxn id="46" idx="1"/>
            <a:endCxn id="48" idx="3"/>
          </p:cNvCxnSpPr>
          <p:nvPr/>
        </p:nvCxnSpPr>
        <p:spPr>
          <a:xfrm rot="10800000">
            <a:off x="3190800" y="5495925"/>
            <a:ext cx="619200" cy="0"/>
          </a:xfrm>
          <a:prstGeom prst="straightConnector1">
            <a:avLst/>
          </a:prstGeom>
          <a:noFill/>
          <a:ln cap="flat" cmpd="sng" w="19050">
            <a:solidFill>
              <a:srgbClr val="748591"/>
            </a:solidFill>
            <a:prstDash val="solid"/>
            <a:round/>
            <a:headEnd len="sm" w="sm" type="none"/>
            <a:tailEnd len="sm" w="sm" type="triangle"/>
          </a:ln>
        </p:spPr>
      </p:cxnSp>
      <p:cxnSp>
        <p:nvCxnSpPr>
          <p:cNvPr id="56" name="Google Shape;56;p3"/>
          <p:cNvCxnSpPr>
            <a:stCxn id="46" idx="3"/>
            <a:endCxn id="49" idx="1"/>
          </p:cNvCxnSpPr>
          <p:nvPr/>
        </p:nvCxnSpPr>
        <p:spPr>
          <a:xfrm>
            <a:off x="7858125" y="5495925"/>
            <a:ext cx="762000" cy="0"/>
          </a:xfrm>
          <a:prstGeom prst="straightConnector1">
            <a:avLst/>
          </a:prstGeom>
          <a:noFill/>
          <a:ln cap="flat" cmpd="sng" w="19050">
            <a:solidFill>
              <a:srgbClr val="748591"/>
            </a:solidFill>
            <a:prstDash val="solid"/>
            <a:round/>
            <a:headEnd len="sm" w="sm" type="none"/>
            <a:tailEnd len="sm" w="sm" type="triangle"/>
          </a:ln>
        </p:spPr>
      </p:cxnSp>
      <p:sp>
        <p:nvSpPr>
          <p:cNvPr id="57" name="Google Shape;57;p3"/>
          <p:cNvSpPr/>
          <p:nvPr/>
        </p:nvSpPr>
        <p:spPr>
          <a:xfrm>
            <a:off x="3943350" y="4543425"/>
            <a:ext cx="3781425"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original observations</a:t>
            </a:r>
            <a:endParaRPr/>
          </a:p>
        </p:txBody>
      </p:sp>
      <p:sp>
        <p:nvSpPr>
          <p:cNvPr id="58" name="Google Shape;58;p3"/>
          <p:cNvSpPr/>
          <p:nvPr/>
        </p:nvSpPr>
        <p:spPr>
          <a:xfrm>
            <a:off x="8020050" y="4467225"/>
            <a:ext cx="3495675"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exact decision</a:t>
            </a:r>
            <a:endParaRPr/>
          </a:p>
        </p:txBody>
      </p:sp>
      <p:sp>
        <p:nvSpPr>
          <p:cNvPr id="59" name="Google Shape;59;p3"/>
          <p:cNvSpPr/>
          <p:nvPr/>
        </p:nvSpPr>
        <p:spPr>
          <a:xfrm>
            <a:off x="666750" y="6200775"/>
            <a:ext cx="9953625" cy="30480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500"/>
              <a:buFont typeface="Arial"/>
              <a:buNone/>
            </a:pPr>
            <a:r>
              <a:rPr b="0" lang="en-US" sz="1500">
                <a:solidFill>
                  <a:srgbClr val="536472"/>
                </a:solidFill>
                <a:latin typeface="Arial"/>
                <a:ea typeface="Arial"/>
                <a:cs typeface="Arial"/>
                <a:sym typeface="Arial"/>
              </a:rPr>
              <a:t>Domain-accepted evidence feeds the Risk invocation. Operations is deterministic, not a fourth AI.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4"/>
          <p:cNvSpPr/>
          <p:nvPr/>
        </p:nvSpPr>
        <p:spPr>
          <a:xfrm>
            <a:off x="571500" y="333375"/>
            <a:ext cx="11049000" cy="61912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3225"/>
              <a:buFont typeface="Arial"/>
              <a:buNone/>
            </a:pPr>
            <a:r>
              <a:rPr b="1" lang="en-US" sz="3225">
                <a:solidFill>
                  <a:srgbClr val="142C43"/>
                </a:solidFill>
                <a:latin typeface="Arial"/>
                <a:ea typeface="Arial"/>
                <a:cs typeface="Arial"/>
                <a:sym typeface="Arial"/>
              </a:rPr>
              <a:t>Use cases in one return journey</a:t>
            </a:r>
            <a:endParaRPr/>
          </a:p>
        </p:txBody>
      </p:sp>
      <p:sp>
        <p:nvSpPr>
          <p:cNvPr id="66" name="Google Shape;66;p4"/>
          <p:cNvSpPr/>
          <p:nvPr/>
        </p:nvSpPr>
        <p:spPr>
          <a:xfrm>
            <a:off x="590550" y="1047750"/>
            <a:ext cx="10991850" cy="4476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800"/>
              <a:buFont typeface="Arial"/>
              <a:buNone/>
            </a:pPr>
            <a:r>
              <a:rPr b="0" lang="en-US" sz="1800">
                <a:solidFill>
                  <a:srgbClr val="536472"/>
                </a:solidFill>
                <a:latin typeface="Arial"/>
                <a:ea typeface="Arial"/>
                <a:cs typeface="Arial"/>
                <a:sym typeface="Arial"/>
              </a:rPr>
              <a:t>Illustrative case: a desk lamp arrives with a cracked base</a:t>
            </a:r>
            <a:endParaRPr/>
          </a:p>
        </p:txBody>
      </p:sp>
      <p:sp>
        <p:nvSpPr>
          <p:cNvPr id="67" name="Google Shape;67;p4"/>
          <p:cNvSpPr/>
          <p:nvPr/>
        </p:nvSpPr>
        <p:spPr>
          <a:xfrm>
            <a:off x="10287000" y="6391275"/>
            <a:ext cx="1333500" cy="247650"/>
          </a:xfrm>
          <a:prstGeom prst="rect">
            <a:avLst/>
          </a:prstGeom>
          <a:noFill/>
          <a:ln>
            <a:noFill/>
          </a:ln>
        </p:spPr>
        <p:txBody>
          <a:bodyPr anchorCtr="0" anchor="ctr" bIns="47625" lIns="66675" spcFirstLastPara="1" rIns="66675" wrap="square" tIns="47625">
            <a:noAutofit/>
          </a:bodyPr>
          <a:lstStyle/>
          <a:p>
            <a:pPr indent="0" lvl="0" marL="0" marR="0" rtl="0" algn="r">
              <a:spcBef>
                <a:spcPts val="0"/>
              </a:spcBef>
              <a:spcAft>
                <a:spcPts val="0"/>
              </a:spcAft>
              <a:buClr>
                <a:srgbClr val="536472"/>
              </a:buClr>
              <a:buSzPts val="1200"/>
              <a:buFont typeface="Arial"/>
              <a:buNone/>
            </a:pPr>
            <a:r>
              <a:rPr b="0" lang="en-US" sz="1200">
                <a:solidFill>
                  <a:srgbClr val="536472"/>
                </a:solidFill>
                <a:latin typeface="Arial"/>
                <a:ea typeface="Arial"/>
                <a:cs typeface="Arial"/>
                <a:sym typeface="Arial"/>
              </a:rPr>
              <a:t>B   4 / 9</a:t>
            </a:r>
            <a:endParaRPr/>
          </a:p>
        </p:txBody>
      </p:sp>
      <p:sp>
        <p:nvSpPr>
          <p:cNvPr id="68" name="Google Shape;68;p4"/>
          <p:cNvSpPr/>
          <p:nvPr/>
        </p:nvSpPr>
        <p:spPr>
          <a:xfrm>
            <a:off x="762000" y="2219325"/>
            <a:ext cx="2238375" cy="90487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UC-01</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Lodge request</a:t>
            </a:r>
            <a:endParaRPr/>
          </a:p>
        </p:txBody>
      </p:sp>
      <p:sp>
        <p:nvSpPr>
          <p:cNvPr id="69" name="Google Shape;69;p4"/>
          <p:cNvSpPr/>
          <p:nvPr/>
        </p:nvSpPr>
        <p:spPr>
          <a:xfrm>
            <a:off x="3914775" y="2219325"/>
            <a:ext cx="2476500" cy="904875"/>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UC-02</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Assess and propose</a:t>
            </a:r>
            <a:endParaRPr/>
          </a:p>
        </p:txBody>
      </p:sp>
      <p:sp>
        <p:nvSpPr>
          <p:cNvPr id="70" name="Google Shape;70;p4"/>
          <p:cNvSpPr/>
          <p:nvPr/>
        </p:nvSpPr>
        <p:spPr>
          <a:xfrm>
            <a:off x="7515225" y="2219325"/>
            <a:ext cx="2952750" cy="90487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UC-03</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Founder decision</a:t>
            </a:r>
            <a:endParaRPr/>
          </a:p>
        </p:txBody>
      </p:sp>
      <p:sp>
        <p:nvSpPr>
          <p:cNvPr id="71" name="Google Shape;71;p4"/>
          <p:cNvSpPr/>
          <p:nvPr/>
        </p:nvSpPr>
        <p:spPr>
          <a:xfrm>
            <a:off x="762000" y="4143375"/>
            <a:ext cx="2238375" cy="90487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UC-01E</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Provide clarification</a:t>
            </a:r>
            <a:endParaRPr/>
          </a:p>
        </p:txBody>
      </p:sp>
      <p:sp>
        <p:nvSpPr>
          <p:cNvPr id="72" name="Google Shape;72;p4"/>
          <p:cNvSpPr/>
          <p:nvPr/>
        </p:nvSpPr>
        <p:spPr>
          <a:xfrm>
            <a:off x="3914775" y="4143375"/>
            <a:ext cx="2476500" cy="90487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UC-05</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Inspect state and audit</a:t>
            </a:r>
            <a:endParaRPr/>
          </a:p>
        </p:txBody>
      </p:sp>
      <p:sp>
        <p:nvSpPr>
          <p:cNvPr id="73" name="Google Shape;73;p4"/>
          <p:cNvSpPr/>
          <p:nvPr/>
        </p:nvSpPr>
        <p:spPr>
          <a:xfrm>
            <a:off x="7515225" y="4143375"/>
            <a:ext cx="2952750" cy="90487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UC-04</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Execute approved simulation</a:t>
            </a:r>
            <a:endParaRPr/>
          </a:p>
        </p:txBody>
      </p:sp>
      <p:cxnSp>
        <p:nvCxnSpPr>
          <p:cNvPr id="74" name="Google Shape;74;p4"/>
          <p:cNvCxnSpPr>
            <a:stCxn id="68" idx="3"/>
            <a:endCxn id="69" idx="1"/>
          </p:cNvCxnSpPr>
          <p:nvPr/>
        </p:nvCxnSpPr>
        <p:spPr>
          <a:xfrm>
            <a:off x="3000375" y="2671763"/>
            <a:ext cx="914400" cy="0"/>
          </a:xfrm>
          <a:prstGeom prst="straightConnector1">
            <a:avLst/>
          </a:prstGeom>
          <a:noFill/>
          <a:ln cap="flat" cmpd="sng" w="19050">
            <a:solidFill>
              <a:srgbClr val="748591"/>
            </a:solidFill>
            <a:prstDash val="solid"/>
            <a:round/>
            <a:headEnd len="sm" w="sm" type="none"/>
            <a:tailEnd len="sm" w="sm" type="triangle"/>
          </a:ln>
        </p:spPr>
      </p:cxnSp>
      <p:cxnSp>
        <p:nvCxnSpPr>
          <p:cNvPr id="75" name="Google Shape;75;p4"/>
          <p:cNvCxnSpPr>
            <a:stCxn id="69" idx="3"/>
            <a:endCxn id="70" idx="1"/>
          </p:cNvCxnSpPr>
          <p:nvPr/>
        </p:nvCxnSpPr>
        <p:spPr>
          <a:xfrm>
            <a:off x="6391275" y="2671763"/>
            <a:ext cx="1124100" cy="0"/>
          </a:xfrm>
          <a:prstGeom prst="straightConnector1">
            <a:avLst/>
          </a:prstGeom>
          <a:noFill/>
          <a:ln cap="flat" cmpd="sng" w="19050">
            <a:solidFill>
              <a:srgbClr val="748591"/>
            </a:solidFill>
            <a:prstDash val="solid"/>
            <a:round/>
            <a:headEnd len="sm" w="sm" type="none"/>
            <a:tailEnd len="sm" w="sm" type="triangle"/>
          </a:ln>
        </p:spPr>
      </p:cxnSp>
      <p:cxnSp>
        <p:nvCxnSpPr>
          <p:cNvPr id="76" name="Google Shape;76;p4"/>
          <p:cNvCxnSpPr>
            <a:stCxn id="70" idx="2"/>
            <a:endCxn id="73" idx="0"/>
          </p:cNvCxnSpPr>
          <p:nvPr/>
        </p:nvCxnSpPr>
        <p:spPr>
          <a:xfrm>
            <a:off x="8991600" y="3124200"/>
            <a:ext cx="0" cy="1019100"/>
          </a:xfrm>
          <a:prstGeom prst="straightConnector1">
            <a:avLst/>
          </a:prstGeom>
          <a:noFill/>
          <a:ln cap="flat" cmpd="sng" w="19050">
            <a:solidFill>
              <a:srgbClr val="748591"/>
            </a:solidFill>
            <a:prstDash val="solid"/>
            <a:round/>
            <a:headEnd len="sm" w="sm" type="none"/>
            <a:tailEnd len="sm" w="sm" type="triangle"/>
          </a:ln>
        </p:spPr>
      </p:cxnSp>
      <p:cxnSp>
        <p:nvCxnSpPr>
          <p:cNvPr id="77" name="Google Shape;77;p4"/>
          <p:cNvCxnSpPr>
            <a:stCxn id="69" idx="2"/>
            <a:endCxn id="71" idx="0"/>
          </p:cNvCxnSpPr>
          <p:nvPr/>
        </p:nvCxnSpPr>
        <p:spPr>
          <a:xfrm rot="5400000">
            <a:off x="3007575" y="1997850"/>
            <a:ext cx="1019100" cy="3271800"/>
          </a:xfrm>
          <a:prstGeom prst="bentConnector4">
            <a:avLst>
              <a:gd fmla="val 0" name="adj1"/>
              <a:gd fmla="val 0" name="adj2"/>
            </a:avLst>
          </a:prstGeom>
          <a:noFill/>
          <a:ln cap="flat" cmpd="sng" w="19050">
            <a:solidFill>
              <a:srgbClr val="748591"/>
            </a:solidFill>
            <a:prstDash val="solid"/>
            <a:round/>
            <a:headEnd len="sm" w="sm" type="none"/>
            <a:tailEnd len="sm" w="sm" type="triangle"/>
          </a:ln>
        </p:spPr>
      </p:cxnSp>
      <p:cxnSp>
        <p:nvCxnSpPr>
          <p:cNvPr id="78" name="Google Shape;78;p4"/>
          <p:cNvCxnSpPr>
            <a:stCxn id="71" idx="3"/>
            <a:endCxn id="69" idx="1"/>
          </p:cNvCxnSpPr>
          <p:nvPr/>
        </p:nvCxnSpPr>
        <p:spPr>
          <a:xfrm flipH="1" rot="10800000">
            <a:off x="3000375" y="2671913"/>
            <a:ext cx="914400" cy="1923900"/>
          </a:xfrm>
          <a:prstGeom prst="bentConnector3">
            <a:avLst>
              <a:gd fmla="val 50000" name="adj1"/>
            </a:avLst>
          </a:prstGeom>
          <a:noFill/>
          <a:ln cap="flat" cmpd="sng" w="19050">
            <a:solidFill>
              <a:srgbClr val="748591"/>
            </a:solidFill>
            <a:prstDash val="solid"/>
            <a:round/>
            <a:headEnd len="sm" w="sm" type="none"/>
            <a:tailEnd len="sm" w="sm" type="triangle"/>
          </a:ln>
        </p:spPr>
      </p:cxnSp>
      <p:cxnSp>
        <p:nvCxnSpPr>
          <p:cNvPr id="79" name="Google Shape;79;p4"/>
          <p:cNvCxnSpPr>
            <a:stCxn id="72" idx="0"/>
            <a:endCxn id="70" idx="2"/>
          </p:cNvCxnSpPr>
          <p:nvPr/>
        </p:nvCxnSpPr>
        <p:spPr>
          <a:xfrm flipH="1" rot="10800000">
            <a:off x="5153025" y="3124275"/>
            <a:ext cx="3838500" cy="1019100"/>
          </a:xfrm>
          <a:prstGeom prst="straightConnector1">
            <a:avLst/>
          </a:prstGeom>
          <a:noFill/>
          <a:ln cap="flat" cmpd="sng" w="19050">
            <a:solidFill>
              <a:srgbClr val="748591"/>
            </a:solidFill>
            <a:prstDash val="dash"/>
            <a:round/>
            <a:headEnd len="sm" w="sm" type="none"/>
            <a:tailEnd len="sm" w="sm" type="none"/>
          </a:ln>
        </p:spPr>
      </p:cxnSp>
      <p:sp>
        <p:nvSpPr>
          <p:cNvPr id="80" name="Google Shape;80;p4"/>
          <p:cNvSpPr/>
          <p:nvPr/>
        </p:nvSpPr>
        <p:spPr>
          <a:xfrm>
            <a:off x="6324600" y="1781175"/>
            <a:ext cx="3933825"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current passing review</a:t>
            </a:r>
            <a:endParaRPr/>
          </a:p>
        </p:txBody>
      </p:sp>
      <p:sp>
        <p:nvSpPr>
          <p:cNvPr id="81" name="Google Shape;81;p4"/>
          <p:cNvSpPr/>
          <p:nvPr/>
        </p:nvSpPr>
        <p:spPr>
          <a:xfrm>
            <a:off x="7896225" y="3467100"/>
            <a:ext cx="2190750"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exact approval</a:t>
            </a:r>
            <a:endParaRPr/>
          </a:p>
        </p:txBody>
      </p:sp>
      <p:sp>
        <p:nvSpPr>
          <p:cNvPr id="82" name="Google Shape;82;p4"/>
          <p:cNvSpPr/>
          <p:nvPr/>
        </p:nvSpPr>
        <p:spPr>
          <a:xfrm>
            <a:off x="762000" y="5267325"/>
            <a:ext cx="10572750" cy="7143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Clarify only when required information is missing.</a:t>
            </a:r>
            <a:endParaRPr/>
          </a:p>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Accepted clarification triggers a fresh assessment.</a:t>
            </a:r>
            <a:endParaRPr/>
          </a:p>
        </p:txBody>
      </p:sp>
      <p:sp>
        <p:nvSpPr>
          <p:cNvPr id="83" name="Google Shape;83;p4"/>
          <p:cNvSpPr/>
          <p:nvPr/>
        </p:nvSpPr>
        <p:spPr>
          <a:xfrm>
            <a:off x="762000" y="6000750"/>
            <a:ext cx="10001250" cy="3333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650"/>
              <a:buFont typeface="Arial"/>
              <a:buNone/>
            </a:pPr>
            <a:r>
              <a:rPr b="0" lang="en-US" sz="1650">
                <a:solidFill>
                  <a:srgbClr val="536472"/>
                </a:solidFill>
                <a:latin typeface="Arial"/>
                <a:ea typeface="Arial"/>
                <a:cs typeface="Arial"/>
                <a:sym typeface="Arial"/>
              </a:rPr>
              <a:t>Outcome notification follows saved results. The course core performs no real settlement.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5"/>
          <p:cNvSpPr/>
          <p:nvPr/>
        </p:nvSpPr>
        <p:spPr>
          <a:xfrm>
            <a:off x="571500" y="333375"/>
            <a:ext cx="11049000" cy="61912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3225"/>
              <a:buFont typeface="Arial"/>
              <a:buNone/>
            </a:pPr>
            <a:r>
              <a:rPr b="1" lang="en-US" sz="3225">
                <a:solidFill>
                  <a:srgbClr val="142C43"/>
                </a:solidFill>
                <a:latin typeface="Arial"/>
                <a:ea typeface="Arial"/>
                <a:cs typeface="Arial"/>
                <a:sym typeface="Arial"/>
              </a:rPr>
              <a:t>B model chain for customer intake</a:t>
            </a:r>
            <a:endParaRPr/>
          </a:p>
        </p:txBody>
      </p:sp>
      <p:sp>
        <p:nvSpPr>
          <p:cNvPr id="90" name="Google Shape;90;p5"/>
          <p:cNvSpPr/>
          <p:nvPr/>
        </p:nvSpPr>
        <p:spPr>
          <a:xfrm>
            <a:off x="590550" y="1047750"/>
            <a:ext cx="10991850" cy="4476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800"/>
              <a:buFont typeface="Arial"/>
              <a:buNone/>
            </a:pPr>
            <a:r>
              <a:rPr b="0" lang="en-US" sz="1800">
                <a:solidFill>
                  <a:srgbClr val="536472"/>
                </a:solidFill>
                <a:latin typeface="Arial"/>
                <a:ea typeface="Arial"/>
                <a:cs typeface="Arial"/>
                <a:sym typeface="Arial"/>
              </a:rPr>
              <a:t>AH-01 and UC-01: preserve one original request</a:t>
            </a:r>
            <a:endParaRPr/>
          </a:p>
        </p:txBody>
      </p:sp>
      <p:sp>
        <p:nvSpPr>
          <p:cNvPr id="91" name="Google Shape;91;p5"/>
          <p:cNvSpPr/>
          <p:nvPr/>
        </p:nvSpPr>
        <p:spPr>
          <a:xfrm>
            <a:off x="10287000" y="6391275"/>
            <a:ext cx="1333500" cy="247650"/>
          </a:xfrm>
          <a:prstGeom prst="rect">
            <a:avLst/>
          </a:prstGeom>
          <a:noFill/>
          <a:ln>
            <a:noFill/>
          </a:ln>
        </p:spPr>
        <p:txBody>
          <a:bodyPr anchorCtr="0" anchor="ctr" bIns="47625" lIns="66675" spcFirstLastPara="1" rIns="66675" wrap="square" tIns="47625">
            <a:noAutofit/>
          </a:bodyPr>
          <a:lstStyle/>
          <a:p>
            <a:pPr indent="0" lvl="0" marL="0" marR="0" rtl="0" algn="r">
              <a:spcBef>
                <a:spcPts val="0"/>
              </a:spcBef>
              <a:spcAft>
                <a:spcPts val="0"/>
              </a:spcAft>
              <a:buClr>
                <a:srgbClr val="536472"/>
              </a:buClr>
              <a:buSzPts val="1200"/>
              <a:buFont typeface="Arial"/>
              <a:buNone/>
            </a:pPr>
            <a:r>
              <a:rPr b="0" lang="en-US" sz="1200">
                <a:solidFill>
                  <a:srgbClr val="536472"/>
                </a:solidFill>
                <a:latin typeface="Arial"/>
                <a:ea typeface="Arial"/>
                <a:cs typeface="Arial"/>
                <a:sym typeface="Arial"/>
              </a:rPr>
              <a:t>B   5 / 9</a:t>
            </a:r>
            <a:endParaRPr/>
          </a:p>
        </p:txBody>
      </p:sp>
      <p:sp>
        <p:nvSpPr>
          <p:cNvPr id="92" name="Google Shape;92;p5"/>
          <p:cNvSpPr/>
          <p:nvPr/>
        </p:nvSpPr>
        <p:spPr>
          <a:xfrm>
            <a:off x="1000125" y="1809750"/>
            <a:ext cx="1428750" cy="52387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Customer</a:t>
            </a:r>
            <a:endParaRPr/>
          </a:p>
        </p:txBody>
      </p:sp>
      <p:sp>
        <p:nvSpPr>
          <p:cNvPr id="93" name="Google Shape;93;p5"/>
          <p:cNvSpPr/>
          <p:nvPr/>
        </p:nvSpPr>
        <p:spPr>
          <a:xfrm>
            <a:off x="4048125" y="1809750"/>
            <a:ext cx="1619250" cy="52387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Portal</a:t>
            </a:r>
            <a:endParaRPr/>
          </a:p>
        </p:txBody>
      </p:sp>
      <p:sp>
        <p:nvSpPr>
          <p:cNvPr id="94" name="Google Shape;94;p5"/>
          <p:cNvSpPr/>
          <p:nvPr/>
        </p:nvSpPr>
        <p:spPr>
          <a:xfrm>
            <a:off x="7286625" y="1809750"/>
            <a:ext cx="1714500" cy="523875"/>
          </a:xfrm>
          <a:prstGeom prst="rect">
            <a:avLst/>
          </a:prstGeom>
          <a:solidFill>
            <a:srgbClr val="142C4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FFFFFF"/>
              </a:buClr>
              <a:buSzPts val="1800"/>
              <a:buFont typeface="Arial"/>
              <a:buNone/>
            </a:pPr>
            <a:r>
              <a:rPr b="0" lang="en-US" sz="1800">
                <a:solidFill>
                  <a:srgbClr val="FFFFFF"/>
                </a:solidFill>
                <a:latin typeface="Arial"/>
                <a:ea typeface="Arial"/>
                <a:cs typeface="Arial"/>
                <a:sym typeface="Arial"/>
              </a:rPr>
              <a:t>Domain</a:t>
            </a:r>
            <a:endParaRPr/>
          </a:p>
        </p:txBody>
      </p:sp>
      <p:sp>
        <p:nvSpPr>
          <p:cNvPr id="95" name="Google Shape;95;p5"/>
          <p:cNvSpPr/>
          <p:nvPr/>
        </p:nvSpPr>
        <p:spPr>
          <a:xfrm>
            <a:off x="1704975" y="5562600"/>
            <a:ext cx="19050" cy="19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sp>
        <p:nvSpPr>
          <p:cNvPr id="96" name="Google Shape;96;p5"/>
          <p:cNvSpPr/>
          <p:nvPr/>
        </p:nvSpPr>
        <p:spPr>
          <a:xfrm>
            <a:off x="4848225" y="5562600"/>
            <a:ext cx="19050" cy="19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sp>
        <p:nvSpPr>
          <p:cNvPr id="97" name="Google Shape;97;p5"/>
          <p:cNvSpPr/>
          <p:nvPr/>
        </p:nvSpPr>
        <p:spPr>
          <a:xfrm>
            <a:off x="8134350" y="5562600"/>
            <a:ext cx="19050" cy="19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cxnSp>
        <p:nvCxnSpPr>
          <p:cNvPr id="98" name="Google Shape;98;p5"/>
          <p:cNvCxnSpPr>
            <a:stCxn id="92" idx="2"/>
            <a:endCxn id="95" idx="0"/>
          </p:cNvCxnSpPr>
          <p:nvPr/>
        </p:nvCxnSpPr>
        <p:spPr>
          <a:xfrm>
            <a:off x="1714500" y="2333625"/>
            <a:ext cx="0" cy="3228900"/>
          </a:xfrm>
          <a:prstGeom prst="straightConnector1">
            <a:avLst/>
          </a:prstGeom>
          <a:noFill/>
          <a:ln cap="flat" cmpd="sng" w="9525">
            <a:solidFill>
              <a:srgbClr val="748591"/>
            </a:solidFill>
            <a:prstDash val="dash"/>
            <a:round/>
            <a:headEnd len="sm" w="sm" type="none"/>
            <a:tailEnd len="sm" w="sm" type="none"/>
          </a:ln>
        </p:spPr>
      </p:cxnSp>
      <p:cxnSp>
        <p:nvCxnSpPr>
          <p:cNvPr id="99" name="Google Shape;99;p5"/>
          <p:cNvCxnSpPr>
            <a:stCxn id="93" idx="2"/>
            <a:endCxn id="96" idx="0"/>
          </p:cNvCxnSpPr>
          <p:nvPr/>
        </p:nvCxnSpPr>
        <p:spPr>
          <a:xfrm>
            <a:off x="4857750" y="2333625"/>
            <a:ext cx="0" cy="3228900"/>
          </a:xfrm>
          <a:prstGeom prst="straightConnector1">
            <a:avLst/>
          </a:prstGeom>
          <a:noFill/>
          <a:ln cap="flat" cmpd="sng" w="9525">
            <a:solidFill>
              <a:srgbClr val="748591"/>
            </a:solidFill>
            <a:prstDash val="dash"/>
            <a:round/>
            <a:headEnd len="sm" w="sm" type="none"/>
            <a:tailEnd len="sm" w="sm" type="none"/>
          </a:ln>
        </p:spPr>
      </p:cxnSp>
      <p:cxnSp>
        <p:nvCxnSpPr>
          <p:cNvPr id="100" name="Google Shape;100;p5"/>
          <p:cNvCxnSpPr>
            <a:stCxn id="94" idx="2"/>
            <a:endCxn id="97" idx="0"/>
          </p:cNvCxnSpPr>
          <p:nvPr/>
        </p:nvCxnSpPr>
        <p:spPr>
          <a:xfrm>
            <a:off x="8143875" y="2333625"/>
            <a:ext cx="0" cy="3228900"/>
          </a:xfrm>
          <a:prstGeom prst="straightConnector1">
            <a:avLst/>
          </a:prstGeom>
          <a:noFill/>
          <a:ln cap="flat" cmpd="sng" w="9525">
            <a:solidFill>
              <a:srgbClr val="748591"/>
            </a:solidFill>
            <a:prstDash val="dash"/>
            <a:round/>
            <a:headEnd len="sm" w="sm" type="none"/>
            <a:tailEnd len="sm" w="sm" type="none"/>
          </a:ln>
        </p:spPr>
      </p:cxnSp>
      <p:sp>
        <p:nvSpPr>
          <p:cNvPr id="101" name="Google Shape;101;p5"/>
          <p:cNvSpPr/>
          <p:nvPr/>
        </p:nvSpPr>
        <p:spPr>
          <a:xfrm>
            <a:off x="1714500" y="2876550"/>
            <a:ext cx="9525" cy="95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sp>
        <p:nvSpPr>
          <p:cNvPr id="102" name="Google Shape;102;p5"/>
          <p:cNvSpPr/>
          <p:nvPr/>
        </p:nvSpPr>
        <p:spPr>
          <a:xfrm>
            <a:off x="4857750" y="2876550"/>
            <a:ext cx="9525" cy="95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cxnSp>
        <p:nvCxnSpPr>
          <p:cNvPr id="103" name="Google Shape;103;p5"/>
          <p:cNvCxnSpPr>
            <a:stCxn id="101" idx="3"/>
            <a:endCxn id="102" idx="1"/>
          </p:cNvCxnSpPr>
          <p:nvPr/>
        </p:nvCxnSpPr>
        <p:spPr>
          <a:xfrm>
            <a:off x="1724025" y="2881313"/>
            <a:ext cx="3133800" cy="0"/>
          </a:xfrm>
          <a:prstGeom prst="straightConnector1">
            <a:avLst/>
          </a:prstGeom>
          <a:noFill/>
          <a:ln cap="flat" cmpd="sng" w="19050">
            <a:solidFill>
              <a:srgbClr val="748591"/>
            </a:solidFill>
            <a:prstDash val="solid"/>
            <a:round/>
            <a:headEnd len="sm" w="sm" type="none"/>
            <a:tailEnd len="sm" w="sm" type="triangle"/>
          </a:ln>
        </p:spPr>
      </p:cxnSp>
      <p:sp>
        <p:nvSpPr>
          <p:cNvPr id="104" name="Google Shape;104;p5"/>
          <p:cNvSpPr/>
          <p:nvPr/>
        </p:nvSpPr>
        <p:spPr>
          <a:xfrm>
            <a:off x="1790700" y="2524125"/>
            <a:ext cx="2990850"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650"/>
              <a:buFont typeface="Arial"/>
              <a:buNone/>
            </a:pPr>
            <a:r>
              <a:rPr b="0" lang="en-US" sz="1650">
                <a:solidFill>
                  <a:srgbClr val="536472"/>
                </a:solidFill>
                <a:latin typeface="Arial"/>
                <a:ea typeface="Arial"/>
                <a:cs typeface="Arial"/>
                <a:sym typeface="Arial"/>
              </a:rPr>
              <a:t>Request and evidence</a:t>
            </a:r>
            <a:endParaRPr/>
          </a:p>
        </p:txBody>
      </p:sp>
      <p:sp>
        <p:nvSpPr>
          <p:cNvPr id="105" name="Google Shape;105;p5"/>
          <p:cNvSpPr/>
          <p:nvPr/>
        </p:nvSpPr>
        <p:spPr>
          <a:xfrm>
            <a:off x="4857750" y="3619500"/>
            <a:ext cx="9525" cy="95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sp>
        <p:nvSpPr>
          <p:cNvPr id="106" name="Google Shape;106;p5"/>
          <p:cNvSpPr/>
          <p:nvPr/>
        </p:nvSpPr>
        <p:spPr>
          <a:xfrm>
            <a:off x="8143875" y="3619500"/>
            <a:ext cx="9525" cy="95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cxnSp>
        <p:nvCxnSpPr>
          <p:cNvPr id="107" name="Google Shape;107;p5"/>
          <p:cNvCxnSpPr>
            <a:stCxn id="105" idx="3"/>
            <a:endCxn id="106" idx="1"/>
          </p:cNvCxnSpPr>
          <p:nvPr/>
        </p:nvCxnSpPr>
        <p:spPr>
          <a:xfrm>
            <a:off x="4867275" y="3624263"/>
            <a:ext cx="3276600" cy="0"/>
          </a:xfrm>
          <a:prstGeom prst="straightConnector1">
            <a:avLst/>
          </a:prstGeom>
          <a:noFill/>
          <a:ln cap="flat" cmpd="sng" w="19050">
            <a:solidFill>
              <a:srgbClr val="748591"/>
            </a:solidFill>
            <a:prstDash val="solid"/>
            <a:round/>
            <a:headEnd len="sm" w="sm" type="none"/>
            <a:tailEnd len="sm" w="sm" type="triangle"/>
          </a:ln>
        </p:spPr>
      </p:cxnSp>
      <p:sp>
        <p:nvSpPr>
          <p:cNvPr id="108" name="Google Shape;108;p5"/>
          <p:cNvSpPr/>
          <p:nvPr/>
        </p:nvSpPr>
        <p:spPr>
          <a:xfrm>
            <a:off x="4933950" y="3267075"/>
            <a:ext cx="3133725"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650"/>
              <a:buFont typeface="Arial"/>
              <a:buNone/>
            </a:pPr>
            <a:r>
              <a:rPr b="0" lang="en-US" sz="1650">
                <a:solidFill>
                  <a:srgbClr val="536472"/>
                </a:solidFill>
                <a:latin typeface="Arial"/>
                <a:ea typeface="Arial"/>
                <a:cs typeface="Arial"/>
                <a:sym typeface="Arial"/>
              </a:rPr>
              <a:t>Stable key + same payload</a:t>
            </a:r>
            <a:endParaRPr/>
          </a:p>
        </p:txBody>
      </p:sp>
      <p:sp>
        <p:nvSpPr>
          <p:cNvPr id="109" name="Google Shape;109;p5"/>
          <p:cNvSpPr/>
          <p:nvPr/>
        </p:nvSpPr>
        <p:spPr>
          <a:xfrm>
            <a:off x="8143875" y="4324350"/>
            <a:ext cx="9525" cy="95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sp>
        <p:nvSpPr>
          <p:cNvPr id="110" name="Google Shape;110;p5"/>
          <p:cNvSpPr/>
          <p:nvPr/>
        </p:nvSpPr>
        <p:spPr>
          <a:xfrm>
            <a:off x="4857750" y="4324350"/>
            <a:ext cx="9525" cy="95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cxnSp>
        <p:nvCxnSpPr>
          <p:cNvPr id="111" name="Google Shape;111;p5"/>
          <p:cNvCxnSpPr>
            <a:stCxn id="109" idx="1"/>
            <a:endCxn id="110" idx="3"/>
          </p:cNvCxnSpPr>
          <p:nvPr/>
        </p:nvCxnSpPr>
        <p:spPr>
          <a:xfrm rot="10800000">
            <a:off x="4867275" y="4329113"/>
            <a:ext cx="3276600" cy="0"/>
          </a:xfrm>
          <a:prstGeom prst="straightConnector1">
            <a:avLst/>
          </a:prstGeom>
          <a:noFill/>
          <a:ln cap="flat" cmpd="sng" w="19050">
            <a:solidFill>
              <a:srgbClr val="748591"/>
            </a:solidFill>
            <a:prstDash val="solid"/>
            <a:round/>
            <a:headEnd len="sm" w="sm" type="none"/>
            <a:tailEnd len="sm" w="sm" type="triangle"/>
          </a:ln>
        </p:spPr>
      </p:cxnSp>
      <p:sp>
        <p:nvSpPr>
          <p:cNvPr id="112" name="Google Shape;112;p5"/>
          <p:cNvSpPr/>
          <p:nvPr/>
        </p:nvSpPr>
        <p:spPr>
          <a:xfrm>
            <a:off x="4933950" y="3971925"/>
            <a:ext cx="3133725"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650"/>
              <a:buFont typeface="Arial"/>
              <a:buNone/>
            </a:pPr>
            <a:r>
              <a:rPr b="0" lang="en-US" sz="1650">
                <a:solidFill>
                  <a:srgbClr val="536472"/>
                </a:solidFill>
                <a:latin typeface="Arial"/>
                <a:ea typeface="Arial"/>
                <a:cs typeface="Arial"/>
                <a:sym typeface="Arial"/>
              </a:rPr>
              <a:t>Accepted reference or error</a:t>
            </a:r>
            <a:endParaRPr/>
          </a:p>
        </p:txBody>
      </p:sp>
      <p:sp>
        <p:nvSpPr>
          <p:cNvPr id="113" name="Google Shape;113;p5"/>
          <p:cNvSpPr/>
          <p:nvPr/>
        </p:nvSpPr>
        <p:spPr>
          <a:xfrm>
            <a:off x="4857750" y="5076825"/>
            <a:ext cx="9525" cy="95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sp>
        <p:nvSpPr>
          <p:cNvPr id="114" name="Google Shape;114;p5"/>
          <p:cNvSpPr/>
          <p:nvPr/>
        </p:nvSpPr>
        <p:spPr>
          <a:xfrm>
            <a:off x="8143875" y="5076825"/>
            <a:ext cx="9525" cy="95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cxnSp>
        <p:nvCxnSpPr>
          <p:cNvPr id="115" name="Google Shape;115;p5"/>
          <p:cNvCxnSpPr>
            <a:stCxn id="113" idx="3"/>
            <a:endCxn id="114" idx="1"/>
          </p:cNvCxnSpPr>
          <p:nvPr/>
        </p:nvCxnSpPr>
        <p:spPr>
          <a:xfrm>
            <a:off x="4867275" y="5081588"/>
            <a:ext cx="3276600" cy="0"/>
          </a:xfrm>
          <a:prstGeom prst="straightConnector1">
            <a:avLst/>
          </a:prstGeom>
          <a:noFill/>
          <a:ln cap="flat" cmpd="sng" w="19050">
            <a:solidFill>
              <a:srgbClr val="748591"/>
            </a:solidFill>
            <a:prstDash val="solid"/>
            <a:round/>
            <a:headEnd len="sm" w="sm" type="none"/>
            <a:tailEnd len="sm" w="sm" type="triangle"/>
          </a:ln>
        </p:spPr>
      </p:cxnSp>
      <p:sp>
        <p:nvSpPr>
          <p:cNvPr id="116" name="Google Shape;116;p5"/>
          <p:cNvSpPr/>
          <p:nvPr/>
        </p:nvSpPr>
        <p:spPr>
          <a:xfrm>
            <a:off x="4933950" y="4724400"/>
            <a:ext cx="3133725"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650"/>
              <a:buFont typeface="Arial"/>
              <a:buNone/>
            </a:pPr>
            <a:r>
              <a:rPr b="0" lang="en-US" sz="1650">
                <a:solidFill>
                  <a:srgbClr val="536472"/>
                </a:solidFill>
                <a:latin typeface="Arial"/>
                <a:ea typeface="Arial"/>
                <a:cs typeface="Arial"/>
                <a:sym typeface="Arial"/>
              </a:rPr>
              <a:t>Replay after uncertain response</a:t>
            </a:r>
            <a:endParaRPr/>
          </a:p>
        </p:txBody>
      </p:sp>
      <p:sp>
        <p:nvSpPr>
          <p:cNvPr id="117" name="Google Shape;117;p5"/>
          <p:cNvSpPr/>
          <p:nvPr/>
        </p:nvSpPr>
        <p:spPr>
          <a:xfrm>
            <a:off x="9286875" y="2705100"/>
            <a:ext cx="2238375" cy="12096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Domain checks current</a:t>
            </a:r>
            <a:endParaRPr/>
          </a:p>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identity and access</a:t>
            </a:r>
            <a:endParaRPr/>
          </a:p>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on every replay.</a:t>
            </a:r>
            <a:endParaRPr/>
          </a:p>
        </p:txBody>
      </p:sp>
      <p:sp>
        <p:nvSpPr>
          <p:cNvPr id="118" name="Google Shape;118;p5"/>
          <p:cNvSpPr/>
          <p:nvPr/>
        </p:nvSpPr>
        <p:spPr>
          <a:xfrm>
            <a:off x="9286875" y="4210050"/>
            <a:ext cx="2238375" cy="11334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27B78"/>
              </a:buClr>
              <a:buSzPts val="1800"/>
              <a:buFont typeface="Arial"/>
              <a:buNone/>
            </a:pPr>
            <a:r>
              <a:rPr b="0" lang="en-US" sz="1800">
                <a:solidFill>
                  <a:srgbClr val="127B78"/>
                </a:solidFill>
                <a:latin typeface="Arial"/>
                <a:ea typeface="Arial"/>
                <a:cs typeface="Arial"/>
                <a:sym typeface="Arial"/>
              </a:rPr>
              <a:t>A matching replay</a:t>
            </a:r>
            <a:endParaRPr/>
          </a:p>
          <a:p>
            <a:pPr indent="0" lvl="0" marL="0" marR="0" rtl="0" algn="l">
              <a:spcBef>
                <a:spcPts val="0"/>
              </a:spcBef>
              <a:spcAft>
                <a:spcPts val="0"/>
              </a:spcAft>
              <a:buClr>
                <a:srgbClr val="127B78"/>
              </a:buClr>
              <a:buSzPts val="1800"/>
              <a:buFont typeface="Arial"/>
              <a:buNone/>
            </a:pPr>
            <a:r>
              <a:rPr b="0" lang="en-US" sz="1800">
                <a:solidFill>
                  <a:srgbClr val="127B78"/>
                </a:solidFill>
                <a:latin typeface="Arial"/>
                <a:ea typeface="Arial"/>
                <a:cs typeface="Arial"/>
                <a:sym typeface="Arial"/>
              </a:rPr>
              <a:t>creates no new</a:t>
            </a:r>
            <a:endParaRPr/>
          </a:p>
          <a:p>
            <a:pPr indent="0" lvl="0" marL="0" marR="0" rtl="0" algn="l">
              <a:spcBef>
                <a:spcPts val="0"/>
              </a:spcBef>
              <a:spcAft>
                <a:spcPts val="0"/>
              </a:spcAft>
              <a:buClr>
                <a:srgbClr val="127B78"/>
              </a:buClr>
              <a:buSzPts val="1800"/>
              <a:buFont typeface="Arial"/>
              <a:buNone/>
            </a:pPr>
            <a:r>
              <a:rPr b="0" lang="en-US" sz="1800">
                <a:solidFill>
                  <a:srgbClr val="127B78"/>
                </a:solidFill>
                <a:latin typeface="Arial"/>
                <a:ea typeface="Arial"/>
                <a:cs typeface="Arial"/>
                <a:sym typeface="Arial"/>
              </a:rPr>
              <a:t>case or work.</a:t>
            </a:r>
            <a:endParaRPr/>
          </a:p>
        </p:txBody>
      </p:sp>
      <p:sp>
        <p:nvSpPr>
          <p:cNvPr id="119" name="Google Shape;119;p5"/>
          <p:cNvSpPr/>
          <p:nvPr/>
        </p:nvSpPr>
        <p:spPr>
          <a:xfrm>
            <a:off x="762000" y="5734050"/>
            <a:ext cx="10572750" cy="61912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Activity: accept or reject the request. State: IntakeSession persists beyond the browser 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6"/>
          <p:cNvSpPr/>
          <p:nvPr/>
        </p:nvSpPr>
        <p:spPr>
          <a:xfrm>
            <a:off x="571500" y="333375"/>
            <a:ext cx="11049000" cy="61912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3225"/>
              <a:buFont typeface="Arial"/>
              <a:buNone/>
            </a:pPr>
            <a:r>
              <a:rPr b="1" lang="en-US" sz="3225">
                <a:solidFill>
                  <a:srgbClr val="142C43"/>
                </a:solidFill>
                <a:latin typeface="Arial"/>
                <a:ea typeface="Arial"/>
                <a:cs typeface="Arial"/>
                <a:sym typeface="Arial"/>
              </a:rPr>
              <a:t>C model chain for independent review</a:t>
            </a:r>
            <a:endParaRPr/>
          </a:p>
        </p:txBody>
      </p:sp>
      <p:sp>
        <p:nvSpPr>
          <p:cNvPr id="126" name="Google Shape;126;p6"/>
          <p:cNvSpPr/>
          <p:nvPr/>
        </p:nvSpPr>
        <p:spPr>
          <a:xfrm>
            <a:off x="590550" y="1047750"/>
            <a:ext cx="10991850" cy="4476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800"/>
              <a:buFont typeface="Arial"/>
              <a:buNone/>
            </a:pPr>
            <a:r>
              <a:rPr b="0" lang="en-US" sz="1800">
                <a:solidFill>
                  <a:srgbClr val="536472"/>
                </a:solidFill>
                <a:latin typeface="Arial"/>
                <a:ea typeface="Arial"/>
                <a:cs typeface="Arial"/>
                <a:sym typeface="Arial"/>
              </a:rPr>
              <a:t>AH-08 and UC-02: expose conflicts and stop unsafe approval</a:t>
            </a:r>
            <a:endParaRPr/>
          </a:p>
        </p:txBody>
      </p:sp>
      <p:sp>
        <p:nvSpPr>
          <p:cNvPr id="127" name="Google Shape;127;p6"/>
          <p:cNvSpPr/>
          <p:nvPr/>
        </p:nvSpPr>
        <p:spPr>
          <a:xfrm>
            <a:off x="10287000" y="6391275"/>
            <a:ext cx="1333500" cy="247650"/>
          </a:xfrm>
          <a:prstGeom prst="rect">
            <a:avLst/>
          </a:prstGeom>
          <a:noFill/>
          <a:ln>
            <a:noFill/>
          </a:ln>
        </p:spPr>
        <p:txBody>
          <a:bodyPr anchorCtr="0" anchor="ctr" bIns="47625" lIns="66675" spcFirstLastPara="1" rIns="66675" wrap="square" tIns="47625">
            <a:noAutofit/>
          </a:bodyPr>
          <a:lstStyle/>
          <a:p>
            <a:pPr indent="0" lvl="0" marL="0" marR="0" rtl="0" algn="r">
              <a:spcBef>
                <a:spcPts val="0"/>
              </a:spcBef>
              <a:spcAft>
                <a:spcPts val="0"/>
              </a:spcAft>
              <a:buClr>
                <a:srgbClr val="536472"/>
              </a:buClr>
              <a:buSzPts val="1200"/>
              <a:buFont typeface="Arial"/>
              <a:buNone/>
            </a:pPr>
            <a:r>
              <a:rPr b="0" lang="en-US" sz="1200">
                <a:solidFill>
                  <a:srgbClr val="536472"/>
                </a:solidFill>
                <a:latin typeface="Arial"/>
                <a:ea typeface="Arial"/>
                <a:cs typeface="Arial"/>
                <a:sym typeface="Arial"/>
              </a:rPr>
              <a:t>C   6 / 9</a:t>
            </a:r>
            <a:endParaRPr/>
          </a:p>
        </p:txBody>
      </p:sp>
      <p:sp>
        <p:nvSpPr>
          <p:cNvPr id="128" name="Google Shape;128;p6"/>
          <p:cNvSpPr/>
          <p:nvPr/>
        </p:nvSpPr>
        <p:spPr>
          <a:xfrm>
            <a:off x="619125" y="1800225"/>
            <a:ext cx="3048000" cy="828675"/>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C1 verifies citations</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Preserve both sources</a:t>
            </a:r>
            <a:endParaRPr/>
          </a:p>
        </p:txBody>
      </p:sp>
      <p:sp>
        <p:nvSpPr>
          <p:cNvPr id="129" name="Google Shape;129;p6"/>
          <p:cNvSpPr/>
          <p:nvPr/>
        </p:nvSpPr>
        <p:spPr>
          <a:xfrm>
            <a:off x="4505325" y="1800225"/>
            <a:ext cx="3190875" cy="82867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Domain accepts the complete</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proposal and evidence bundle</a:t>
            </a:r>
            <a:endParaRPr/>
          </a:p>
        </p:txBody>
      </p:sp>
      <p:sp>
        <p:nvSpPr>
          <p:cNvPr id="130" name="Google Shape;130;p6"/>
          <p:cNvSpPr/>
          <p:nvPr/>
        </p:nvSpPr>
        <p:spPr>
          <a:xfrm>
            <a:off x="8562975" y="1800225"/>
            <a:ext cx="3000375" cy="828675"/>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C2 independently reviews</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Domain validates the reply</a:t>
            </a:r>
            <a:endParaRPr/>
          </a:p>
        </p:txBody>
      </p:sp>
      <p:cxnSp>
        <p:nvCxnSpPr>
          <p:cNvPr id="131" name="Google Shape;131;p6"/>
          <p:cNvCxnSpPr>
            <a:stCxn id="128" idx="3"/>
            <a:endCxn id="129" idx="1"/>
          </p:cNvCxnSpPr>
          <p:nvPr/>
        </p:nvCxnSpPr>
        <p:spPr>
          <a:xfrm>
            <a:off x="3667125" y="2214563"/>
            <a:ext cx="838200" cy="0"/>
          </a:xfrm>
          <a:prstGeom prst="straightConnector1">
            <a:avLst/>
          </a:prstGeom>
          <a:noFill/>
          <a:ln cap="flat" cmpd="sng" w="19050">
            <a:solidFill>
              <a:srgbClr val="748591"/>
            </a:solidFill>
            <a:prstDash val="solid"/>
            <a:round/>
            <a:headEnd len="sm" w="sm" type="none"/>
            <a:tailEnd len="sm" w="sm" type="triangle"/>
          </a:ln>
        </p:spPr>
      </p:cxnSp>
      <p:cxnSp>
        <p:nvCxnSpPr>
          <p:cNvPr id="132" name="Google Shape;132;p6"/>
          <p:cNvCxnSpPr>
            <a:stCxn id="129" idx="3"/>
            <a:endCxn id="130" idx="1"/>
          </p:cNvCxnSpPr>
          <p:nvPr/>
        </p:nvCxnSpPr>
        <p:spPr>
          <a:xfrm>
            <a:off x="7696200" y="2214563"/>
            <a:ext cx="866700" cy="0"/>
          </a:xfrm>
          <a:prstGeom prst="straightConnector1">
            <a:avLst/>
          </a:prstGeom>
          <a:noFill/>
          <a:ln cap="flat" cmpd="sng" w="19050">
            <a:solidFill>
              <a:srgbClr val="748591"/>
            </a:solidFill>
            <a:prstDash val="solid"/>
            <a:round/>
            <a:headEnd len="sm" w="sm" type="none"/>
            <a:tailEnd len="sm" w="sm" type="triangle"/>
          </a:ln>
        </p:spPr>
      </p:cxnSp>
      <p:sp>
        <p:nvSpPr>
          <p:cNvPr id="133" name="Google Shape;133;p6"/>
          <p:cNvSpPr/>
          <p:nvPr/>
        </p:nvSpPr>
        <p:spPr>
          <a:xfrm>
            <a:off x="4657725" y="3209925"/>
            <a:ext cx="2857500" cy="742950"/>
          </a:xfrm>
          <a:prstGeom prst="diamond">
            <a:avLst/>
          </a:prstGeom>
          <a:solidFill>
            <a:srgbClr val="FFFFFF"/>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575"/>
              <a:buFont typeface="Arial"/>
              <a:buNone/>
            </a:pPr>
            <a:r>
              <a:rPr b="0" lang="en-US" sz="1575">
                <a:solidFill>
                  <a:srgbClr val="142C43"/>
                </a:solidFill>
                <a:latin typeface="Arial"/>
                <a:ea typeface="Arial"/>
                <a:cs typeface="Arial"/>
                <a:sym typeface="Arial"/>
              </a:rPr>
              <a:t>Accepted</a:t>
            </a:r>
            <a:endParaRPr/>
          </a:p>
          <a:p>
            <a:pPr indent="0" lvl="0" marL="0" marR="0" rtl="0" algn="ctr">
              <a:spcBef>
                <a:spcPts val="0"/>
              </a:spcBef>
              <a:spcAft>
                <a:spcPts val="0"/>
              </a:spcAft>
              <a:buClr>
                <a:srgbClr val="142C43"/>
              </a:buClr>
              <a:buSzPts val="1575"/>
              <a:buFont typeface="Arial"/>
              <a:buNone/>
            </a:pPr>
            <a:r>
              <a:rPr b="0" lang="en-US" sz="1575">
                <a:solidFill>
                  <a:srgbClr val="142C43"/>
                </a:solidFill>
                <a:latin typeface="Arial"/>
                <a:ea typeface="Arial"/>
                <a:cs typeface="Arial"/>
                <a:sym typeface="Arial"/>
              </a:rPr>
              <a:t>outcome?</a:t>
            </a:r>
            <a:endParaRPr/>
          </a:p>
        </p:txBody>
      </p:sp>
      <p:cxnSp>
        <p:nvCxnSpPr>
          <p:cNvPr id="134" name="Google Shape;134;p6"/>
          <p:cNvCxnSpPr>
            <a:stCxn id="130" idx="2"/>
            <a:endCxn id="133" idx="3"/>
          </p:cNvCxnSpPr>
          <p:nvPr/>
        </p:nvCxnSpPr>
        <p:spPr>
          <a:xfrm rot="5400000">
            <a:off x="8312963" y="1831200"/>
            <a:ext cx="952500" cy="2547900"/>
          </a:xfrm>
          <a:prstGeom prst="bentConnector3">
            <a:avLst>
              <a:gd fmla="val 0" name="adj1"/>
            </a:avLst>
          </a:prstGeom>
          <a:noFill/>
          <a:ln cap="flat" cmpd="sng" w="19050">
            <a:solidFill>
              <a:srgbClr val="748591"/>
            </a:solidFill>
            <a:prstDash val="solid"/>
            <a:round/>
            <a:headEnd len="sm" w="sm" type="none"/>
            <a:tailEnd len="sm" w="sm" type="triangle"/>
          </a:ln>
        </p:spPr>
      </p:cxnSp>
      <p:sp>
        <p:nvSpPr>
          <p:cNvPr id="135" name="Google Shape;135;p6"/>
          <p:cNvSpPr/>
          <p:nvPr/>
        </p:nvSpPr>
        <p:spPr>
          <a:xfrm>
            <a:off x="381000" y="4667250"/>
            <a:ext cx="2190750" cy="876300"/>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500"/>
              <a:buFont typeface="Arial"/>
              <a:buNone/>
            </a:pPr>
            <a:r>
              <a:rPr b="0" lang="en-US" sz="1500">
                <a:solidFill>
                  <a:srgbClr val="142C43"/>
                </a:solidFill>
                <a:latin typeface="Arial"/>
                <a:ea typeface="Arial"/>
                <a:cs typeface="Arial"/>
                <a:sym typeface="Arial"/>
              </a:rPr>
              <a:t>PASS</a:t>
            </a:r>
            <a:endParaRPr/>
          </a:p>
          <a:p>
            <a:pPr indent="0" lvl="0" marL="0" marR="0" rtl="0" algn="ctr">
              <a:spcBef>
                <a:spcPts val="0"/>
              </a:spcBef>
              <a:spcAft>
                <a:spcPts val="0"/>
              </a:spcAft>
              <a:buClr>
                <a:srgbClr val="142C43"/>
              </a:buClr>
              <a:buSzPts val="1500"/>
              <a:buFont typeface="Arial"/>
              <a:buNone/>
            </a:pPr>
            <a:r>
              <a:rPr b="0" lang="en-US" sz="1500">
                <a:solidFill>
                  <a:srgbClr val="142C43"/>
                </a:solidFill>
                <a:latin typeface="Arial"/>
                <a:ea typeface="Arial"/>
                <a:cs typeface="Arial"/>
                <a:sym typeface="Arial"/>
              </a:rPr>
              <a:t>Founder review</a:t>
            </a:r>
            <a:endParaRPr/>
          </a:p>
        </p:txBody>
      </p:sp>
      <p:sp>
        <p:nvSpPr>
          <p:cNvPr id="136" name="Google Shape;136;p6"/>
          <p:cNvSpPr/>
          <p:nvPr/>
        </p:nvSpPr>
        <p:spPr>
          <a:xfrm>
            <a:off x="2724150" y="4667250"/>
            <a:ext cx="2190750" cy="876300"/>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500"/>
              <a:buFont typeface="Arial"/>
              <a:buNone/>
            </a:pPr>
            <a:r>
              <a:rPr b="0" lang="en-US" sz="1500">
                <a:solidFill>
                  <a:srgbClr val="142C43"/>
                </a:solidFill>
                <a:latin typeface="Arial"/>
                <a:ea typeface="Arial"/>
                <a:cs typeface="Arial"/>
                <a:sym typeface="Arial"/>
              </a:rPr>
              <a:t>PASS WITH WARNING</a:t>
            </a:r>
            <a:endParaRPr/>
          </a:p>
          <a:p>
            <a:pPr indent="0" lvl="0" marL="0" marR="0" rtl="0" algn="ctr">
              <a:spcBef>
                <a:spcPts val="0"/>
              </a:spcBef>
              <a:spcAft>
                <a:spcPts val="0"/>
              </a:spcAft>
              <a:buClr>
                <a:srgbClr val="142C43"/>
              </a:buClr>
              <a:buSzPts val="1500"/>
              <a:buFont typeface="Arial"/>
              <a:buNone/>
            </a:pPr>
            <a:r>
              <a:rPr b="0" lang="en-US" sz="1500">
                <a:solidFill>
                  <a:srgbClr val="142C43"/>
                </a:solidFill>
                <a:latin typeface="Arial"/>
                <a:ea typeface="Arial"/>
                <a:cs typeface="Arial"/>
                <a:sym typeface="Arial"/>
              </a:rPr>
              <a:t>Warnings + review</a:t>
            </a:r>
            <a:endParaRPr/>
          </a:p>
        </p:txBody>
      </p:sp>
      <p:sp>
        <p:nvSpPr>
          <p:cNvPr id="137" name="Google Shape;137;p6"/>
          <p:cNvSpPr/>
          <p:nvPr/>
        </p:nvSpPr>
        <p:spPr>
          <a:xfrm>
            <a:off x="5067300" y="4667250"/>
            <a:ext cx="2190750" cy="876300"/>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500"/>
              <a:buFont typeface="Arial"/>
              <a:buNone/>
            </a:pPr>
            <a:r>
              <a:rPr b="0" lang="en-US" sz="1500">
                <a:solidFill>
                  <a:srgbClr val="142C43"/>
                </a:solidFill>
                <a:latin typeface="Arial"/>
                <a:ea typeface="Arial"/>
                <a:cs typeface="Arial"/>
                <a:sym typeface="Arial"/>
              </a:rPr>
              <a:t>REVISE</a:t>
            </a:r>
            <a:endParaRPr/>
          </a:p>
          <a:p>
            <a:pPr indent="0" lvl="0" marL="0" marR="0" rtl="0" algn="ctr">
              <a:spcBef>
                <a:spcPts val="0"/>
              </a:spcBef>
              <a:spcAft>
                <a:spcPts val="0"/>
              </a:spcAft>
              <a:buClr>
                <a:srgbClr val="142C43"/>
              </a:buClr>
              <a:buSzPts val="1500"/>
              <a:buFont typeface="Arial"/>
              <a:buNone/>
            </a:pPr>
            <a:r>
              <a:rPr b="0" lang="en-US" sz="1500">
                <a:solidFill>
                  <a:srgbClr val="142C43"/>
                </a:solidFill>
                <a:latin typeface="Arial"/>
                <a:ea typeface="Arial"/>
                <a:cs typeface="Arial"/>
                <a:sym typeface="Arial"/>
              </a:rPr>
              <a:t>New proposal + review</a:t>
            </a:r>
            <a:endParaRPr/>
          </a:p>
        </p:txBody>
      </p:sp>
      <p:sp>
        <p:nvSpPr>
          <p:cNvPr id="138" name="Google Shape;138;p6"/>
          <p:cNvSpPr/>
          <p:nvPr/>
        </p:nvSpPr>
        <p:spPr>
          <a:xfrm>
            <a:off x="7410450" y="4667250"/>
            <a:ext cx="2190750" cy="876300"/>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500"/>
              <a:buFont typeface="Arial"/>
              <a:buNone/>
            </a:pPr>
            <a:r>
              <a:rPr b="0" lang="en-US" sz="1500">
                <a:solidFill>
                  <a:srgbClr val="142C43"/>
                </a:solidFill>
                <a:latin typeface="Arial"/>
                <a:ea typeface="Arial"/>
                <a:cs typeface="Arial"/>
                <a:sym typeface="Arial"/>
              </a:rPr>
              <a:t>NEEDS INFORMATION</a:t>
            </a:r>
            <a:endParaRPr/>
          </a:p>
          <a:p>
            <a:pPr indent="0" lvl="0" marL="0" marR="0" rtl="0" algn="ctr">
              <a:spcBef>
                <a:spcPts val="0"/>
              </a:spcBef>
              <a:spcAft>
                <a:spcPts val="0"/>
              </a:spcAft>
              <a:buClr>
                <a:srgbClr val="142C43"/>
              </a:buClr>
              <a:buSzPts val="1500"/>
              <a:buFont typeface="Arial"/>
              <a:buNone/>
            </a:pPr>
            <a:r>
              <a:rPr b="0" lang="en-US" sz="1500">
                <a:solidFill>
                  <a:srgbClr val="142C43"/>
                </a:solidFill>
                <a:latin typeface="Arial"/>
                <a:ea typeface="Arial"/>
                <a:cs typeface="Arial"/>
                <a:sym typeface="Arial"/>
              </a:rPr>
              <a:t>Current clarification</a:t>
            </a:r>
            <a:endParaRPr/>
          </a:p>
        </p:txBody>
      </p:sp>
      <p:sp>
        <p:nvSpPr>
          <p:cNvPr id="139" name="Google Shape;139;p6"/>
          <p:cNvSpPr/>
          <p:nvPr/>
        </p:nvSpPr>
        <p:spPr>
          <a:xfrm>
            <a:off x="9753600" y="4667250"/>
            <a:ext cx="2190750" cy="876300"/>
          </a:xfrm>
          <a:prstGeom prst="rect">
            <a:avLst/>
          </a:prstGeom>
          <a:solidFill>
            <a:srgbClr val="F0F3F6"/>
          </a:solidFill>
          <a:ln cap="flat" cmpd="sng" w="14275">
            <a:solidFill>
              <a:srgbClr val="A83B35"/>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A83B35"/>
              </a:buClr>
              <a:buSzPts val="1500"/>
              <a:buFont typeface="Arial"/>
              <a:buNone/>
            </a:pPr>
            <a:r>
              <a:rPr b="1" lang="en-US" sz="1500">
                <a:solidFill>
                  <a:srgbClr val="A83B35"/>
                </a:solidFill>
                <a:latin typeface="Arial"/>
                <a:ea typeface="Arial"/>
                <a:cs typeface="Arial"/>
                <a:sym typeface="Arial"/>
              </a:rPr>
              <a:t>ESCALATE</a:t>
            </a:r>
            <a:endParaRPr/>
          </a:p>
          <a:p>
            <a:pPr indent="0" lvl="0" marL="0" marR="0" rtl="0" algn="ctr">
              <a:spcBef>
                <a:spcPts val="0"/>
              </a:spcBef>
              <a:spcAft>
                <a:spcPts val="0"/>
              </a:spcAft>
              <a:buClr>
                <a:srgbClr val="A83B35"/>
              </a:buClr>
              <a:buSzPts val="1500"/>
              <a:buFont typeface="Arial"/>
              <a:buNone/>
            </a:pPr>
            <a:r>
              <a:rPr b="1" lang="en-US" sz="1500">
                <a:solidFill>
                  <a:srgbClr val="A83B35"/>
                </a:solidFill>
                <a:latin typeface="Arial"/>
                <a:ea typeface="Arial"/>
                <a:cs typeface="Arial"/>
                <a:sym typeface="Arial"/>
              </a:rPr>
              <a:t>Revision / manual route</a:t>
            </a:r>
            <a:endParaRPr/>
          </a:p>
        </p:txBody>
      </p:sp>
      <p:cxnSp>
        <p:nvCxnSpPr>
          <p:cNvPr id="140" name="Google Shape;140;p6"/>
          <p:cNvCxnSpPr>
            <a:stCxn id="133" idx="2"/>
            <a:endCxn id="135" idx="0"/>
          </p:cNvCxnSpPr>
          <p:nvPr/>
        </p:nvCxnSpPr>
        <p:spPr>
          <a:xfrm rot="5400000">
            <a:off x="3424275" y="2004975"/>
            <a:ext cx="714300" cy="4610100"/>
          </a:xfrm>
          <a:prstGeom prst="bentConnector4">
            <a:avLst>
              <a:gd fmla="val 0" name="adj1"/>
              <a:gd fmla="val 0" name="adj2"/>
            </a:avLst>
          </a:prstGeom>
          <a:noFill/>
          <a:ln cap="flat" cmpd="sng" w="19050">
            <a:solidFill>
              <a:srgbClr val="748591"/>
            </a:solidFill>
            <a:prstDash val="solid"/>
            <a:round/>
            <a:headEnd len="sm" w="sm" type="none"/>
            <a:tailEnd len="sm" w="sm" type="triangle"/>
          </a:ln>
        </p:spPr>
      </p:cxnSp>
      <p:cxnSp>
        <p:nvCxnSpPr>
          <p:cNvPr id="141" name="Google Shape;141;p6"/>
          <p:cNvCxnSpPr>
            <a:stCxn id="133" idx="2"/>
            <a:endCxn id="136" idx="0"/>
          </p:cNvCxnSpPr>
          <p:nvPr/>
        </p:nvCxnSpPr>
        <p:spPr>
          <a:xfrm rot="5400000">
            <a:off x="4595925" y="3176625"/>
            <a:ext cx="714300" cy="2266800"/>
          </a:xfrm>
          <a:prstGeom prst="bentConnector4">
            <a:avLst>
              <a:gd fmla="val 0" name="adj1"/>
              <a:gd fmla="val 0" name="adj2"/>
            </a:avLst>
          </a:prstGeom>
          <a:noFill/>
          <a:ln cap="flat" cmpd="sng" w="19050">
            <a:solidFill>
              <a:srgbClr val="748591"/>
            </a:solidFill>
            <a:prstDash val="solid"/>
            <a:round/>
            <a:headEnd len="sm" w="sm" type="none"/>
            <a:tailEnd len="sm" w="sm" type="triangle"/>
          </a:ln>
        </p:spPr>
      </p:cxnSp>
      <p:cxnSp>
        <p:nvCxnSpPr>
          <p:cNvPr id="142" name="Google Shape;142;p6"/>
          <p:cNvCxnSpPr>
            <a:stCxn id="133" idx="2"/>
            <a:endCxn id="137" idx="0"/>
          </p:cNvCxnSpPr>
          <p:nvPr/>
        </p:nvCxnSpPr>
        <p:spPr>
          <a:xfrm flipH="1" rot="-5400000">
            <a:off x="5767425" y="4271925"/>
            <a:ext cx="714300" cy="76200"/>
          </a:xfrm>
          <a:prstGeom prst="bentConnector4">
            <a:avLst>
              <a:gd fmla="val 0" name="adj1"/>
              <a:gd fmla="val 0" name="adj2"/>
            </a:avLst>
          </a:prstGeom>
          <a:noFill/>
          <a:ln cap="flat" cmpd="sng" w="19050">
            <a:solidFill>
              <a:srgbClr val="748591"/>
            </a:solidFill>
            <a:prstDash val="solid"/>
            <a:round/>
            <a:headEnd len="sm" w="sm" type="none"/>
            <a:tailEnd len="sm" w="sm" type="triangle"/>
          </a:ln>
        </p:spPr>
      </p:cxnSp>
      <p:cxnSp>
        <p:nvCxnSpPr>
          <p:cNvPr id="143" name="Google Shape;143;p6"/>
          <p:cNvCxnSpPr>
            <a:stCxn id="133" idx="2"/>
            <a:endCxn id="138" idx="0"/>
          </p:cNvCxnSpPr>
          <p:nvPr/>
        </p:nvCxnSpPr>
        <p:spPr>
          <a:xfrm flipH="1" rot="-5400000">
            <a:off x="6939075" y="3100275"/>
            <a:ext cx="714300" cy="2419500"/>
          </a:xfrm>
          <a:prstGeom prst="bentConnector4">
            <a:avLst>
              <a:gd fmla="val 0" name="adj1"/>
              <a:gd fmla="val 0" name="adj2"/>
            </a:avLst>
          </a:prstGeom>
          <a:noFill/>
          <a:ln cap="flat" cmpd="sng" w="19050">
            <a:solidFill>
              <a:srgbClr val="748591"/>
            </a:solidFill>
            <a:prstDash val="solid"/>
            <a:round/>
            <a:headEnd len="sm" w="sm" type="none"/>
            <a:tailEnd len="sm" w="sm" type="triangle"/>
          </a:ln>
        </p:spPr>
      </p:cxnSp>
      <p:cxnSp>
        <p:nvCxnSpPr>
          <p:cNvPr id="144" name="Google Shape;144;p6"/>
          <p:cNvCxnSpPr>
            <a:stCxn id="133" idx="2"/>
            <a:endCxn id="139" idx="0"/>
          </p:cNvCxnSpPr>
          <p:nvPr/>
        </p:nvCxnSpPr>
        <p:spPr>
          <a:xfrm flipH="1" rot="-5400000">
            <a:off x="8110575" y="1928775"/>
            <a:ext cx="714300" cy="4762500"/>
          </a:xfrm>
          <a:prstGeom prst="bentConnector4">
            <a:avLst>
              <a:gd fmla="val 0" name="adj1"/>
              <a:gd fmla="val 0" name="adj2"/>
            </a:avLst>
          </a:prstGeom>
          <a:noFill/>
          <a:ln cap="flat" cmpd="sng" w="19050">
            <a:solidFill>
              <a:srgbClr val="748591"/>
            </a:solidFill>
            <a:prstDash val="solid"/>
            <a:round/>
            <a:headEnd len="sm" w="sm" type="none"/>
            <a:tailEnd len="sm" w="sm" type="triangle"/>
          </a:ln>
        </p:spPr>
      </p:cxnSp>
      <p:sp>
        <p:nvSpPr>
          <p:cNvPr id="145" name="Google Shape;145;p6"/>
          <p:cNvSpPr/>
          <p:nvPr/>
        </p:nvSpPr>
        <p:spPr>
          <a:xfrm>
            <a:off x="523875" y="2800350"/>
            <a:ext cx="11049000" cy="26670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500"/>
              <a:buFont typeface="Arial"/>
              <a:buNone/>
            </a:pPr>
            <a:r>
              <a:rPr b="0" lang="en-US" sz="1500">
                <a:solidFill>
                  <a:srgbClr val="536472"/>
                </a:solidFill>
                <a:latin typeface="Arial"/>
                <a:ea typeface="Arial"/>
                <a:cs typeface="Arial"/>
                <a:sym typeface="Arial"/>
              </a:rPr>
              <a:t>Technical failures and stale replies are handled before outcome routing.</a:t>
            </a:r>
            <a:endParaRPr/>
          </a:p>
        </p:txBody>
      </p:sp>
      <p:sp>
        <p:nvSpPr>
          <p:cNvPr id="146" name="Google Shape;146;p6"/>
          <p:cNvSpPr/>
          <p:nvPr/>
        </p:nvSpPr>
        <p:spPr>
          <a:xfrm>
            <a:off x="523875" y="5695950"/>
            <a:ext cx="11049000" cy="41910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A83B35"/>
              </a:buClr>
              <a:buSzPts val="1800"/>
              <a:buFont typeface="Arial"/>
              <a:buNone/>
            </a:pPr>
            <a:r>
              <a:rPr b="0" lang="en-US" sz="1800">
                <a:solidFill>
                  <a:srgbClr val="A83B35"/>
                </a:solidFill>
                <a:latin typeface="Arial"/>
                <a:ea typeface="Arial"/>
                <a:cs typeface="Arial"/>
                <a:sym typeface="Arial"/>
              </a:rPr>
              <a:t>Unresolved blocking conflict: ESCALATE. This proposal cannot be approved.</a:t>
            </a:r>
            <a:endParaRPr/>
          </a:p>
        </p:txBody>
      </p:sp>
      <p:sp>
        <p:nvSpPr>
          <p:cNvPr id="147" name="Google Shape;147;p6"/>
          <p:cNvSpPr/>
          <p:nvPr/>
        </p:nvSpPr>
        <p:spPr>
          <a:xfrm>
            <a:off x="523875" y="6191250"/>
            <a:ext cx="9620250" cy="30480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500"/>
              <a:buFont typeface="Arial"/>
              <a:buNone/>
            </a:pPr>
            <a:r>
              <a:rPr b="0" lang="en-US" sz="1500">
                <a:solidFill>
                  <a:srgbClr val="536472"/>
                </a:solidFill>
                <a:latin typeface="Arial"/>
                <a:ea typeface="Arial"/>
                <a:cs typeface="Arial"/>
                <a:sym typeface="Arial"/>
              </a:rPr>
              <a:t>Outcome and work phase differ. Valid revision or manual handling remains available.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7"/>
          <p:cNvSpPr/>
          <p:nvPr/>
        </p:nvSpPr>
        <p:spPr>
          <a:xfrm>
            <a:off x="571500" y="333375"/>
            <a:ext cx="11049000" cy="61912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3225"/>
              <a:buFont typeface="Arial"/>
              <a:buNone/>
            </a:pPr>
            <a:r>
              <a:rPr b="1" lang="en-US" sz="3225">
                <a:solidFill>
                  <a:srgbClr val="142C43"/>
                </a:solidFill>
                <a:latin typeface="Arial"/>
                <a:ea typeface="Arial"/>
                <a:cs typeface="Arial"/>
                <a:sym typeface="Arial"/>
              </a:rPr>
              <a:t>A model chain for governed execution</a:t>
            </a:r>
            <a:endParaRPr/>
          </a:p>
        </p:txBody>
      </p:sp>
      <p:sp>
        <p:nvSpPr>
          <p:cNvPr id="154" name="Google Shape;154;p7"/>
          <p:cNvSpPr/>
          <p:nvPr/>
        </p:nvSpPr>
        <p:spPr>
          <a:xfrm>
            <a:off x="590550" y="1047750"/>
            <a:ext cx="10991850" cy="4476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800"/>
              <a:buFont typeface="Arial"/>
              <a:buNone/>
            </a:pPr>
            <a:r>
              <a:rPr b="0" lang="en-US" sz="1800">
                <a:solidFill>
                  <a:srgbClr val="536472"/>
                </a:solidFill>
                <a:latin typeface="Arial"/>
                <a:ea typeface="Arial"/>
                <a:cs typeface="Arial"/>
                <a:sym typeface="Arial"/>
              </a:rPr>
              <a:t>AH-10 and UC-04: prevent unauthorised or duplicate effects</a:t>
            </a:r>
            <a:endParaRPr/>
          </a:p>
        </p:txBody>
      </p:sp>
      <p:sp>
        <p:nvSpPr>
          <p:cNvPr id="155" name="Google Shape;155;p7"/>
          <p:cNvSpPr/>
          <p:nvPr/>
        </p:nvSpPr>
        <p:spPr>
          <a:xfrm>
            <a:off x="10287000" y="6391275"/>
            <a:ext cx="1333500" cy="247650"/>
          </a:xfrm>
          <a:prstGeom prst="rect">
            <a:avLst/>
          </a:prstGeom>
          <a:noFill/>
          <a:ln>
            <a:noFill/>
          </a:ln>
        </p:spPr>
        <p:txBody>
          <a:bodyPr anchorCtr="0" anchor="ctr" bIns="47625" lIns="66675" spcFirstLastPara="1" rIns="66675" wrap="square" tIns="47625">
            <a:noAutofit/>
          </a:bodyPr>
          <a:lstStyle/>
          <a:p>
            <a:pPr indent="0" lvl="0" marL="0" marR="0" rtl="0" algn="r">
              <a:spcBef>
                <a:spcPts val="0"/>
              </a:spcBef>
              <a:spcAft>
                <a:spcPts val="0"/>
              </a:spcAft>
              <a:buClr>
                <a:srgbClr val="536472"/>
              </a:buClr>
              <a:buSzPts val="1200"/>
              <a:buFont typeface="Arial"/>
              <a:buNone/>
            </a:pPr>
            <a:r>
              <a:rPr b="0" lang="en-US" sz="1200">
                <a:solidFill>
                  <a:srgbClr val="536472"/>
                </a:solidFill>
                <a:latin typeface="Arial"/>
                <a:ea typeface="Arial"/>
                <a:cs typeface="Arial"/>
                <a:sym typeface="Arial"/>
              </a:rPr>
              <a:t>A   7 / 9</a:t>
            </a:r>
            <a:endParaRPr/>
          </a:p>
        </p:txBody>
      </p:sp>
      <p:sp>
        <p:nvSpPr>
          <p:cNvPr id="156" name="Google Shape;156;p7"/>
          <p:cNvSpPr/>
          <p:nvPr/>
        </p:nvSpPr>
        <p:spPr>
          <a:xfrm>
            <a:off x="714375" y="2314575"/>
            <a:ext cx="2000250" cy="61912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PENDING</a:t>
            </a:r>
            <a:endParaRPr/>
          </a:p>
        </p:txBody>
      </p:sp>
      <p:sp>
        <p:nvSpPr>
          <p:cNvPr id="157" name="Google Shape;157;p7"/>
          <p:cNvSpPr/>
          <p:nvPr/>
        </p:nvSpPr>
        <p:spPr>
          <a:xfrm>
            <a:off x="4105275" y="2314575"/>
            <a:ext cx="2381250" cy="619125"/>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EXECUTING</a:t>
            </a:r>
            <a:endParaRPr/>
          </a:p>
        </p:txBody>
      </p:sp>
      <p:sp>
        <p:nvSpPr>
          <p:cNvPr id="158" name="Google Shape;158;p7"/>
          <p:cNvSpPr/>
          <p:nvPr/>
        </p:nvSpPr>
        <p:spPr>
          <a:xfrm>
            <a:off x="8829675" y="2314575"/>
            <a:ext cx="2571750" cy="619125"/>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SUCCEEDED</a:t>
            </a:r>
            <a:endParaRPr/>
          </a:p>
        </p:txBody>
      </p:sp>
      <p:sp>
        <p:nvSpPr>
          <p:cNvPr id="159" name="Google Shape;159;p7"/>
          <p:cNvSpPr/>
          <p:nvPr/>
        </p:nvSpPr>
        <p:spPr>
          <a:xfrm>
            <a:off x="4105275" y="4152900"/>
            <a:ext cx="2381250" cy="61912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UNKNOWN</a:t>
            </a:r>
            <a:endParaRPr/>
          </a:p>
        </p:txBody>
      </p:sp>
      <p:sp>
        <p:nvSpPr>
          <p:cNvPr id="160" name="Google Shape;160;p7"/>
          <p:cNvSpPr/>
          <p:nvPr/>
        </p:nvSpPr>
        <p:spPr>
          <a:xfrm>
            <a:off x="8829675" y="4152900"/>
            <a:ext cx="2571750" cy="61912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RECONCILING</a:t>
            </a:r>
            <a:endParaRPr/>
          </a:p>
        </p:txBody>
      </p:sp>
      <p:cxnSp>
        <p:nvCxnSpPr>
          <p:cNvPr id="161" name="Google Shape;161;p7"/>
          <p:cNvCxnSpPr>
            <a:stCxn id="156" idx="3"/>
            <a:endCxn id="157" idx="1"/>
          </p:cNvCxnSpPr>
          <p:nvPr/>
        </p:nvCxnSpPr>
        <p:spPr>
          <a:xfrm>
            <a:off x="2714625" y="2624138"/>
            <a:ext cx="1390800" cy="0"/>
          </a:xfrm>
          <a:prstGeom prst="straightConnector1">
            <a:avLst/>
          </a:prstGeom>
          <a:noFill/>
          <a:ln cap="flat" cmpd="sng" w="19050">
            <a:solidFill>
              <a:srgbClr val="748591"/>
            </a:solidFill>
            <a:prstDash val="solid"/>
            <a:round/>
            <a:headEnd len="sm" w="sm" type="none"/>
            <a:tailEnd len="sm" w="sm" type="triangle"/>
          </a:ln>
        </p:spPr>
      </p:cxnSp>
      <p:sp>
        <p:nvSpPr>
          <p:cNvPr id="162" name="Google Shape;162;p7"/>
          <p:cNvSpPr/>
          <p:nvPr/>
        </p:nvSpPr>
        <p:spPr>
          <a:xfrm>
            <a:off x="2705100" y="1914525"/>
            <a:ext cx="2095500"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final guards pass</a:t>
            </a:r>
            <a:endParaRPr/>
          </a:p>
        </p:txBody>
      </p:sp>
      <p:cxnSp>
        <p:nvCxnSpPr>
          <p:cNvPr id="163" name="Google Shape;163;p7"/>
          <p:cNvCxnSpPr>
            <a:stCxn id="157" idx="3"/>
            <a:endCxn id="158" idx="1"/>
          </p:cNvCxnSpPr>
          <p:nvPr/>
        </p:nvCxnSpPr>
        <p:spPr>
          <a:xfrm>
            <a:off x="6486525" y="2624138"/>
            <a:ext cx="2343300" cy="0"/>
          </a:xfrm>
          <a:prstGeom prst="straightConnector1">
            <a:avLst/>
          </a:prstGeom>
          <a:noFill/>
          <a:ln cap="flat" cmpd="sng" w="19050">
            <a:solidFill>
              <a:srgbClr val="748591"/>
            </a:solidFill>
            <a:prstDash val="solid"/>
            <a:round/>
            <a:headEnd len="sm" w="sm" type="none"/>
            <a:tailEnd len="sm" w="sm" type="triangle"/>
          </a:ln>
        </p:spPr>
      </p:cxnSp>
      <p:sp>
        <p:nvSpPr>
          <p:cNvPr id="164" name="Google Shape;164;p7"/>
          <p:cNvSpPr/>
          <p:nvPr/>
        </p:nvSpPr>
        <p:spPr>
          <a:xfrm>
            <a:off x="6553200" y="1952625"/>
            <a:ext cx="2314575"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complete result durable</a:t>
            </a:r>
            <a:endParaRPr/>
          </a:p>
        </p:txBody>
      </p:sp>
      <p:cxnSp>
        <p:nvCxnSpPr>
          <p:cNvPr id="165" name="Google Shape;165;p7"/>
          <p:cNvCxnSpPr>
            <a:stCxn id="157" idx="2"/>
            <a:endCxn id="159" idx="0"/>
          </p:cNvCxnSpPr>
          <p:nvPr/>
        </p:nvCxnSpPr>
        <p:spPr>
          <a:xfrm>
            <a:off x="5295900" y="2933700"/>
            <a:ext cx="0" cy="1219200"/>
          </a:xfrm>
          <a:prstGeom prst="straightConnector1">
            <a:avLst/>
          </a:prstGeom>
          <a:noFill/>
          <a:ln cap="flat" cmpd="sng" w="19050">
            <a:solidFill>
              <a:srgbClr val="748591"/>
            </a:solidFill>
            <a:prstDash val="solid"/>
            <a:round/>
            <a:headEnd len="sm" w="sm" type="none"/>
            <a:tailEnd len="sm" w="sm" type="triangle"/>
          </a:ln>
        </p:spPr>
      </p:cxnSp>
      <p:sp>
        <p:nvSpPr>
          <p:cNvPr id="166" name="Google Shape;166;p7"/>
          <p:cNvSpPr/>
          <p:nvPr/>
        </p:nvSpPr>
        <p:spPr>
          <a:xfrm>
            <a:off x="3981450" y="3343275"/>
            <a:ext cx="2667000"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effect uncertain</a:t>
            </a:r>
            <a:endParaRPr/>
          </a:p>
        </p:txBody>
      </p:sp>
      <p:cxnSp>
        <p:nvCxnSpPr>
          <p:cNvPr id="167" name="Google Shape;167;p7"/>
          <p:cNvCxnSpPr>
            <a:stCxn id="159" idx="3"/>
            <a:endCxn id="160" idx="1"/>
          </p:cNvCxnSpPr>
          <p:nvPr/>
        </p:nvCxnSpPr>
        <p:spPr>
          <a:xfrm>
            <a:off x="6486525" y="4462463"/>
            <a:ext cx="2343300" cy="0"/>
          </a:xfrm>
          <a:prstGeom prst="straightConnector1">
            <a:avLst/>
          </a:prstGeom>
          <a:noFill/>
          <a:ln cap="flat" cmpd="sng" w="19050">
            <a:solidFill>
              <a:srgbClr val="748591"/>
            </a:solidFill>
            <a:prstDash val="solid"/>
            <a:round/>
            <a:headEnd len="sm" w="sm" type="none"/>
            <a:tailEnd len="sm" w="sm" type="triangle"/>
          </a:ln>
        </p:spPr>
      </p:cxnSp>
      <p:sp>
        <p:nvSpPr>
          <p:cNvPr id="168" name="Google Shape;168;p7"/>
          <p:cNvSpPr/>
          <p:nvPr/>
        </p:nvSpPr>
        <p:spPr>
          <a:xfrm>
            <a:off x="6496050" y="3733800"/>
            <a:ext cx="2381250"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query original identity</a:t>
            </a:r>
            <a:endParaRPr/>
          </a:p>
        </p:txBody>
      </p:sp>
      <p:cxnSp>
        <p:nvCxnSpPr>
          <p:cNvPr id="169" name="Google Shape;169;p7"/>
          <p:cNvCxnSpPr>
            <a:stCxn id="160" idx="0"/>
            <a:endCxn id="158" idx="2"/>
          </p:cNvCxnSpPr>
          <p:nvPr/>
        </p:nvCxnSpPr>
        <p:spPr>
          <a:xfrm rot="10800000">
            <a:off x="10115550" y="2933700"/>
            <a:ext cx="0" cy="1219200"/>
          </a:xfrm>
          <a:prstGeom prst="straightConnector1">
            <a:avLst/>
          </a:prstGeom>
          <a:noFill/>
          <a:ln cap="flat" cmpd="sng" w="19050">
            <a:solidFill>
              <a:srgbClr val="748591"/>
            </a:solidFill>
            <a:prstDash val="solid"/>
            <a:round/>
            <a:headEnd len="sm" w="sm" type="none"/>
            <a:tailEnd len="sm" w="sm" type="triangle"/>
          </a:ln>
        </p:spPr>
      </p:cxnSp>
      <p:sp>
        <p:nvSpPr>
          <p:cNvPr id="170" name="Google Shape;170;p7"/>
          <p:cNvSpPr/>
          <p:nvPr/>
        </p:nvSpPr>
        <p:spPr>
          <a:xfrm>
            <a:off x="8886825" y="3257550"/>
            <a:ext cx="2600325" cy="26670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425"/>
              <a:buFont typeface="Arial"/>
              <a:buNone/>
            </a:pPr>
            <a:r>
              <a:rPr b="0" lang="en-US" sz="1425">
                <a:solidFill>
                  <a:srgbClr val="536472"/>
                </a:solidFill>
                <a:latin typeface="Arial"/>
                <a:ea typeface="Arial"/>
                <a:cs typeface="Arial"/>
                <a:sym typeface="Arial"/>
              </a:rPr>
              <a:t>verified success</a:t>
            </a:r>
            <a:endParaRPr/>
          </a:p>
        </p:txBody>
      </p:sp>
      <p:sp>
        <p:nvSpPr>
          <p:cNvPr id="171" name="Google Shape;171;p7"/>
          <p:cNvSpPr/>
          <p:nvPr/>
        </p:nvSpPr>
        <p:spPr>
          <a:xfrm>
            <a:off x="8886825" y="3533775"/>
            <a:ext cx="2600325" cy="26670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425"/>
              <a:buFont typeface="Arial"/>
              <a:buNone/>
            </a:pPr>
            <a:r>
              <a:rPr b="0" lang="en-US" sz="1425">
                <a:solidFill>
                  <a:srgbClr val="536472"/>
                </a:solidFill>
                <a:latin typeface="Arial"/>
                <a:ea typeface="Arial"/>
                <a:cs typeface="Arial"/>
                <a:sym typeface="Arial"/>
              </a:rPr>
              <a:t>and saved result</a:t>
            </a:r>
            <a:endParaRPr/>
          </a:p>
        </p:txBody>
      </p:sp>
      <p:sp>
        <p:nvSpPr>
          <p:cNvPr id="172" name="Google Shape;172;p7"/>
          <p:cNvSpPr/>
          <p:nvPr/>
        </p:nvSpPr>
        <p:spPr>
          <a:xfrm>
            <a:off x="714375" y="3857625"/>
            <a:ext cx="2571750" cy="112395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A83B35"/>
              </a:buClr>
              <a:buSzPts val="1950"/>
              <a:buFont typeface="Arial"/>
              <a:buNone/>
            </a:pPr>
            <a:r>
              <a:rPr b="0" lang="en-US" sz="1950">
                <a:solidFill>
                  <a:srgbClr val="A83B35"/>
                </a:solidFill>
                <a:latin typeface="Arial"/>
                <a:ea typeface="Arial"/>
                <a:cs typeface="Arial"/>
                <a:sym typeface="Arial"/>
              </a:rPr>
              <a:t>Guards fail</a:t>
            </a:r>
            <a:endParaRPr/>
          </a:p>
          <a:p>
            <a:pPr indent="0" lvl="0" marL="0" marR="0" rtl="0" algn="l">
              <a:spcBef>
                <a:spcPts val="0"/>
              </a:spcBef>
              <a:spcAft>
                <a:spcPts val="0"/>
              </a:spcAft>
              <a:buClr>
                <a:srgbClr val="A83B35"/>
              </a:buClr>
              <a:buSzPts val="1950"/>
              <a:buFont typeface="Arial"/>
              <a:buNone/>
            </a:pPr>
            <a:r>
              <a:rPr b="0" lang="en-US" sz="1950">
                <a:solidFill>
                  <a:srgbClr val="A83B35"/>
                </a:solidFill>
                <a:latin typeface="Arial"/>
                <a:ea typeface="Arial"/>
                <a:cs typeface="Arial"/>
                <a:sym typeface="Arial"/>
              </a:rPr>
              <a:t>BLOCKED</a:t>
            </a:r>
            <a:endParaRPr/>
          </a:p>
          <a:p>
            <a:pPr indent="0" lvl="0" marL="0" marR="0" rtl="0" algn="l">
              <a:spcBef>
                <a:spcPts val="0"/>
              </a:spcBef>
              <a:spcAft>
                <a:spcPts val="0"/>
              </a:spcAft>
              <a:buClr>
                <a:srgbClr val="A83B35"/>
              </a:buClr>
              <a:buSzPts val="1950"/>
              <a:buFont typeface="Arial"/>
              <a:buNone/>
            </a:pPr>
            <a:r>
              <a:rPr b="0" lang="en-US" sz="1950">
                <a:solidFill>
                  <a:srgbClr val="A83B35"/>
                </a:solidFill>
                <a:latin typeface="Arial"/>
                <a:ea typeface="Arial"/>
                <a:cs typeface="Arial"/>
                <a:sym typeface="Arial"/>
              </a:rPr>
              <a:t>Zero new effect</a:t>
            </a:r>
            <a:endParaRPr/>
          </a:p>
        </p:txBody>
      </p:sp>
      <p:sp>
        <p:nvSpPr>
          <p:cNvPr id="173" name="Google Shape;173;p7"/>
          <p:cNvSpPr/>
          <p:nvPr/>
        </p:nvSpPr>
        <p:spPr>
          <a:xfrm>
            <a:off x="714375" y="5372100"/>
            <a:ext cx="10763250" cy="41910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1875"/>
              <a:buFont typeface="Arial"/>
              <a:buNone/>
            </a:pPr>
            <a:r>
              <a:rPr b="0" lang="en-US" sz="1875">
                <a:solidFill>
                  <a:srgbClr val="142C43"/>
                </a:solidFill>
                <a:latin typeface="Arial"/>
                <a:ea typeface="Arial"/>
                <a:cs typeface="Arial"/>
                <a:sym typeface="Arial"/>
              </a:rPr>
              <a:t>Known label success, missing file: recover the original artifact within EXECUTING.</a:t>
            </a:r>
            <a:endParaRPr/>
          </a:p>
        </p:txBody>
      </p:sp>
      <p:sp>
        <p:nvSpPr>
          <p:cNvPr id="174" name="Google Shape;174;p7"/>
          <p:cNvSpPr/>
          <p:nvPr/>
        </p:nvSpPr>
        <p:spPr>
          <a:xfrm>
            <a:off x="714375" y="5876925"/>
            <a:ext cx="10572750" cy="40005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1875"/>
              <a:buFont typeface="Arial"/>
              <a:buNone/>
            </a:pPr>
            <a:r>
              <a:rPr b="0" lang="en-US" sz="1875">
                <a:solidFill>
                  <a:srgbClr val="142C43"/>
                </a:solidFill>
                <a:latin typeface="Arial"/>
                <a:ea typeface="Arial"/>
                <a:cs typeface="Arial"/>
                <a:sym typeface="Arial"/>
              </a:rPr>
              <a:t>Notification-only retry preserves successful return and label results.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 name="Shape 179"/>
        <p:cNvGrpSpPr/>
        <p:nvPr/>
      </p:nvGrpSpPr>
      <p:grpSpPr>
        <a:xfrm>
          <a:off x="0" y="0"/>
          <a:ext cx="0" cy="0"/>
          <a:chOff x="0" y="0"/>
          <a:chExt cx="0" cy="0"/>
        </a:xfrm>
      </p:grpSpPr>
      <p:sp>
        <p:nvSpPr>
          <p:cNvPr id="180" name="Google Shape;180;p8"/>
          <p:cNvSpPr/>
          <p:nvPr/>
        </p:nvSpPr>
        <p:spPr>
          <a:xfrm>
            <a:off x="571500" y="333375"/>
            <a:ext cx="11049000" cy="61912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3225"/>
              <a:buFont typeface="Arial"/>
              <a:buNone/>
            </a:pPr>
            <a:r>
              <a:rPr b="1" lang="en-US" sz="3225">
                <a:solidFill>
                  <a:srgbClr val="142C43"/>
                </a:solidFill>
                <a:latin typeface="Arial"/>
                <a:ea typeface="Arial"/>
                <a:cs typeface="Arial"/>
                <a:sym typeface="Arial"/>
              </a:rPr>
              <a:t>Shared classes and object snapshot</a:t>
            </a:r>
            <a:endParaRPr/>
          </a:p>
        </p:txBody>
      </p:sp>
      <p:sp>
        <p:nvSpPr>
          <p:cNvPr id="181" name="Google Shape;181;p8"/>
          <p:cNvSpPr/>
          <p:nvPr/>
        </p:nvSpPr>
        <p:spPr>
          <a:xfrm>
            <a:off x="590550" y="1047750"/>
            <a:ext cx="10991850" cy="4476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800"/>
              <a:buFont typeface="Arial"/>
              <a:buNone/>
            </a:pPr>
            <a:r>
              <a:rPr b="0" lang="en-US" sz="1800">
                <a:solidFill>
                  <a:srgbClr val="536472"/>
                </a:solidFill>
                <a:latin typeface="Arial"/>
                <a:ea typeface="Arial"/>
                <a:cs typeface="Arial"/>
                <a:sym typeface="Arial"/>
              </a:rPr>
              <a:t>Typed structure and concrete instances answer different questions</a:t>
            </a:r>
            <a:endParaRPr/>
          </a:p>
        </p:txBody>
      </p:sp>
      <p:sp>
        <p:nvSpPr>
          <p:cNvPr id="182" name="Google Shape;182;p8"/>
          <p:cNvSpPr/>
          <p:nvPr/>
        </p:nvSpPr>
        <p:spPr>
          <a:xfrm>
            <a:off x="10287000" y="6391275"/>
            <a:ext cx="1333500" cy="247650"/>
          </a:xfrm>
          <a:prstGeom prst="rect">
            <a:avLst/>
          </a:prstGeom>
          <a:noFill/>
          <a:ln>
            <a:noFill/>
          </a:ln>
        </p:spPr>
        <p:txBody>
          <a:bodyPr anchorCtr="0" anchor="ctr" bIns="47625" lIns="66675" spcFirstLastPara="1" rIns="66675" wrap="square" tIns="47625">
            <a:noAutofit/>
          </a:bodyPr>
          <a:lstStyle/>
          <a:p>
            <a:pPr indent="0" lvl="0" marL="0" marR="0" rtl="0" algn="r">
              <a:spcBef>
                <a:spcPts val="0"/>
              </a:spcBef>
              <a:spcAft>
                <a:spcPts val="0"/>
              </a:spcAft>
              <a:buClr>
                <a:srgbClr val="536472"/>
              </a:buClr>
              <a:buSzPts val="1200"/>
              <a:buFont typeface="Arial"/>
              <a:buNone/>
            </a:pPr>
            <a:r>
              <a:rPr b="0" lang="en-US" sz="1200">
                <a:solidFill>
                  <a:srgbClr val="536472"/>
                </a:solidFill>
                <a:latin typeface="Arial"/>
                <a:ea typeface="Arial"/>
                <a:cs typeface="Arial"/>
                <a:sym typeface="Arial"/>
              </a:rPr>
              <a:t>C   8 / 9</a:t>
            </a:r>
            <a:endParaRPr/>
          </a:p>
        </p:txBody>
      </p:sp>
      <p:sp>
        <p:nvSpPr>
          <p:cNvPr id="183" name="Google Shape;183;p8"/>
          <p:cNvSpPr/>
          <p:nvPr/>
        </p:nvSpPr>
        <p:spPr>
          <a:xfrm>
            <a:off x="666750" y="1704975"/>
            <a:ext cx="5143500" cy="4095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2175"/>
              <a:buFont typeface="Arial"/>
              <a:buNone/>
            </a:pPr>
            <a:r>
              <a:rPr b="1" lang="en-US" sz="2175">
                <a:solidFill>
                  <a:srgbClr val="142C43"/>
                </a:solidFill>
                <a:latin typeface="Arial"/>
                <a:ea typeface="Arial"/>
                <a:cs typeface="Arial"/>
                <a:sym typeface="Arial"/>
              </a:rPr>
              <a:t>Class model fragment</a:t>
            </a:r>
            <a:endParaRPr/>
          </a:p>
        </p:txBody>
      </p:sp>
      <p:sp>
        <p:nvSpPr>
          <p:cNvPr id="184" name="Google Shape;184;p8"/>
          <p:cNvSpPr/>
          <p:nvPr/>
        </p:nvSpPr>
        <p:spPr>
          <a:xfrm>
            <a:off x="6238875" y="1704975"/>
            <a:ext cx="5334000" cy="4095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2175"/>
              <a:buFont typeface="Arial"/>
              <a:buNone/>
            </a:pPr>
            <a:r>
              <a:rPr b="1" lang="en-US" sz="2175">
                <a:solidFill>
                  <a:srgbClr val="142C43"/>
                </a:solidFill>
                <a:latin typeface="Arial"/>
                <a:ea typeface="Arial"/>
                <a:cs typeface="Arial"/>
                <a:sym typeface="Arial"/>
              </a:rPr>
              <a:t>Synthetic object snapshot</a:t>
            </a:r>
            <a:endParaRPr/>
          </a:p>
        </p:txBody>
      </p:sp>
      <p:sp>
        <p:nvSpPr>
          <p:cNvPr id="185" name="Google Shape;185;p8"/>
          <p:cNvSpPr/>
          <p:nvPr/>
        </p:nvSpPr>
        <p:spPr>
          <a:xfrm>
            <a:off x="1047750" y="2333625"/>
            <a:ext cx="3524250" cy="904875"/>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ReturnCase</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case_id</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input_version</a:t>
            </a:r>
            <a:endParaRPr/>
          </a:p>
        </p:txBody>
      </p:sp>
      <p:sp>
        <p:nvSpPr>
          <p:cNvPr id="186" name="Google Shape;186;p8"/>
          <p:cNvSpPr/>
          <p:nvPr/>
        </p:nvSpPr>
        <p:spPr>
          <a:xfrm>
            <a:off x="1047750" y="3962400"/>
            <a:ext cx="3524250" cy="952500"/>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DecisionPacket</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proposal_id</a:t>
            </a:r>
            <a:endParaRPr/>
          </a:p>
          <a:p>
            <a:pPr indent="0" lvl="0" marL="0" marR="0" rtl="0" algn="ctr">
              <a:spcBef>
                <a:spcPts val="0"/>
              </a:spcBef>
              <a:spcAft>
                <a:spcPts val="0"/>
              </a:spcAft>
              <a:buClr>
                <a:srgbClr val="142C43"/>
              </a:buClr>
              <a:buSzPts val="1800"/>
              <a:buFont typeface="Arial"/>
              <a:buNone/>
            </a:pPr>
            <a:r>
              <a:rPr b="0" lang="en-US" sz="1800">
                <a:solidFill>
                  <a:srgbClr val="142C43"/>
                </a:solidFill>
                <a:latin typeface="Arial"/>
                <a:ea typeface="Arial"/>
                <a:cs typeface="Arial"/>
                <a:sym typeface="Arial"/>
              </a:rPr>
              <a:t>proposal_version</a:t>
            </a:r>
            <a:endParaRPr/>
          </a:p>
        </p:txBody>
      </p:sp>
      <p:cxnSp>
        <p:nvCxnSpPr>
          <p:cNvPr id="187" name="Google Shape;187;p8"/>
          <p:cNvCxnSpPr>
            <a:stCxn id="185" idx="2"/>
            <a:endCxn id="186" idx="0"/>
          </p:cNvCxnSpPr>
          <p:nvPr/>
        </p:nvCxnSpPr>
        <p:spPr>
          <a:xfrm>
            <a:off x="2809875" y="3238500"/>
            <a:ext cx="0" cy="723900"/>
          </a:xfrm>
          <a:prstGeom prst="straightConnector1">
            <a:avLst/>
          </a:prstGeom>
          <a:noFill/>
          <a:ln cap="flat" cmpd="sng" w="19050">
            <a:solidFill>
              <a:srgbClr val="748591"/>
            </a:solidFill>
            <a:prstDash val="solid"/>
            <a:round/>
            <a:headEnd len="sm" w="sm" type="diamond"/>
            <a:tailEnd len="sm" w="sm" type="none"/>
          </a:ln>
        </p:spPr>
      </p:cxnSp>
      <p:sp>
        <p:nvSpPr>
          <p:cNvPr id="188" name="Google Shape;188;p8"/>
          <p:cNvSpPr/>
          <p:nvPr/>
        </p:nvSpPr>
        <p:spPr>
          <a:xfrm>
            <a:off x="733425" y="3228975"/>
            <a:ext cx="428625"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1</a:t>
            </a:r>
            <a:endParaRPr/>
          </a:p>
        </p:txBody>
      </p:sp>
      <p:sp>
        <p:nvSpPr>
          <p:cNvPr id="189" name="Google Shape;189;p8"/>
          <p:cNvSpPr/>
          <p:nvPr/>
        </p:nvSpPr>
        <p:spPr>
          <a:xfrm>
            <a:off x="1162050" y="3476625"/>
            <a:ext cx="2066925" cy="3238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0..* revisions</a:t>
            </a:r>
            <a:endParaRPr/>
          </a:p>
        </p:txBody>
      </p:sp>
      <p:sp>
        <p:nvSpPr>
          <p:cNvPr id="190" name="Google Shape;190;p8"/>
          <p:cNvSpPr/>
          <p:nvPr/>
        </p:nvSpPr>
        <p:spPr>
          <a:xfrm>
            <a:off x="7429500" y="2266950"/>
            <a:ext cx="3943350" cy="647700"/>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650"/>
              <a:buFont typeface="Arial"/>
              <a:buNone/>
            </a:pPr>
            <a:r>
              <a:rPr b="0" lang="en-US" sz="1650">
                <a:solidFill>
                  <a:srgbClr val="142C43"/>
                </a:solidFill>
                <a:latin typeface="Arial"/>
                <a:ea typeface="Arial"/>
                <a:cs typeface="Arial"/>
                <a:sym typeface="Arial"/>
              </a:rPr>
              <a:t>case02 : ReturnCase</a:t>
            </a:r>
            <a:endParaRPr/>
          </a:p>
          <a:p>
            <a:pPr indent="0" lvl="0" marL="0" marR="0" rtl="0" algn="ctr">
              <a:spcBef>
                <a:spcPts val="0"/>
              </a:spcBef>
              <a:spcAft>
                <a:spcPts val="0"/>
              </a:spcAft>
              <a:buClr>
                <a:srgbClr val="142C43"/>
              </a:buClr>
              <a:buSzPts val="1650"/>
              <a:buFont typeface="Arial"/>
              <a:buNone/>
            </a:pPr>
            <a:r>
              <a:rPr b="0" lang="en-US" sz="1650">
                <a:solidFill>
                  <a:srgbClr val="142C43"/>
                </a:solidFill>
                <a:latin typeface="Arial"/>
                <a:ea typeface="Arial"/>
                <a:cs typeface="Arial"/>
                <a:sym typeface="Arial"/>
              </a:rPr>
              <a:t>status = ESCALATED</a:t>
            </a:r>
            <a:endParaRPr/>
          </a:p>
        </p:txBody>
      </p:sp>
      <p:sp>
        <p:nvSpPr>
          <p:cNvPr id="191" name="Google Shape;191;p8"/>
          <p:cNvSpPr/>
          <p:nvPr/>
        </p:nvSpPr>
        <p:spPr>
          <a:xfrm>
            <a:off x="7429500" y="3305175"/>
            <a:ext cx="3943350" cy="647700"/>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650"/>
              <a:buFont typeface="Arial"/>
              <a:buNone/>
            </a:pPr>
            <a:r>
              <a:rPr b="0" lang="en-US" sz="1650">
                <a:solidFill>
                  <a:srgbClr val="142C43"/>
                </a:solidFill>
                <a:latin typeface="Arial"/>
                <a:ea typeface="Arial"/>
                <a:cs typeface="Arial"/>
                <a:sym typeface="Arial"/>
              </a:rPr>
              <a:t>packet02 : DecisionPacket</a:t>
            </a:r>
            <a:endParaRPr/>
          </a:p>
          <a:p>
            <a:pPr indent="0" lvl="0" marL="0" marR="0" rtl="0" algn="ctr">
              <a:spcBef>
                <a:spcPts val="0"/>
              </a:spcBef>
              <a:spcAft>
                <a:spcPts val="0"/>
              </a:spcAft>
              <a:buClr>
                <a:srgbClr val="142C43"/>
              </a:buClr>
              <a:buSzPts val="1650"/>
              <a:buFont typeface="Arial"/>
              <a:buNone/>
            </a:pPr>
            <a:r>
              <a:rPr b="0" lang="en-US" sz="1650">
                <a:solidFill>
                  <a:srgbClr val="142C43"/>
                </a:solidFill>
                <a:latin typeface="Arial"/>
                <a:ea typeface="Arial"/>
                <a:cs typeface="Arial"/>
                <a:sym typeface="Arial"/>
              </a:rPr>
              <a:t>proposal_version = 1</a:t>
            </a:r>
            <a:endParaRPr/>
          </a:p>
        </p:txBody>
      </p:sp>
      <p:sp>
        <p:nvSpPr>
          <p:cNvPr id="192" name="Google Shape;192;p8"/>
          <p:cNvSpPr/>
          <p:nvPr/>
        </p:nvSpPr>
        <p:spPr>
          <a:xfrm>
            <a:off x="8458200" y="4829175"/>
            <a:ext cx="2914650" cy="742950"/>
          </a:xfrm>
          <a:prstGeom prst="rect">
            <a:avLst/>
          </a:prstGeom>
          <a:solidFill>
            <a:srgbClr val="EAF4F3"/>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650"/>
              <a:buFont typeface="Arial"/>
              <a:buNone/>
            </a:pPr>
            <a:r>
              <a:rPr b="0" lang="en-US" sz="1650">
                <a:solidFill>
                  <a:srgbClr val="142C43"/>
                </a:solidFill>
                <a:latin typeface="Arial"/>
                <a:ea typeface="Arial"/>
                <a:cs typeface="Arial"/>
                <a:sym typeface="Arial"/>
              </a:rPr>
              <a:t>review02 : RiskReview</a:t>
            </a:r>
            <a:endParaRPr/>
          </a:p>
          <a:p>
            <a:pPr indent="0" lvl="0" marL="0" marR="0" rtl="0" algn="ctr">
              <a:spcBef>
                <a:spcPts val="0"/>
              </a:spcBef>
              <a:spcAft>
                <a:spcPts val="0"/>
              </a:spcAft>
              <a:buClr>
                <a:srgbClr val="142C43"/>
              </a:buClr>
              <a:buSzPts val="1650"/>
              <a:buFont typeface="Arial"/>
              <a:buNone/>
            </a:pPr>
            <a:r>
              <a:rPr b="0" lang="en-US" sz="1650">
                <a:solidFill>
                  <a:srgbClr val="142C43"/>
                </a:solidFill>
                <a:latin typeface="Arial"/>
                <a:ea typeface="Arial"/>
                <a:cs typeface="Arial"/>
                <a:sym typeface="Arial"/>
              </a:rPr>
              <a:t>outcome = ESCALATE</a:t>
            </a:r>
            <a:endParaRPr/>
          </a:p>
        </p:txBody>
      </p:sp>
      <p:sp>
        <p:nvSpPr>
          <p:cNvPr id="193" name="Google Shape;193;p8"/>
          <p:cNvSpPr/>
          <p:nvPr/>
        </p:nvSpPr>
        <p:spPr>
          <a:xfrm>
            <a:off x="5895975" y="4429125"/>
            <a:ext cx="2457450" cy="571500"/>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350"/>
              <a:buFont typeface="Arial"/>
              <a:buNone/>
            </a:pPr>
            <a:r>
              <a:rPr b="0" lang="en-US" sz="1350">
                <a:solidFill>
                  <a:srgbClr val="142C43"/>
                </a:solidFill>
                <a:latin typeface="Arial"/>
                <a:ea typeface="Arial"/>
                <a:cs typeface="Arial"/>
                <a:sym typeface="Arial"/>
              </a:rPr>
              <a:t>policy01 : PolicyPassage</a:t>
            </a:r>
            <a:endParaRPr/>
          </a:p>
          <a:p>
            <a:pPr indent="0" lvl="0" marL="0" marR="0" rtl="0" algn="ctr">
              <a:spcBef>
                <a:spcPts val="0"/>
              </a:spcBef>
              <a:spcAft>
                <a:spcPts val="0"/>
              </a:spcAft>
              <a:buClr>
                <a:srgbClr val="142C43"/>
              </a:buClr>
              <a:buSzPts val="1350"/>
              <a:buFont typeface="Arial"/>
              <a:buNone/>
            </a:pPr>
            <a:r>
              <a:rPr b="0" lang="en-US" sz="1350">
                <a:solidFill>
                  <a:srgbClr val="142C43"/>
                </a:solidFill>
                <a:latin typeface="Arial"/>
                <a:ea typeface="Arial"/>
                <a:cs typeface="Arial"/>
                <a:sym typeface="Arial"/>
              </a:rPr>
              <a:t>Criterion X: not eligible.</a:t>
            </a:r>
            <a:endParaRPr/>
          </a:p>
        </p:txBody>
      </p:sp>
      <p:sp>
        <p:nvSpPr>
          <p:cNvPr id="194" name="Google Shape;194;p8"/>
          <p:cNvSpPr/>
          <p:nvPr/>
        </p:nvSpPr>
        <p:spPr>
          <a:xfrm>
            <a:off x="5895975" y="5276850"/>
            <a:ext cx="2457450" cy="571500"/>
          </a:xfrm>
          <a:prstGeom prst="rect">
            <a:avLst/>
          </a:prstGeom>
          <a:solidFill>
            <a:srgbClr val="F0F3F6"/>
          </a:solidFill>
          <a:ln cap="flat" cmpd="sng" w="14275">
            <a:solidFill>
              <a:srgbClr val="748591"/>
            </a:solidFill>
            <a:prstDash val="solid"/>
            <a:round/>
            <a:headEnd len="sm" w="sm" type="none"/>
            <a:tailEnd len="sm" w="sm" type="none"/>
          </a:ln>
        </p:spPr>
        <p:txBody>
          <a:bodyPr anchorCtr="0" anchor="ctr" bIns="47625" lIns="66675" spcFirstLastPara="1" rIns="66675" wrap="square" tIns="47625">
            <a:noAutofit/>
          </a:bodyPr>
          <a:lstStyle/>
          <a:p>
            <a:pPr indent="0" lvl="0" marL="0" marR="0" rtl="0" algn="ctr">
              <a:spcBef>
                <a:spcPts val="0"/>
              </a:spcBef>
              <a:spcAft>
                <a:spcPts val="0"/>
              </a:spcAft>
              <a:buClr>
                <a:srgbClr val="142C43"/>
              </a:buClr>
              <a:buSzPts val="1350"/>
              <a:buFont typeface="Arial"/>
              <a:buNone/>
            </a:pPr>
            <a:r>
              <a:rPr b="0" lang="en-US" sz="1350">
                <a:solidFill>
                  <a:srgbClr val="142C43"/>
                </a:solidFill>
                <a:latin typeface="Arial"/>
                <a:ea typeface="Arial"/>
                <a:cs typeface="Arial"/>
                <a:sym typeface="Arial"/>
              </a:rPr>
              <a:t>guidance01 : PolicyPassage</a:t>
            </a:r>
            <a:endParaRPr/>
          </a:p>
          <a:p>
            <a:pPr indent="0" lvl="0" marL="0" marR="0" rtl="0" algn="ctr">
              <a:spcBef>
                <a:spcPts val="0"/>
              </a:spcBef>
              <a:spcAft>
                <a:spcPts val="0"/>
              </a:spcAft>
              <a:buClr>
                <a:srgbClr val="142C43"/>
              </a:buClr>
              <a:buSzPts val="1350"/>
              <a:buFont typeface="Arial"/>
              <a:buNone/>
            </a:pPr>
            <a:r>
              <a:rPr b="0" lang="en-US" sz="1350">
                <a:solidFill>
                  <a:srgbClr val="142C43"/>
                </a:solidFill>
                <a:latin typeface="Arial"/>
                <a:ea typeface="Arial"/>
                <a:cs typeface="Arial"/>
                <a:sym typeface="Arial"/>
              </a:rPr>
              <a:t>Criterion X: eligible.</a:t>
            </a:r>
            <a:endParaRPr/>
          </a:p>
        </p:txBody>
      </p:sp>
      <p:cxnSp>
        <p:nvCxnSpPr>
          <p:cNvPr id="195" name="Google Shape;195;p8"/>
          <p:cNvCxnSpPr>
            <a:stCxn id="190" idx="2"/>
            <a:endCxn id="191" idx="0"/>
          </p:cNvCxnSpPr>
          <p:nvPr/>
        </p:nvCxnSpPr>
        <p:spPr>
          <a:xfrm>
            <a:off x="9401175" y="2914650"/>
            <a:ext cx="0" cy="390600"/>
          </a:xfrm>
          <a:prstGeom prst="straightConnector1">
            <a:avLst/>
          </a:prstGeom>
          <a:noFill/>
          <a:ln cap="flat" cmpd="sng" w="19050">
            <a:solidFill>
              <a:srgbClr val="748591"/>
            </a:solidFill>
            <a:prstDash val="solid"/>
            <a:round/>
            <a:headEnd len="sm" w="sm" type="none"/>
            <a:tailEnd len="sm" w="sm" type="none"/>
          </a:ln>
        </p:spPr>
      </p:cxnSp>
      <p:sp>
        <p:nvSpPr>
          <p:cNvPr id="196" name="Google Shape;196;p8"/>
          <p:cNvSpPr/>
          <p:nvPr/>
        </p:nvSpPr>
        <p:spPr>
          <a:xfrm>
            <a:off x="8239125" y="2971800"/>
            <a:ext cx="2333625" cy="276225"/>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00"/>
              <a:buFont typeface="Arial"/>
              <a:buNone/>
            </a:pPr>
            <a:r>
              <a:rPr b="0" lang="en-US" sz="1500">
                <a:solidFill>
                  <a:srgbClr val="536472"/>
                </a:solidFill>
                <a:latin typeface="Arial"/>
                <a:ea typeface="Arial"/>
                <a:cs typeface="Arial"/>
                <a:sym typeface="Arial"/>
              </a:rPr>
              <a:t>current proposal</a:t>
            </a:r>
            <a:endParaRPr/>
          </a:p>
        </p:txBody>
      </p:sp>
      <p:cxnSp>
        <p:nvCxnSpPr>
          <p:cNvPr id="197" name="Google Shape;197;p8"/>
          <p:cNvCxnSpPr>
            <a:stCxn id="191" idx="2"/>
            <a:endCxn id="192" idx="0"/>
          </p:cNvCxnSpPr>
          <p:nvPr/>
        </p:nvCxnSpPr>
        <p:spPr>
          <a:xfrm>
            <a:off x="9401175" y="3952875"/>
            <a:ext cx="514500" cy="876300"/>
          </a:xfrm>
          <a:prstGeom prst="straightConnector1">
            <a:avLst/>
          </a:prstGeom>
          <a:noFill/>
          <a:ln cap="flat" cmpd="sng" w="19050">
            <a:solidFill>
              <a:srgbClr val="748591"/>
            </a:solidFill>
            <a:prstDash val="solid"/>
            <a:round/>
            <a:headEnd len="sm" w="sm" type="none"/>
            <a:tailEnd len="sm" w="sm" type="none"/>
          </a:ln>
        </p:spPr>
      </p:cxnSp>
      <p:sp>
        <p:nvSpPr>
          <p:cNvPr id="198" name="Google Shape;198;p8"/>
          <p:cNvSpPr/>
          <p:nvPr/>
        </p:nvSpPr>
        <p:spPr>
          <a:xfrm>
            <a:off x="9134475" y="4210050"/>
            <a:ext cx="2162175" cy="276225"/>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500"/>
              <a:buFont typeface="Arial"/>
              <a:buNone/>
            </a:pPr>
            <a:r>
              <a:rPr b="0" lang="en-US" sz="1500">
                <a:solidFill>
                  <a:srgbClr val="536472"/>
                </a:solidFill>
                <a:latin typeface="Arial"/>
                <a:ea typeface="Arial"/>
                <a:cs typeface="Arial"/>
                <a:sym typeface="Arial"/>
              </a:rPr>
              <a:t>exact revision</a:t>
            </a:r>
            <a:endParaRPr/>
          </a:p>
        </p:txBody>
      </p:sp>
      <p:cxnSp>
        <p:nvCxnSpPr>
          <p:cNvPr id="199" name="Google Shape;199;p8"/>
          <p:cNvCxnSpPr>
            <a:stCxn id="191" idx="1"/>
            <a:endCxn id="193" idx="0"/>
          </p:cNvCxnSpPr>
          <p:nvPr/>
        </p:nvCxnSpPr>
        <p:spPr>
          <a:xfrm flipH="1">
            <a:off x="7124700" y="3629025"/>
            <a:ext cx="304800" cy="800100"/>
          </a:xfrm>
          <a:prstGeom prst="bentConnector2">
            <a:avLst/>
          </a:prstGeom>
          <a:noFill/>
          <a:ln cap="flat" cmpd="sng" w="19050">
            <a:solidFill>
              <a:srgbClr val="748591"/>
            </a:solidFill>
            <a:prstDash val="solid"/>
            <a:round/>
            <a:headEnd len="sm" w="sm" type="none"/>
            <a:tailEnd len="sm" w="sm" type="none"/>
          </a:ln>
        </p:spPr>
      </p:cxnSp>
      <p:sp>
        <p:nvSpPr>
          <p:cNvPr id="200" name="Google Shape;200;p8"/>
          <p:cNvSpPr/>
          <p:nvPr/>
        </p:nvSpPr>
        <p:spPr>
          <a:xfrm>
            <a:off x="6057900" y="3943350"/>
            <a:ext cx="1571625" cy="285750"/>
          </a:xfrm>
          <a:prstGeom prst="rect">
            <a:avLst/>
          </a:prstGeom>
          <a:solidFill>
            <a:srgbClr val="FFFFFF"/>
          </a:solidFill>
          <a:ln>
            <a:noFill/>
          </a:ln>
        </p:spPr>
        <p:txBody>
          <a:bodyPr anchorCtr="0" anchor="ctr" bIns="9525" lIns="9525" spcFirstLastPara="1" rIns="9525" wrap="square" tIns="9525">
            <a:noAutofit/>
          </a:bodyPr>
          <a:lstStyle/>
          <a:p>
            <a:pPr indent="0" lvl="0" marL="0" marR="0" rtl="0" algn="ctr">
              <a:spcBef>
                <a:spcPts val="0"/>
              </a:spcBef>
              <a:spcAft>
                <a:spcPts val="0"/>
              </a:spcAft>
              <a:buClr>
                <a:srgbClr val="536472"/>
              </a:buClr>
              <a:buSzPts val="1350"/>
              <a:buFont typeface="Arial"/>
              <a:buNone/>
            </a:pPr>
            <a:r>
              <a:rPr b="0" lang="en-US" sz="1350">
                <a:solidFill>
                  <a:srgbClr val="536472"/>
                </a:solidFill>
                <a:latin typeface="Arial"/>
                <a:ea typeface="Arial"/>
                <a:cs typeface="Arial"/>
                <a:sym typeface="Arial"/>
              </a:rPr>
              <a:t>via citations</a:t>
            </a:r>
            <a:endParaRPr/>
          </a:p>
        </p:txBody>
      </p:sp>
      <p:sp>
        <p:nvSpPr>
          <p:cNvPr id="201" name="Google Shape;201;p8"/>
          <p:cNvSpPr/>
          <p:nvPr/>
        </p:nvSpPr>
        <p:spPr>
          <a:xfrm>
            <a:off x="5743575" y="5543550"/>
            <a:ext cx="9525" cy="95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p>
        </p:txBody>
      </p:sp>
      <p:cxnSp>
        <p:nvCxnSpPr>
          <p:cNvPr id="202" name="Google Shape;202;p8"/>
          <p:cNvCxnSpPr>
            <a:stCxn id="191" idx="1"/>
            <a:endCxn id="201" idx="0"/>
          </p:cNvCxnSpPr>
          <p:nvPr/>
        </p:nvCxnSpPr>
        <p:spPr>
          <a:xfrm flipH="1">
            <a:off x="5748300" y="3629025"/>
            <a:ext cx="1681200" cy="1914600"/>
          </a:xfrm>
          <a:prstGeom prst="bentConnector2">
            <a:avLst/>
          </a:prstGeom>
          <a:noFill/>
          <a:ln cap="flat" cmpd="sng" w="19050">
            <a:solidFill>
              <a:srgbClr val="748591"/>
            </a:solidFill>
            <a:prstDash val="solid"/>
            <a:round/>
            <a:headEnd len="sm" w="sm" type="none"/>
            <a:tailEnd len="sm" w="sm" type="none"/>
          </a:ln>
        </p:spPr>
      </p:cxnSp>
      <p:cxnSp>
        <p:nvCxnSpPr>
          <p:cNvPr id="203" name="Google Shape;203;p8"/>
          <p:cNvCxnSpPr>
            <a:stCxn id="201" idx="3"/>
            <a:endCxn id="194" idx="1"/>
          </p:cNvCxnSpPr>
          <p:nvPr/>
        </p:nvCxnSpPr>
        <p:spPr>
          <a:xfrm>
            <a:off x="5753100" y="5548313"/>
            <a:ext cx="142800" cy="14400"/>
          </a:xfrm>
          <a:prstGeom prst="straightConnector1">
            <a:avLst/>
          </a:prstGeom>
          <a:noFill/>
          <a:ln cap="flat" cmpd="sng" w="19050">
            <a:solidFill>
              <a:srgbClr val="748591"/>
            </a:solidFill>
            <a:prstDash val="solid"/>
            <a:round/>
            <a:headEnd len="sm" w="sm" type="none"/>
            <a:tailEnd len="sm" w="sm" type="none"/>
          </a:ln>
        </p:spPr>
      </p:cxnSp>
      <p:sp>
        <p:nvSpPr>
          <p:cNvPr id="204" name="Google Shape;204;p8"/>
          <p:cNvSpPr/>
          <p:nvPr/>
        </p:nvSpPr>
        <p:spPr>
          <a:xfrm>
            <a:off x="619125" y="5257800"/>
            <a:ext cx="5105400" cy="8667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1725"/>
              <a:buFont typeface="Arial"/>
              <a:buNone/>
            </a:pPr>
            <a:r>
              <a:rPr b="0" lang="en-US" sz="1725">
                <a:solidFill>
                  <a:srgbClr val="142C43"/>
                </a:solidFill>
                <a:latin typeface="Arial"/>
                <a:ea typeface="Arial"/>
                <a:cs typeface="Arial"/>
                <a:sym typeface="Arial"/>
              </a:rPr>
              <a:t>Shared ProposalReview result maps to the RiskReview DTO. Review-work phases stay internal.</a:t>
            </a:r>
            <a:endParaRPr/>
          </a:p>
        </p:txBody>
      </p:sp>
      <p:sp>
        <p:nvSpPr>
          <p:cNvPr id="205" name="Google Shape;205;p8"/>
          <p:cNvSpPr/>
          <p:nvPr/>
        </p:nvSpPr>
        <p:spPr>
          <a:xfrm>
            <a:off x="5895975" y="5943600"/>
            <a:ext cx="5600700" cy="36195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575"/>
              <a:buFont typeface="Arial"/>
              <a:buNone/>
            </a:pPr>
            <a:r>
              <a:rPr b="0" lang="en-US" sz="1575">
                <a:solidFill>
                  <a:srgbClr val="536472"/>
                </a:solidFill>
                <a:latin typeface="Arial"/>
                <a:ea typeface="Arial"/>
                <a:cs typeface="Arial"/>
                <a:sym typeface="Arial"/>
              </a:rPr>
              <a:t>Synthetic example: no Founder decision or execution.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sp>
        <p:nvSpPr>
          <p:cNvPr id="211" name="Google Shape;211;p9"/>
          <p:cNvSpPr/>
          <p:nvPr/>
        </p:nvSpPr>
        <p:spPr>
          <a:xfrm>
            <a:off x="571500" y="333375"/>
            <a:ext cx="11049000" cy="61912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3225"/>
              <a:buFont typeface="Arial"/>
              <a:buNone/>
            </a:pPr>
            <a:r>
              <a:rPr b="1" lang="en-US" sz="3225">
                <a:solidFill>
                  <a:srgbClr val="142C43"/>
                </a:solidFill>
                <a:latin typeface="Arial"/>
                <a:ea typeface="Arial"/>
                <a:cs typeface="Arial"/>
                <a:sym typeface="Arial"/>
              </a:rPr>
              <a:t>Design choices and acceptance</a:t>
            </a:r>
            <a:endParaRPr/>
          </a:p>
        </p:txBody>
      </p:sp>
      <p:sp>
        <p:nvSpPr>
          <p:cNvPr id="212" name="Google Shape;212;p9"/>
          <p:cNvSpPr/>
          <p:nvPr/>
        </p:nvSpPr>
        <p:spPr>
          <a:xfrm>
            <a:off x="590550" y="1047750"/>
            <a:ext cx="10991850" cy="4476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800"/>
              <a:buFont typeface="Arial"/>
              <a:buNone/>
            </a:pPr>
            <a:r>
              <a:rPr b="0" lang="en-US" sz="1800">
                <a:solidFill>
                  <a:srgbClr val="536472"/>
                </a:solidFill>
                <a:latin typeface="Arial"/>
                <a:ea typeface="Arial"/>
                <a:cs typeface="Arial"/>
                <a:sym typeface="Arial"/>
              </a:rPr>
              <a:t>A consistent model baseline guides the next implementation stage</a:t>
            </a:r>
            <a:endParaRPr/>
          </a:p>
        </p:txBody>
      </p:sp>
      <p:sp>
        <p:nvSpPr>
          <p:cNvPr id="213" name="Google Shape;213;p9"/>
          <p:cNvSpPr/>
          <p:nvPr/>
        </p:nvSpPr>
        <p:spPr>
          <a:xfrm>
            <a:off x="10287000" y="6391275"/>
            <a:ext cx="1333500" cy="247650"/>
          </a:xfrm>
          <a:prstGeom prst="rect">
            <a:avLst/>
          </a:prstGeom>
          <a:noFill/>
          <a:ln>
            <a:noFill/>
          </a:ln>
        </p:spPr>
        <p:txBody>
          <a:bodyPr anchorCtr="0" anchor="ctr" bIns="47625" lIns="66675" spcFirstLastPara="1" rIns="66675" wrap="square" tIns="47625">
            <a:noAutofit/>
          </a:bodyPr>
          <a:lstStyle/>
          <a:p>
            <a:pPr indent="0" lvl="0" marL="0" marR="0" rtl="0" algn="r">
              <a:spcBef>
                <a:spcPts val="0"/>
              </a:spcBef>
              <a:spcAft>
                <a:spcPts val="0"/>
              </a:spcAft>
              <a:buClr>
                <a:srgbClr val="536472"/>
              </a:buClr>
              <a:buSzPts val="1200"/>
              <a:buFont typeface="Arial"/>
              <a:buNone/>
            </a:pPr>
            <a:r>
              <a:rPr b="0" lang="en-US" sz="1200">
                <a:solidFill>
                  <a:srgbClr val="536472"/>
                </a:solidFill>
                <a:latin typeface="Arial"/>
                <a:ea typeface="Arial"/>
                <a:cs typeface="Arial"/>
                <a:sym typeface="Arial"/>
              </a:rPr>
              <a:t>A / C   9 / 9</a:t>
            </a:r>
            <a:endParaRPr/>
          </a:p>
        </p:txBody>
      </p:sp>
      <p:sp>
        <p:nvSpPr>
          <p:cNvPr id="214" name="Google Shape;214;p9"/>
          <p:cNvSpPr/>
          <p:nvPr/>
        </p:nvSpPr>
        <p:spPr>
          <a:xfrm>
            <a:off x="638175" y="1771650"/>
            <a:ext cx="4953000" cy="45720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2250"/>
              <a:buFont typeface="Arial"/>
              <a:buNone/>
            </a:pPr>
            <a:r>
              <a:rPr b="1" lang="en-US" sz="2250">
                <a:solidFill>
                  <a:srgbClr val="142C43"/>
                </a:solidFill>
                <a:latin typeface="Arial"/>
                <a:ea typeface="Arial"/>
                <a:cs typeface="Arial"/>
                <a:sym typeface="Arial"/>
              </a:rPr>
              <a:t>Selected design</a:t>
            </a:r>
            <a:endParaRPr/>
          </a:p>
        </p:txBody>
      </p:sp>
      <p:sp>
        <p:nvSpPr>
          <p:cNvPr id="215" name="Google Shape;215;p9"/>
          <p:cNvSpPr/>
          <p:nvPr/>
        </p:nvSpPr>
        <p:spPr>
          <a:xfrm>
            <a:off x="657225" y="2390775"/>
            <a:ext cx="5010150" cy="131445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Modular application and PostgreSQL</a:t>
            </a:r>
            <a:endParaRPr/>
          </a:p>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Simpler state ownership and recovery</a:t>
            </a:r>
            <a:endParaRPr/>
          </a:p>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Microservices deferred</a:t>
            </a:r>
            <a:endParaRPr/>
          </a:p>
        </p:txBody>
      </p:sp>
      <p:sp>
        <p:nvSpPr>
          <p:cNvPr id="216" name="Google Shape;216;p9"/>
          <p:cNvSpPr/>
          <p:nvPr/>
        </p:nvSpPr>
        <p:spPr>
          <a:xfrm>
            <a:off x="657225" y="4076700"/>
            <a:ext cx="5010150" cy="139065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Independent Risk and exact human approval</a:t>
            </a:r>
            <a:endParaRPr/>
          </a:p>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An unrestricted agent with direct tool</a:t>
            </a:r>
            <a:endParaRPr/>
          </a:p>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authority was rejected</a:t>
            </a:r>
            <a:endParaRPr/>
          </a:p>
        </p:txBody>
      </p:sp>
      <p:sp>
        <p:nvSpPr>
          <p:cNvPr id="217" name="Google Shape;217;p9"/>
          <p:cNvSpPr/>
          <p:nvPr/>
        </p:nvSpPr>
        <p:spPr>
          <a:xfrm>
            <a:off x="6600825" y="1771650"/>
            <a:ext cx="4981575" cy="45720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2250"/>
              <a:buFont typeface="Arial"/>
              <a:buNone/>
            </a:pPr>
            <a:r>
              <a:rPr b="1" lang="en-US" sz="2250">
                <a:solidFill>
                  <a:srgbClr val="142C43"/>
                </a:solidFill>
                <a:latin typeface="Arial"/>
                <a:ea typeface="Arial"/>
                <a:cs typeface="Arial"/>
                <a:sym typeface="Arial"/>
              </a:rPr>
              <a:t>Acceptance and change</a:t>
            </a:r>
            <a:endParaRPr/>
          </a:p>
        </p:txBody>
      </p:sp>
      <p:sp>
        <p:nvSpPr>
          <p:cNvPr id="218" name="Google Shape;218;p9"/>
          <p:cNvSpPr/>
          <p:nvPr/>
        </p:nvSpPr>
        <p:spPr>
          <a:xfrm>
            <a:off x="6619875" y="2419350"/>
            <a:ext cx="4762500" cy="89535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Stage 1 check</a:t>
            </a:r>
            <a:endParaRPr/>
          </a:p>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Requirements, use cases and model</a:t>
            </a:r>
            <a:endParaRPr/>
          </a:p>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paths agree, including exceptions</a:t>
            </a:r>
            <a:endParaRPr/>
          </a:p>
        </p:txBody>
      </p:sp>
      <p:sp>
        <p:nvSpPr>
          <p:cNvPr id="219" name="Google Shape;219;p9"/>
          <p:cNvSpPr/>
          <p:nvPr/>
        </p:nvSpPr>
        <p:spPr>
          <a:xfrm>
            <a:off x="6619875" y="3600450"/>
            <a:ext cx="4762500" cy="86677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27B78"/>
              </a:buClr>
              <a:buSzPts val="2025"/>
              <a:buFont typeface="Arial"/>
              <a:buNone/>
            </a:pPr>
            <a:r>
              <a:rPr b="0" lang="en-US" sz="2025">
                <a:solidFill>
                  <a:srgbClr val="127B78"/>
                </a:solidFill>
                <a:latin typeface="Arial"/>
                <a:ea typeface="Arial"/>
                <a:cs typeface="Arial"/>
                <a:sym typeface="Arial"/>
              </a:rPr>
              <a:t>Planned failure check</a:t>
            </a:r>
            <a:endParaRPr/>
          </a:p>
          <a:p>
            <a:pPr indent="0" lvl="0" marL="0" marR="0" rtl="0" algn="l">
              <a:spcBef>
                <a:spcPts val="0"/>
              </a:spcBef>
              <a:spcAft>
                <a:spcPts val="0"/>
              </a:spcAft>
              <a:buClr>
                <a:srgbClr val="127B78"/>
              </a:buClr>
              <a:buSzPts val="2025"/>
              <a:buFont typeface="Arial"/>
              <a:buNone/>
            </a:pPr>
            <a:r>
              <a:rPr b="0" lang="en-US" sz="2025">
                <a:solidFill>
                  <a:srgbClr val="127B78"/>
                </a:solidFill>
                <a:latin typeface="Arial"/>
                <a:ea typeface="Arial"/>
                <a:cs typeface="Arial"/>
                <a:sym typeface="Arial"/>
              </a:rPr>
              <a:t>Notification retry creates</a:t>
            </a:r>
            <a:endParaRPr/>
          </a:p>
          <a:p>
            <a:pPr indent="0" lvl="0" marL="0" marR="0" rtl="0" algn="l">
              <a:spcBef>
                <a:spcPts val="0"/>
              </a:spcBef>
              <a:spcAft>
                <a:spcPts val="0"/>
              </a:spcAft>
              <a:buClr>
                <a:srgbClr val="127B78"/>
              </a:buClr>
              <a:buSzPts val="2025"/>
              <a:buFont typeface="Arial"/>
              <a:buNone/>
            </a:pPr>
            <a:r>
              <a:rPr b="0" lang="en-US" sz="2025">
                <a:solidFill>
                  <a:srgbClr val="127B78"/>
                </a:solidFill>
                <a:latin typeface="Arial"/>
                <a:ea typeface="Arial"/>
                <a:cs typeface="Arial"/>
                <a:sym typeface="Arial"/>
              </a:rPr>
              <a:t>no new return or label</a:t>
            </a:r>
            <a:endParaRPr/>
          </a:p>
        </p:txBody>
      </p:sp>
      <p:sp>
        <p:nvSpPr>
          <p:cNvPr id="220" name="Google Shape;220;p9"/>
          <p:cNvSpPr/>
          <p:nvPr/>
        </p:nvSpPr>
        <p:spPr>
          <a:xfrm>
            <a:off x="6619875" y="4752975"/>
            <a:ext cx="4762500" cy="809625"/>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Review changes to scope, interfaces,</a:t>
            </a:r>
            <a:endParaRPr/>
          </a:p>
          <a:p>
            <a:pPr indent="0" lvl="0" marL="0" marR="0" rtl="0" algn="l">
              <a:spcBef>
                <a:spcPts val="0"/>
              </a:spcBef>
              <a:spcAft>
                <a:spcPts val="0"/>
              </a:spcAft>
              <a:buClr>
                <a:srgbClr val="142C43"/>
              </a:buClr>
              <a:buSzPts val="2025"/>
              <a:buFont typeface="Arial"/>
              <a:buNone/>
            </a:pPr>
            <a:r>
              <a:rPr b="0" lang="en-US" sz="2025">
                <a:solidFill>
                  <a:srgbClr val="142C43"/>
                </a:solidFill>
                <a:latin typeface="Arial"/>
                <a:ea typeface="Arial"/>
                <a:cs typeface="Arial"/>
                <a:sym typeface="Arial"/>
              </a:rPr>
              <a:t>ownership and affected tests</a:t>
            </a:r>
            <a:endParaRPr/>
          </a:p>
        </p:txBody>
      </p:sp>
      <p:sp>
        <p:nvSpPr>
          <p:cNvPr id="221" name="Google Shape;221;p9"/>
          <p:cNvSpPr/>
          <p:nvPr/>
        </p:nvSpPr>
        <p:spPr>
          <a:xfrm>
            <a:off x="619125" y="6057900"/>
            <a:ext cx="9858375" cy="438150"/>
          </a:xfrm>
          <a:prstGeom prst="rect">
            <a:avLst/>
          </a:prstGeom>
          <a:noFill/>
          <a:ln>
            <a:noFill/>
          </a:ln>
        </p:spPr>
        <p:txBody>
          <a:bodyPr anchorCtr="0" anchor="ctr" bIns="47625" lIns="66675" spcFirstLastPara="1" rIns="66675" wrap="square" tIns="47625">
            <a:noAutofit/>
          </a:bodyPr>
          <a:lstStyle/>
          <a:p>
            <a:pPr indent="0" lvl="0" marL="0" marR="0" rtl="0" algn="l">
              <a:spcBef>
                <a:spcPts val="0"/>
              </a:spcBef>
              <a:spcAft>
                <a:spcPts val="0"/>
              </a:spcAft>
              <a:buClr>
                <a:srgbClr val="536472"/>
              </a:buClr>
              <a:buSzPts val="1425"/>
              <a:buFont typeface="Arial"/>
              <a:buNone/>
            </a:pPr>
            <a:r>
              <a:rPr b="0" lang="en-US" sz="1425">
                <a:solidFill>
                  <a:srgbClr val="536472"/>
                </a:solidFill>
                <a:latin typeface="Arial"/>
                <a:ea typeface="Arial"/>
                <a:cs typeface="Arial"/>
                <a:sym typeface="Arial"/>
              </a:rPr>
              <a:t>AI assisted preparation. Runtime verification and joint acceptance require separate evidence.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