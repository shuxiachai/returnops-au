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47a6ed25ad457e" /><Relationship Type="http://schemas.openxmlformats.org/officeDocument/2006/relationships/extended-properties" Target="/docProps/app.xml" Id="R5b40e49c8f4c4707" /><Relationship Type="http://schemas.openxmlformats.org/officeDocument/2006/relationships/officeDocument" Target="/ppt/presentation.xml" Id="R530119b1098e4afc" /></Relationships>
</file>

<file path=ppt/presentation.xml><?xml version="1.0" encoding="utf-8"?>
<p:presentation xmlns:p="http://schemas.openxmlformats.org/presentationml/2006/main">
  <p:sldMasterIdLst>
    <p:sldMasterId xmlns:r="http://schemas.openxmlformats.org/officeDocument/2006/relationships" id="2147483648" r:id="Rf3b30d60994f476d"/>
  </p:sldMasterIdLst>
  <p:notesMasterIdLst>
    <p:notesMasterId xmlns:r="http://schemas.openxmlformats.org/officeDocument/2006/relationships" r:id="Raaf8e3d6b02e44bf"/>
  </p:notesMasterIdLst>
  <p:sldIdLst>
    <p:sldId xmlns:r="http://schemas.openxmlformats.org/officeDocument/2006/relationships" id="256" r:id="R94880ee74f374fa2"/>
    <p:sldId xmlns:r="http://schemas.openxmlformats.org/officeDocument/2006/relationships" id="257" r:id="R02db03b3784c4cee"/>
    <p:sldId xmlns:r="http://schemas.openxmlformats.org/officeDocument/2006/relationships" id="258" r:id="R48da87e3f41c43e4"/>
    <p:sldId xmlns:r="http://schemas.openxmlformats.org/officeDocument/2006/relationships" id="259" r:id="R7af322e863dd4c31"/>
    <p:sldId xmlns:r="http://schemas.openxmlformats.org/officeDocument/2006/relationships" id="260" r:id="R651051a867004b23"/>
    <p:sldId xmlns:r="http://schemas.openxmlformats.org/officeDocument/2006/relationships" id="261" r:id="R751c5c4649754203"/>
    <p:sldId xmlns:r="http://schemas.openxmlformats.org/officeDocument/2006/relationships" id="262" r:id="R672a5df582654f97"/>
    <p:sldId xmlns:r="http://schemas.openxmlformats.org/officeDocument/2006/relationships" id="263" r:id="Rf2f2c869b2be4668"/>
    <p:sldId xmlns:r="http://schemas.openxmlformats.org/officeDocument/2006/relationships" id="264" r:id="R831249ae3e9446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eff4011b7449f9" /><Relationship Type="http://schemas.openxmlformats.org/officeDocument/2006/relationships/slideMaster" Target="/ppt/slideMasters/slideMaster1.xml" Id="Rf3b30d60994f476d" /><Relationship Type="http://schemas.openxmlformats.org/officeDocument/2006/relationships/notesMaster" Target="/ppt/notesMasters/notesMaster1.xml" Id="Raaf8e3d6b02e44bf" /><Relationship Type="http://schemas.openxmlformats.org/officeDocument/2006/relationships/presProps" Target="/ppt/presProps.xml" Id="R69ed7408c76d4523" /><Relationship Type="http://schemas.openxmlformats.org/officeDocument/2006/relationships/tableStyles" Target="/ppt/tableStyles.xml" Id="Rdf533f2cc4314b70" /><Relationship Type="http://schemas.openxmlformats.org/officeDocument/2006/relationships/slide" Target="/ppt/slides/slide1.xml" Id="R94880ee74f374fa2" /><Relationship Type="http://schemas.openxmlformats.org/officeDocument/2006/relationships/slide" Target="/ppt/slides/slide2.xml" Id="R02db03b3784c4cee" /><Relationship Type="http://schemas.openxmlformats.org/officeDocument/2006/relationships/slide" Target="/ppt/slides/slide3.xml" Id="R48da87e3f41c43e4" /><Relationship Type="http://schemas.openxmlformats.org/officeDocument/2006/relationships/slide" Target="/ppt/slides/slide4.xml" Id="R7af322e863dd4c31" /><Relationship Type="http://schemas.openxmlformats.org/officeDocument/2006/relationships/slide" Target="/ppt/slides/slide5.xml" Id="R651051a867004b23" /><Relationship Type="http://schemas.openxmlformats.org/officeDocument/2006/relationships/slide" Target="/ppt/slides/slide6.xml" Id="R751c5c4649754203" /><Relationship Type="http://schemas.openxmlformats.org/officeDocument/2006/relationships/slide" Target="/ppt/slides/slide7.xml" Id="R672a5df582654f97" /><Relationship Type="http://schemas.openxmlformats.org/officeDocument/2006/relationships/slide" Target="/ppt/slides/slide8.xml" Id="Rf2f2c869b2be4668" /><Relationship Type="http://schemas.openxmlformats.org/officeDocument/2006/relationships/slide" Target="/ppt/slides/slide9.xml" Id="R831249ae3e9446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141d6785704e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fc6cedf3854886" /><Relationship Type="http://schemas.openxmlformats.org/officeDocument/2006/relationships/notesMaster" Target="/ppt/notesMasters/notesMaster1.xml" Id="Rb34402369337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740c72b28641cb" /><Relationship Type="http://schemas.openxmlformats.org/officeDocument/2006/relationships/notesMaster" Target="/ppt/notesMasters/notesMaster1.xml" Id="Rb3e2dfcb813e44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7804500e404d91" /><Relationship Type="http://schemas.openxmlformats.org/officeDocument/2006/relationships/notesMaster" Target="/ppt/notesMasters/notesMaster1.xml" Id="Re97d4291db274c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2103208b60417d" /><Relationship Type="http://schemas.openxmlformats.org/officeDocument/2006/relationships/notesMaster" Target="/ppt/notesMasters/notesMaster1.xml" Id="Rc09db49c393342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e375eebbe64d39" /><Relationship Type="http://schemas.openxmlformats.org/officeDocument/2006/relationships/notesMaster" Target="/ppt/notesMasters/notesMaster1.xml" Id="R0dda5c1660ed46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6b72b3f11c485e" /><Relationship Type="http://schemas.openxmlformats.org/officeDocument/2006/relationships/notesMaster" Target="/ppt/notesMasters/notesMaster1.xml" Id="R44b1a852bcbb49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3d57344c7348a1" /><Relationship Type="http://schemas.openxmlformats.org/officeDocument/2006/relationships/notesMaster" Target="/ppt/notesMasters/notesMaster1.xml" Id="Rea0de0bc42e94f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61b79ed12d4c99" /><Relationship Type="http://schemas.openxmlformats.org/officeDocument/2006/relationships/notesMaster" Target="/ppt/notesMasters/notesMaster1.xml" Id="Rccf4f434b5684c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459a0a2f514385" /><Relationship Type="http://schemas.openxmlformats.org/officeDocument/2006/relationships/notesMaster" Target="/ppt/notesMasters/notesMaster1.xml" Id="R5534733a40f94e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0:00–0:35</a:t>
            </a:r>
          </a:p>
          <a:p xmlns:a="http://schemas.openxmlformats.org/drawingml/2006/main">
            <a:r>
              <a:t/>
            </a:r>
          </a:p>
          <a:p xmlns:a="http://schemas.openxmlformats.org/drawingml/2006/main">
            <a:r>
              <a:t>ReturnOps AU is our proposed returns system for one Australian online store. Consider a synthetic example: a customer receives a desk lamp with a cracked base and requests a return. The Founder needs the original complaint, purchase evidence and relevant guidance before deciding. Our design prepares a traceable recommendation, then requires human approval for a simulated return and parcel label. This example illustrates the design without claiming a legal entitlement.</a:t>
            </a:r>
          </a:p>
          <a:p xmlns:a="http://schemas.openxmlformats.org/drawingml/2006/main">
            <a:r>
              <a:t/>
            </a:r>
          </a:p>
          <a:p xmlns:a="http://schemas.openxmlformats.org/drawingml/2006/main">
            <a:r>
              <a:t>Chinese guide</a:t>
            </a:r>
          </a:p>
          <a:p xmlns:a="http://schemas.openxmlformats.org/drawingml/2006/main">
            <a:r>
              <a:t>A 先用台灯破损案例说明业务问题，再指出系统帮助 Founder 做有依据的决定。台灯是报告中的合成示例，不是已运行的系统演示或真实消费者案例。</a:t>
            </a:r>
          </a:p>
          <a:p xmlns:a="http://schemas.openxmlformats.org/drawingml/2006/main">
            <a:r>
              <a:t/>
            </a:r>
          </a:p>
          <a:p xmlns:a="http://schemas.openxmlformats.org/drawingml/2006/main">
            <a:r>
              <a:t>Visual cue</a:t>
            </a:r>
          </a:p>
          <a:p xmlns:a="http://schemas.openxmlformats.org/drawingml/2006/main">
            <a:r>
              <a:t>本页是纯文字封面。口头引入合成台灯案例，画面停留在项目标题、one store、three AI roles 和 human approval 文字；本页没有台灯图片或业务流程图。</a:t>
            </a:r>
          </a:p>
          <a:p xmlns:a="http://schemas.openxmlformats.org/drawingml/2006/main">
            <a:r>
              <a:t/>
            </a:r>
          </a:p>
          <a:p xmlns:a="http://schemas.openxmlformats.org/drawingml/2006/main">
            <a:r>
              <a:t>Source: report v0.3, Sections 1–2. Illustration refers to a hypothetical desk-lamp case. No measured result.</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0:35–1:15</a:t>
            </a:r>
          </a:p>
          <a:p xmlns:a="http://schemas.openxmlformats.org/drawingml/2006/main">
            <a:r>
              <a:t/>
            </a:r>
          </a:p>
          <a:p xmlns:a="http://schemas.openxmlformats.org/drawingml/2006/main">
            <a:r>
              <a:t>The requirements cover intake, evidence preservation, grounded assessment, independent review and controlled execution. Traceability and human control shape every step. Each member owns two core features and one selected optional. A covers lifecycle and execution, with a logistics test adapter. B covers intake and Founder review, with analytics. C covers retrieval and risk review, with image observations. These options remain commitments, although A still lacks logistics test access. Real refunds, physical inspection and inventory restocking stay outside the core.</a:t>
            </a:r>
          </a:p>
          <a:p xmlns:a="http://schemas.openxmlformats.org/drawingml/2006/main">
            <a:r>
              <a:t/>
            </a:r>
          </a:p>
          <a:p xmlns:a="http://schemas.openxmlformats.org/drawingml/2006/main">
            <a:r>
              <a:t>Chinese guide</a:t>
            </a:r>
          </a:p>
          <a:p xmlns:a="http://schemas.openxmlformats.org/drawingml/2006/main">
            <a:r>
              <a:t>B 指分工表中的核心能力和三个已经选中的 optional，表格是原报告 Feature 内容的摘要。Optional 是产品族中的可变选择，但本组已选的三项仍是课程承诺，不能说成随时可不做。物流测试接入尚有外部依赖，真实退款和实物仓储不属于核心交付。</a:t>
            </a:r>
          </a:p>
          <a:p xmlns:a="http://schemas.openxmlformats.org/drawingml/2006/main">
            <a:r>
              <a:t/>
            </a:r>
          </a:p>
          <a:p xmlns:a="http://schemas.openxmlformats.org/drawingml/2006/main">
            <a:r>
              <a:t>Visual cue</a:t>
            </a:r>
          </a:p>
          <a:p xmlns:a="http://schemas.openxmlformats.org/drawingml/2006/main">
            <a:r>
              <a:t>画面是依据报告 requirements/Feature 内容整理的原生可编辑分工表，不是 Figure 2 整图。按 A/B/C 三行指两项 core 与 selected extension，再指下方 quality constraints 和 outside the core；保留 A3 access unresolved。</a:t>
            </a:r>
          </a:p>
          <a:p xmlns:a="http://schemas.openxmlformats.org/drawingml/2006/main">
            <a:r>
              <a:t/>
            </a:r>
          </a:p>
          <a:p xmlns:a="http://schemas.openxmlformats.org/drawingml/2006/main">
            <a:r>
              <a:t>Source: report v0.3, Section 3 and Figure 2. Selected optional features remain commitments. A3 access is unresolved.</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1:15–2:05</a:t>
            </a:r>
          </a:p>
          <a:p xmlns:a="http://schemas.openxmlformats.org/drawingml/2006/main">
            <a:r>
              <a:t/>
            </a:r>
          </a:p>
          <a:p xmlns:a="http://schemas.openxmlformats.org/drawingml/2006/main">
            <a:r>
              <a:t>Three AI roles support the Founder. The Coordinator extracts facts and requests missing information. Assessment combines those facts with order evidence and retrieved sources to propose an action. Risk examines the accepted evidence in a separate invocation. An orchestrator coordinates these calls. Domain validates their outputs and owns authoritative state and business audit. Only the Founder can approve an eligible proposal with an exact action scope. Operations then checks that authority before calling a mock provider. Operations follows deterministic rules, so it adds no fourth AI role. The browser presents server facts and submits user intent.</a:t>
            </a:r>
          </a:p>
          <a:p xmlns:a="http://schemas.openxmlformats.org/drawingml/2006/main">
            <a:r>
              <a:t/>
            </a:r>
          </a:p>
          <a:p xmlns:a="http://schemas.openxmlformats.org/drawingml/2006/main">
            <a:r>
              <a:t>Chinese guide</a:t>
            </a:r>
          </a:p>
          <a:p xmlns:a="http://schemas.openxmlformats.org/drawingml/2006/main">
            <a:r>
              <a:t>A 按消息方向介绍三个 AI 角色，再把注意力转向 Domain 的权威写入边界。指出 Founder 决定和 Operations 执行与 AI 生成建议分开，Operations 不是第四个 AI。图中的结构部件也不意味着每个都要部署成一个微服务。</a:t>
            </a:r>
          </a:p>
          <a:p xmlns:a="http://schemas.openxmlformats.org/drawingml/2006/main">
            <a:r>
              <a:t/>
            </a:r>
          </a:p>
          <a:p xmlns:a="http://schemas.openxmlformats.org/drawingml/2006/main">
            <a:r>
              <a:t>Visual cue</a:t>
            </a:r>
          </a:p>
          <a:p xmlns:a="http://schemas.openxmlformats.org/drawingml/2006/main">
            <a:r>
              <a:t>本页是原生可编辑架构摘要，非 Figures 9–11 的原图。先指上排三个AI角色，再指 bounded orchestrator、Domain、Founder、Operations 和 PostgreSQL；连线表达概念依赖，实际独立调用由 orchestrator 使用 Domain 已接受的材料完成。</a:t>
            </a:r>
          </a:p>
          <a:p xmlns:a="http://schemas.openxmlformats.org/drawingml/2006/main">
            <a:r>
              <a:t/>
            </a:r>
          </a:p>
          <a:p xmlns:a="http://schemas.openxmlformats.org/drawingml/2006/main">
            <a:r>
              <a:t>Source: report v0.3, Section 5 and Figures 8–11. Schematic abbreviates the invocation path. The orchestrator invokes Risk using Domain-accepted evidence. Domain alone commits business state. Connections are conceptual, not new APIs.</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2:05–2:50</a:t>
            </a:r>
          </a:p>
          <a:p xmlns:a="http://schemas.openxmlformats.org/drawingml/2006/main">
            <a:r>
              <a:t/>
            </a:r>
          </a:p>
          <a:p xmlns:a="http://schemas.openxmlformats.org/drawingml/2006/main">
            <a:r>
              <a:t>Our six use cases connect the customer journey to governed operations. In the lamp example, UC zero one records the original request. UC zero one E collects the missing order reference through current authorised questions. UC zero two prepares the evidence and review. The Founder inspects the exact proposed scope in UC zero three. With valid approval, UC zero four creates the simulated return, then its label, and sends the outcome. UC zero five provides authorised state and history. Missing information and blocking conflicts follow explicit alternatives rather than automatic approval.</a:t>
            </a:r>
          </a:p>
          <a:p xmlns:a="http://schemas.openxmlformats.org/drawingml/2006/main">
            <a:r>
              <a:t/>
            </a:r>
          </a:p>
          <a:p xmlns:a="http://schemas.openxmlformats.org/drawingml/2006/main">
            <a:r>
              <a:t>Chinese guide</a:t>
            </a:r>
          </a:p>
          <a:p xmlns:a="http://schemas.openxmlformats.org/drawingml/2006/main">
            <a:r>
              <a:t>B 沿六个方框的 UC journey 摘要走完台灯案例，不把本页当成原报告正式总体 UC 整图。强调 UC-01E 只能回答当前授权问题，UC-03 的 Founder 决定与 UC-04 执行不同。UC-05 是只读的状态与历史查看，不会因浏览记录而批准。</a:t>
            </a:r>
          </a:p>
          <a:p xmlns:a="http://schemas.openxmlformats.org/drawingml/2006/main">
            <a:r>
              <a:t/>
            </a:r>
          </a:p>
          <a:p xmlns:a="http://schemas.openxmlformats.org/drawingml/2006/main">
            <a:r>
              <a:t>Visual cue</a:t>
            </a:r>
          </a:p>
          <a:p xmlns:a="http://schemas.openxmlformats.org/drawingml/2006/main">
            <a:r>
              <a:t>沿当前可编辑 UC journey 的六个方框讲台灯路径，不把它说成 Figure 3 的正式 overall Use-case 整图。依次指 UC-01、补信息 UC-01E、UC-02、UC-03 和 UC-04；UC-05 作为只读查看侧路，连线不赋予批准权。</a:t>
            </a:r>
          </a:p>
          <a:p xmlns:a="http://schemas.openxmlformats.org/drawingml/2006/main">
            <a:r>
              <a:t/>
            </a:r>
          </a:p>
          <a:p xmlns:a="http://schemas.openxmlformats.org/drawingml/2006/main">
            <a:r>
              <a:t>Source: report v0.3, Section 4 and Figure 3. This is an illustrative journey, not a replacement for the formal overall use-case diagram. UC05 is a read view, not a step granting authority.</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2:50–3:40</a:t>
            </a:r>
          </a:p>
          <a:p xmlns:a="http://schemas.openxmlformats.org/drawingml/2006/main">
            <a:r>
              <a:t/>
            </a:r>
          </a:p>
          <a:p xmlns:a="http://schemas.openxmlformats.org/drawingml/2006/main">
            <a:r>
              <a:t>My assigned modelling chain starts with AH zero one: preserve the customer's original request through a usable interface. UC zero one leads into the Activity and Sequence views. Only freshly accepted input starts processing. If the response disappears, the client reuses the same request identity and unchanged body, while the server checks current access. Replay creates no new work. The state model follows a durable IntakeSession owned by the case. Closing the browser leaves it intact. Further clarification requires current questions and a legal Domain transition. An accepted request alone does not mean a completed return.</a:t>
            </a:r>
          </a:p>
          <a:p xmlns:a="http://schemas.openxmlformats.org/drawingml/2006/main">
            <a:r>
              <a:t/>
            </a:r>
          </a:p>
          <a:p xmlns:a="http://schemas.openxmlformats.org/drawingml/2006/main">
            <a:r>
              <a:t>Chinese guide</a:t>
            </a:r>
          </a:p>
          <a:p xmlns:a="http://schemas.openxmlformats.org/drawingml/2006/main">
            <a:r>
              <a:t>B 将 AH-01、UC-01 与自己的三类行为模型串起来，本页画面只显示请求与重放的 Sequence 局部。指 stable key 和 no new work，口头说明原报告中的 admission 与 processing 是两个独立交互。底部 State 提示的主体是持久 IntakeSession，不能把浏览器关闭或 Activity 的 stop 当作案件结束。</a:t>
            </a:r>
          </a:p>
          <a:p xmlns:a="http://schemas.openxmlformats.org/drawingml/2006/main">
            <a:r>
              <a:t/>
            </a:r>
          </a:p>
          <a:p xmlns:a="http://schemas.openxmlformats.org/drawingml/2006/main">
            <a:r>
              <a:t>Visual cue</a:t>
            </a:r>
          </a:p>
          <a:p xmlns:a="http://schemas.openxmlformats.org/drawingml/2006/main">
            <a:r>
              <a:t>屏幕仅展示 Customer/Portal/Domain 的请求与重放 Sequence 摘要。按 stable key、accepted reference/error、replay 三个消息指图，再指右侧 current access/no new work 和底部 Activity/State 文字提示；完整 Activity、两个独立 Sequence 和 IntakeSession State 在报告 Figures 17–20，本页没有展示其全部图形。</a:t>
            </a:r>
          </a:p>
          <a:p xmlns:a="http://schemas.openxmlformats.org/drawingml/2006/main">
            <a:r>
              <a:t/>
            </a:r>
          </a:p>
          <a:p xmlns:a="http://schemas.openxmlformats.org/drawingml/2006/main">
            <a:r>
              <a:t>Source: report v0.3, Section 7 and Figures 17–20. Sequence excerpt omits clarification and removed-receipt branches. Consult full report. COMPLETE is a quiescent intake state, not a completed return.</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3:40–4:40</a:t>
            </a:r>
          </a:p>
          <a:p xmlns:a="http://schemas.openxmlformats.org/drawingml/2006/main">
            <a:r>
              <a:t/>
            </a:r>
          </a:p>
          <a:p xmlns:a="http://schemas.openxmlformats.org/drawingml/2006/main">
            <a:r>
              <a:t>My assigned chain starts with AH zero eight and UC zero two: expose material source conflicts. The Activity separates citation checks from independent review. A citation may resolve correctly yet fail to support a claim. The report's Sequence supplies Risk with Domain-accepted evidence, including both conflicting sources. Its five outcomes are PASS, PASS WITH WARNING, REVISE, NEEDS INFORMATION and ESCALATE. A blocking conflict requires escalation, preventing approval of that proposal. Technical errors follow separate failure handling. The State model tracks seven internal work phases. Retirement preserves the old result, while identity guards prevent stale events from changing replacement work. Even a current PASS still needs the Founder's exact approval.</a:t>
            </a:r>
          </a:p>
          <a:p xmlns:a="http://schemas.openxmlformats.org/drawingml/2006/main">
            <a:r>
              <a:t/>
            </a:r>
          </a:p>
          <a:p xmlns:a="http://schemas.openxmlformats.org/drawingml/2006/main">
            <a:r>
              <a:t>Chinese guide</a:t>
            </a:r>
          </a:p>
          <a:p xmlns:a="http://schemas.openxmlformats.org/drawingml/2006/main">
            <a:r>
              <a:t>C 指当前活动摘要中 C1 校验引用、Domain 接受完整材料及 C2 独立审查，再依次指五个 outcome 框。原报告 Sequence 和 State 的完整图未在本页展示，相关独立调用、旧事件保护与 retirement 规则用口头引用说明。五种 outcome 与七个内部工作阶段必须分开，技术错误不能自动伪装成 ESCALATE 或 PASS，也不声称已证明并发实现。</a:t>
            </a:r>
          </a:p>
          <a:p xmlns:a="http://schemas.openxmlformats.org/drawingml/2006/main">
            <a:r>
              <a:t/>
            </a:r>
          </a:p>
          <a:p xmlns:a="http://schemas.openxmlformats.org/drawingml/2006/main">
            <a:r>
              <a:t>Visual cue</a:t>
            </a:r>
          </a:p>
          <a:p xmlns:a="http://schemas.openxmlformats.org/drawingml/2006/main">
            <a:r>
              <a:t>屏幕是 C 的原生可编辑 routing/Activity 摘要。依次指顶部 C1、Domain 接受完整材料、C2 与 Domain 验证，再指五个独立的 outcome 分流框（PASS、PASS_WITH_WARNING、REVISE、NEEDS_INFORMATION、ESCALATE）；讲技术错误和七阶段区别时指底部文字。Sequence、State 与 retirement 细节是对报告 Figures 22–23 的口头引用，本页未展示其完整图形，不做不存在的指图动作。</a:t>
            </a:r>
          </a:p>
          <a:p xmlns:a="http://schemas.openxmlformats.org/drawingml/2006/main">
            <a:r>
              <a:t/>
            </a:r>
          </a:p>
          <a:p xmlns:a="http://schemas.openxmlformats.org/drawingml/2006/main">
            <a:r>
              <a:t>Source: report v0.3, Section 8 and Figures 21A–B, 22–23, including the 21 September clarification. Only a current Domain-accepted result enters the five displayed outcome routes. Spaces in PASS WITH WARNING / NEEDS INFORMATION are display labels for enum underscores. Technical failure/staleness are separate. The last allowed REVISE follow-up preserves REVISE and its current proposal when exhausted. No fabricated ESCALATE or ProcessingFailure.</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4:40–5:40</a:t>
            </a:r>
          </a:p>
          <a:p xmlns:a="http://schemas.openxmlformats.org/drawingml/2006/main">
            <a:r>
              <a:t/>
            </a:r>
          </a:p>
          <a:p xmlns:a="http://schemas.openxmlformats.org/drawingml/2006/main">
            <a:r>
              <a:t>My assigned chain starts with AH ten: execute only the approved action without duplicate effects. UC zero three records the Founder's exact approval. UC zero four then records durable intent and checks current authority before each provider call. The Activity creates a return before its label. Our report's Sequence explains why timeouts cannot justify another provider effect. In the state model, UNKNOWN means uncertainty and requires reconciliation using the original identity. If label success is already known but its file is unavailable, only artifact recovery continues. Finally, notification has separate work and state. Retrying a failed notification leaves the successful return and label unchanged. These safeguards require implementation and failure tests.</a:t>
            </a:r>
          </a:p>
          <a:p xmlns:a="http://schemas.openxmlformats.org/drawingml/2006/main">
            <a:r>
              <a:t/>
            </a:r>
          </a:p>
          <a:p xmlns:a="http://schemas.openxmlformats.org/drawingml/2006/main">
            <a:r>
              <a:t>Chinese guide</a:t>
            </a:r>
          </a:p>
          <a:p xmlns:a="http://schemas.openxmlformats.org/drawingml/2006/main">
            <a:r>
              <a:t>A 指当前 OperationAttempt 部分状态投影，口头衔接原报告 Activity 和 Sequence 的批准/派发与恢复规则。UNKNOWN 代表效果不明，需要查询原身份；已知 label 成功但文件未保存则是 EXECUTING 下的 artifact-only recovery。通知失败只重试通知，不再次创建 return/label，模型规则尚需运行证据验证。</a:t>
            </a:r>
          </a:p>
          <a:p xmlns:a="http://schemas.openxmlformats.org/drawingml/2006/main">
            <a:r>
              <a:t/>
            </a:r>
          </a:p>
          <a:p xmlns:a="http://schemas.openxmlformats.org/drawingml/2006/main">
            <a:r>
              <a:t>Visual cue</a:t>
            </a:r>
          </a:p>
          <a:p xmlns:a="http://schemas.openxmlformats.org/drawingml/2006/main">
            <a:r>
              <a:t>屏幕只显示 OperationAttempt 的部分 state 投影：PENDING、EXECUTING、SUCCEEDED、UNKNOWN、RECONCILING 和 BLOCKED 提示，并非全部七状态/转移。先指 final guards，再指 UNKNOWN 到 RECONCILING 和 original identity，最后指底部 artifact recovery 与 notification-only retry 两行。Activity/Sequence 的 return-before-label 与恢复依据是对报告 Figures 13–15 的口头引用，本页未展示其整图。</a:t>
            </a:r>
          </a:p>
          <a:p xmlns:a="http://schemas.openxmlformats.org/drawingml/2006/main">
            <a:r>
              <a:t/>
            </a:r>
          </a:p>
          <a:p xmlns:a="http://schemas.openxmlformats.org/drawingml/2006/main">
            <a:r>
              <a:t>Source: report v0.3, Section 6 and Figures 13–16. Partial state projection. Conclusive no-effect evidence leads to FAILED; inconclusive reconciliation can return to UNKNOWN. Known label success with incomplete artifact storage stays EXECUTING. This slide does not show every state/transition.</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5:40–6:30</a:t>
            </a:r>
          </a:p>
          <a:p xmlns:a="http://schemas.openxmlformats.org/drawingml/2006/main">
            <a:r>
              <a:t/>
            </a:r>
          </a:p>
          <a:p xmlns:a="http://schemas.openxmlformats.org/drawingml/2006/main">
            <a:r>
              <a:t>The shared Class views define records and relationships: a case preserves statements, proposals and their exact reviews. A decision targets one eligible record, and only valid approval creates execution authority. The report's runtime views show collaborating parts and typed ports, with Domain controlling business writes. Our Object diagram answers a different question: what exists at one selected moment? Here, named synthetic instances connect one proposal to two conflicting passages and an ESCALATE review. The Founder has made no decision. This snapshot supports discussion of shared structure. It supplies neither runtime evidence nor proof of each member's contribution.</a:t>
            </a:r>
          </a:p>
          <a:p xmlns:a="http://schemas.openxmlformats.org/drawingml/2006/main">
            <a:r>
              <a:t/>
            </a:r>
          </a:p>
          <a:p xmlns:a="http://schemas.openxmlformats.org/drawingml/2006/main">
            <a:r>
              <a:t>Chinese guide</a:t>
            </a:r>
          </a:p>
          <a:p xmlns:a="http://schemas.openxmlformats.org/drawingml/2006/main">
            <a:r>
              <a:t>C 先指左侧 Class fragment 的类型/关联，再指右侧具名对象和冲突来源，Composite 的角色/端口仅口头引用原报告。Object 选的是收到阻断性审查、Founder 尚未决定的合成时刻，不能画出或讲成已经批准执行。共享图的主责、本人参与和真实整合证据仍应分别记录。</a:t>
            </a:r>
          </a:p>
          <a:p xmlns:a="http://schemas.openxmlformats.org/drawingml/2006/main">
            <a:r>
              <a:t/>
            </a:r>
          </a:p>
          <a:p xmlns:a="http://schemas.openxmlformats.org/drawingml/2006/main">
            <a:r>
              <a:t>Visual cue</a:t>
            </a:r>
          </a:p>
          <a:p xmlns:a="http://schemas.openxmlformats.org/drawingml/2006/main">
            <a:r>
              <a:t>屏幕左侧是 ReturnCase/DecisionPacket 的原生可编辑 Class fragment，右侧是 Figure 24 的 synthetic object 摘要。先指左侧类型关系，再指右侧 case02、packet02、review02 及同页补入的两个冲突来源节点；说明这是某一设计时刻的选定 slots/links。Runtime parts/ports 仅口头引用报告 Figures 9–11，本页没有 Composite 整图，也不是运行截图。</a:t>
            </a:r>
          </a:p>
          <a:p xmlns:a="http://schemas.openxmlformats.org/drawingml/2006/main">
            <a:r>
              <a:t/>
            </a:r>
          </a:p>
          <a:p xmlns:a="http://schemas.openxmlformats.org/drawingml/2006/main">
            <a:r>
              <a:t>Source: report v0.3, Sections 5 and 8, Figures 5–8 and 24. Selected attributes and links only. The 21 September report clarification normalises Figure 6 to proposal_version. ProposalReview conceptual result maps to RiskReview wire DTO. This synthetic snapshot is not Gold data or execution evidence.</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 C  6:30–7:30</a:t>
            </a:r>
          </a:p>
          <a:p xmlns:a="http://schemas.openxmlformats.org/drawingml/2006/main">
            <a:r>
              <a:t/>
            </a:r>
          </a:p>
          <a:p xmlns:a="http://schemas.openxmlformats.org/drawingml/2006/main">
            <a:r>
              <a:t>A: We selected a modular application with PostgreSQL to keep authoritative state and audit together. Microservices would add distributed coordination beyond this prototype's needs. We also rejected an unrestricted prompt with tool authority. Separate review adds cost and latency, but gives evidence and authority explicit boundaries.</a:t>
            </a:r>
          </a:p>
          <a:p xmlns:a="http://schemas.openxmlformats.org/drawingml/2006/main">
            <a:r>
              <a:t/>
            </a:r>
          </a:p>
          <a:p xmlns:a="http://schemas.openxmlformats.org/drawingml/2006/main">
            <a:r>
              <a:t>C: We assess changes against requirements, affected models, compatibility, safety and verification. Scope or ownership changes need an explicit decision. The report presents a design for team review. Recorded environment tests support infrastructure only. Business implementation, joint acceptance and measured evaluation remain separate work. Each member must explain their models, confirm actual contributions and check the final submission. AI assistance is acknowledged in our materials.</a:t>
            </a:r>
          </a:p>
          <a:p xmlns:a="http://schemas.openxmlformats.org/drawingml/2006/main">
            <a:r>
              <a:t/>
            </a:r>
          </a:p>
          <a:p xmlns:a="http://schemas.openxmlformats.org/drawingml/2006/main">
            <a:r>
              <a:t>Chinese guide</a:t>
            </a:r>
          </a:p>
          <a:p xmlns:a="http://schemas.openxmlformats.org/drawingml/2006/main">
            <a:r>
              <a:t>A 讲 modular 与 microservices 的取舍，以及为什么不用带无限制工具权限的单一 prompt。C 接着讲 change criteria 与验收边界：环境测试不是业务完成或模型本人验收，不能宣称已有性能提升。录制前各成员应核实自己的贡献与 AI 使用声明，最终提交回执另行保存。</a:t>
            </a:r>
          </a:p>
          <a:p xmlns:a="http://schemas.openxmlformats.org/drawingml/2006/main">
            <a:r>
              <a:t/>
            </a:r>
          </a:p>
          <a:p xmlns:a="http://schemas.openxmlformats.org/drawingml/2006/main">
            <a:r>
              <a:t>Visual cue</a:t>
            </a:r>
          </a:p>
          <a:p xmlns:a="http://schemas.openxmlformats.org/drawingml/2006/main">
            <a:r>
              <a:t>当前画面为两栏文字取舍。6:30–6:56由 A 指左栏 Selected design，讲 modular/PostgreSQL、microservices deferred 与 unrestricted tool authority；6:56–7:30由 C 指右栏 Acceptance and change，再指底部 AI disclosure。这里只总结已讲设计与剩余证据，不展示测试结果或课程提交成功画面。</a:t>
            </a:r>
          </a:p>
          <a:p xmlns:a="http://schemas.openxmlformats.org/drawingml/2006/main">
            <a:r>
              <a:t/>
            </a:r>
          </a:p>
          <a:p xmlns:a="http://schemas.openxmlformats.org/drawingml/2006/main">
            <a:r>
              <a:t>Source: report v0.3, Sections 9–12. Course Project Description p2 requires discarded choices and change/acceptance basis. A3 test access, joint acceptance and personal contribution confirmation remain unresolved. This video states design, not benchmark improvement.</a:t>
            </a:r>
          </a:p>
          <a:p xmlns:a="http://schemas.openxmlformats.org/drawingml/2006/main">
            <a:r>
              <a:t>https://docs.google.com/document/d/1xvGO8EA_yZwWj1It3UM7AKDFEoQjsj5eJJXbCz4bcnc/edit</a:t>
            </a:r>
          </a:p>
          <a:p xmlns:a="http://schemas.openxmlformats.org/drawingml/2006/main">
            <a:r>
              <a:t>Canvas video: https://canvas.sydney.edu.au/courses/74323/assignments/695833</a:t>
            </a:r>
          </a:p>
          <a:p xmlns:a="http://schemas.openxmlformats.org/drawingml/2006/main">
            <a:r>
              <a:t>AI-assisted preparation. Verify wording and acknowledge assistance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92d0cdda214c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655c34ebb841f9" /><Relationship Type="http://schemas.openxmlformats.org/officeDocument/2006/relationships/slideLayout" Target="/ppt/slideLayouts/slideLayout1.xml" Id="R3396ac01bb794c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96ac01bb794c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82d6d4fade4dd3" /><Relationship Type="http://schemas.openxmlformats.org/officeDocument/2006/relationships/notesSlide" Target="/ppt/notesSlides/notesSlide1.xml" Id="R7844040d47ef48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251d8935d84ed0" /><Relationship Type="http://schemas.openxmlformats.org/officeDocument/2006/relationships/notesSlide" Target="/ppt/notesSlides/notesSlide2.xml" Id="Rd1ed21c8855c45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1e9f2b73364d59" /><Relationship Type="http://schemas.openxmlformats.org/officeDocument/2006/relationships/notesSlide" Target="/ppt/notesSlides/notesSlide3.xml" Id="R6ec7513232c841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3f3ce8ab214b97" /><Relationship Type="http://schemas.openxmlformats.org/officeDocument/2006/relationships/notesSlide" Target="/ppt/notesSlides/notesSlide4.xml" Id="R260200bc2b1949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3518b0a3f34d51" /><Relationship Type="http://schemas.openxmlformats.org/officeDocument/2006/relationships/notesSlide" Target="/ppt/notesSlides/notesSlide5.xml" Id="R78407a414c8e4b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b974b984d0492b" /><Relationship Type="http://schemas.openxmlformats.org/officeDocument/2006/relationships/notesSlide" Target="/ppt/notesSlides/notesSlide6.xml" Id="R91305f52efe943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2b7da264d04ba0" /><Relationship Type="http://schemas.openxmlformats.org/officeDocument/2006/relationships/notesSlide" Target="/ppt/notesSlides/notesSlide7.xml" Id="Rc3bfc0613c564b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530d2b768243de" /><Relationship Type="http://schemas.openxmlformats.org/officeDocument/2006/relationships/notesSlide" Target="/ppt/notesSlides/notesSlide8.xml" Id="R1feffe7dca124c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523780f10b4c16" /><Relationship Type="http://schemas.openxmlformats.org/officeDocument/2006/relationships/notesSlide" Target="/ppt/notesSlides/notesSlide9.xml" Id="R4114749dcaf948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B2E56E4C-E80B-4ABC-A275-83FAFD311223}"/>
              </a:ext>
            </a:extLst>
          </p:cNvPr>
          <p:cNvSpPr>
            <a:spLocks xmlns:a="http://schemas.openxmlformats.org/drawingml/2006/main" noGrp="1"/>
          </p:cNvSpPr>
          <p:nvPr/>
        </p:nvSpPr>
        <p:spPr>
          <a:xfrm xmlns:a="http://schemas.openxmlformats.org/drawingml/2006/main">
            <a:off x="619125" y="10477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5700" b="1">
                <a:solidFill>
                  <a:srgbClr val="142C43"/>
                </a:solidFill>
                <a:latin typeface="Arial"/>
                <a:ea typeface="Arial"/>
                <a:cs typeface="Arial"/>
              </a:defRPr>
            </a:pPr>
            <a:r>
              <a:rPr sz="5700" b="1">
                <a:solidFill>
                  <a:srgbClr val="142C43"/>
                </a:solidFill>
                <a:latin typeface="Arial"/>
                <a:ea typeface="Arial"/>
                <a:cs typeface="Arial"/>
              </a:rPr>
              <a:t>ReturnOps AU</a:t>
            </a:r>
          </a:p>
        </p:txBody>
      </p:sp>
      <p:sp>
        <p:nvSpPr>
          <p:cNvPr id="2" name="text-2">
            <a:extLst xmlns:a="http://schemas.openxmlformats.org/drawingml/2006/main">
              <a:ext uri="{FF2B5EF4-FFF2-40B4-BE49-F238E27FC236}">
                <a16:creationId xmlns:a16="http://schemas.microsoft.com/office/drawing/2014/main" id="{34CCAE58-1F6E-4455-8464-FB2BDDB41A7C}"/>
              </a:ext>
            </a:extLst>
          </p:cNvPr>
          <p:cNvSpPr>
            <a:spLocks xmlns:a="http://schemas.openxmlformats.org/drawingml/2006/main" noGrp="1"/>
          </p:cNvSpPr>
          <p:nvPr/>
        </p:nvSpPr>
        <p:spPr>
          <a:xfrm xmlns:a="http://schemas.openxmlformats.org/drawingml/2006/main">
            <a:off x="666750" y="23050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850" b="0">
                <a:solidFill>
                  <a:srgbClr val="142C43"/>
                </a:solidFill>
                <a:latin typeface="Arial"/>
                <a:ea typeface="Arial"/>
                <a:cs typeface="Arial"/>
              </a:defRPr>
            </a:pPr>
            <a:r>
              <a:rPr sz="2850" b="0">
                <a:solidFill>
                  <a:srgbClr val="142C43"/>
                </a:solidFill>
                <a:latin typeface="Arial"/>
                <a:ea typeface="Arial"/>
                <a:cs typeface="Arial"/>
              </a:rPr>
              <a:t>Human-governed AI for returns operations</a:t>
            </a:r>
          </a:p>
        </p:txBody>
      </p:sp>
      <p:sp>
        <p:nvSpPr>
          <p:cNvPr id="3" name="text-3">
            <a:extLst xmlns:a="http://schemas.openxmlformats.org/drawingml/2006/main">
              <a:ext uri="{FF2B5EF4-FFF2-40B4-BE49-F238E27FC236}">
                <a16:creationId xmlns:a16="http://schemas.microsoft.com/office/drawing/2014/main" id="{F078410E-350D-44AF-80E3-6FA9FE9125EA}"/>
              </a:ext>
            </a:extLst>
          </p:cNvPr>
          <p:cNvSpPr>
            <a:spLocks xmlns:a="http://schemas.openxmlformats.org/drawingml/2006/main" noGrp="1"/>
          </p:cNvSpPr>
          <p:nvPr/>
        </p:nvSpPr>
        <p:spPr>
          <a:xfrm xmlns:a="http://schemas.openxmlformats.org/drawingml/2006/main">
            <a:off x="685800" y="3629025"/>
            <a:ext cx="9334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175" b="0">
                <a:solidFill>
                  <a:srgbClr val="127B78"/>
                </a:solidFill>
                <a:latin typeface="Arial"/>
                <a:ea typeface="Arial"/>
                <a:cs typeface="Arial"/>
              </a:defRPr>
            </a:pPr>
            <a:r>
              <a:rPr sz="2175" b="0">
                <a:solidFill>
                  <a:srgbClr val="127B78"/>
                </a:solidFill>
                <a:latin typeface="Arial"/>
                <a:ea typeface="Arial"/>
                <a:cs typeface="Arial"/>
              </a:rPr>
              <a:t>One Australian online store</a:t>
            </a:r>
          </a:p>
          <a:p xmlns:a="http://schemas.openxmlformats.org/drawingml/2006/main">
            <a:pPr algn="l">
              <a:defRPr sz="2175" b="0">
                <a:solidFill>
                  <a:srgbClr val="127B78"/>
                </a:solidFill>
                <a:latin typeface="Arial"/>
                <a:ea typeface="Arial"/>
                <a:cs typeface="Arial"/>
              </a:defRPr>
            </a:pPr>
            <a:r>
              <a:rPr sz="2175" b="0">
                <a:solidFill>
                  <a:srgbClr val="127B78"/>
                </a:solidFill>
                <a:latin typeface="Arial"/>
                <a:ea typeface="Arial"/>
                <a:cs typeface="Arial"/>
              </a:rPr>
              <a:t>Three AI business roles</a:t>
            </a:r>
          </a:p>
          <a:p xmlns:a="http://schemas.openxmlformats.org/drawingml/2006/main">
            <a:pPr algn="l">
              <a:defRPr sz="2175" b="0">
                <a:solidFill>
                  <a:srgbClr val="127B78"/>
                </a:solidFill>
                <a:latin typeface="Arial"/>
                <a:ea typeface="Arial"/>
                <a:cs typeface="Arial"/>
              </a:defRPr>
            </a:pPr>
            <a:r>
              <a:rPr sz="2175" b="0">
                <a:solidFill>
                  <a:srgbClr val="127B78"/>
                </a:solidFill>
                <a:latin typeface="Arial"/>
                <a:ea typeface="Arial"/>
                <a:cs typeface="Arial"/>
              </a:rPr>
              <a:t>Human approval before simulated actions</a:t>
            </a:r>
          </a:p>
        </p:txBody>
      </p:sp>
      <p:sp>
        <p:nvSpPr>
          <p:cNvPr id="4" name="text-4">
            <a:extLst xmlns:a="http://schemas.openxmlformats.org/drawingml/2006/main">
              <a:ext uri="{FF2B5EF4-FFF2-40B4-BE49-F238E27FC236}">
                <a16:creationId xmlns:a16="http://schemas.microsoft.com/office/drawing/2014/main" id="{315BE58D-5CE6-4513-882A-1C721E783A19}"/>
              </a:ext>
            </a:extLst>
          </p:cNvPr>
          <p:cNvSpPr>
            <a:spLocks xmlns:a="http://schemas.openxmlformats.org/drawingml/2006/main" noGrp="1"/>
          </p:cNvSpPr>
          <p:nvPr/>
        </p:nvSpPr>
        <p:spPr>
          <a:xfrm xmlns:a="http://schemas.openxmlformats.org/drawingml/2006/main">
            <a:off x="685800" y="56578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725" b="0">
                <a:solidFill>
                  <a:srgbClr val="536472"/>
                </a:solidFill>
                <a:latin typeface="Arial"/>
                <a:ea typeface="Arial"/>
                <a:cs typeface="Arial"/>
              </a:defRPr>
            </a:pPr>
            <a:r>
              <a:rPr sz="1725" b="0">
                <a:solidFill>
                  <a:srgbClr val="536472"/>
                </a:solidFill>
                <a:latin typeface="Arial"/>
                <a:ea typeface="Arial"/>
                <a:cs typeface="Arial"/>
              </a:rPr>
              <a:t>ELEC5620   Stage 1 requirements and design</a:t>
            </a:r>
          </a:p>
        </p:txBody>
      </p:sp>
      <p:sp>
        <p:nvSpPr>
          <p:cNvPr id="5" name="text-5">
            <a:extLst xmlns:a="http://schemas.openxmlformats.org/drawingml/2006/main">
              <a:ext uri="{FF2B5EF4-FFF2-40B4-BE49-F238E27FC236}">
                <a16:creationId xmlns:a16="http://schemas.microsoft.com/office/drawing/2014/main" id="{6A48CEFB-C099-4DB7-A5F5-27374CB54EE4}"/>
              </a:ext>
            </a:extLst>
          </p:cNvPr>
          <p:cNvSpPr>
            <a:spLocks xmlns:a="http://schemas.openxmlformats.org/drawingml/2006/main" noGrp="1"/>
          </p:cNvSpPr>
          <p:nvPr/>
        </p:nvSpPr>
        <p:spPr>
          <a:xfrm xmlns:a="http://schemas.openxmlformats.org/drawingml/2006/main">
            <a:off x="685800" y="60960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575" b="0">
                <a:solidFill>
                  <a:srgbClr val="536472"/>
                </a:solidFill>
                <a:latin typeface="Arial"/>
                <a:ea typeface="Arial"/>
                <a:cs typeface="Arial"/>
              </a:defRPr>
            </a:pPr>
            <a:r>
              <a:rPr sz="1575" b="0">
                <a:solidFill>
                  <a:srgbClr val="536472"/>
                </a:solidFill>
                <a:latin typeface="Arial"/>
                <a:ea typeface="Arial"/>
                <a:cs typeface="Arial"/>
              </a:rPr>
              <a:t>Jingbo Chai (A)     Chengsi Li (B)     Yuwei Tao (C)</a:t>
            </a:r>
          </a:p>
        </p:txBody>
      </p:sp>
    </p:spTree>
    <p:extLst>
      <p:ext uri="{BB962C8B-B14F-4D97-AF65-F5344CB8AC3E}">
        <p14:creationId xmlns:p14="http://schemas.microsoft.com/office/powerpoint/2010/main" val="17118595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6">
            <a:extLst xmlns:a="http://schemas.openxmlformats.org/drawingml/2006/main">
              <a:ext uri="{FF2B5EF4-FFF2-40B4-BE49-F238E27FC236}">
                <a16:creationId xmlns:a16="http://schemas.microsoft.com/office/drawing/2014/main" id="{B23DB462-4E87-4B31-BC66-EA30EF0B0DEF}"/>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Requirements and scope</a:t>
            </a:r>
          </a:p>
        </p:txBody>
      </p:sp>
      <p:sp>
        <p:nvSpPr>
          <p:cNvPr id="2" name="text-7">
            <a:extLst xmlns:a="http://schemas.openxmlformats.org/drawingml/2006/main">
              <a:ext uri="{FF2B5EF4-FFF2-40B4-BE49-F238E27FC236}">
                <a16:creationId xmlns:a16="http://schemas.microsoft.com/office/drawing/2014/main" id="{EA59C884-FCB8-441A-B335-7B376519C7F5}"/>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One store, synthetic data and an explicit approval boundary</a:t>
            </a:r>
          </a:p>
        </p:txBody>
      </p:sp>
      <p:sp>
        <p:nvSpPr>
          <p:cNvPr id="3" name="text-8">
            <a:extLst xmlns:a="http://schemas.openxmlformats.org/drawingml/2006/main">
              <a:ext uri="{FF2B5EF4-FFF2-40B4-BE49-F238E27FC236}">
                <a16:creationId xmlns:a16="http://schemas.microsoft.com/office/drawing/2014/main" id="{172F591C-6099-43FB-898B-1A5088BFC8B0}"/>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B   2 / 9</a:t>
            </a:r>
          </a:p>
        </p:txBody>
      </p:sp>
      <p:graphicFrame>
        <p:nvGraphicFramePr>
          <p:cNvPr id="12" name=""/>
          <p:cNvGraphicFramePr/>
          <p:nvPr/>
        </p:nvGraphicFramePr>
        <p:xfrm>
          <a:off xmlns:a="http://schemas.openxmlformats.org/drawingml/2006/main" x="619125" y="1809750"/>
          <a:ext xmlns:a="http://schemas.openxmlformats.org/drawingml/2006/main" cx="10953750" cy="2924175"/>
        </p:xfrm>
        <a:graphic xmlns:a="http://schemas.openxmlformats.org/drawingml/2006/main">
          <a:graphicData uri="http://schemas.openxmlformats.org/drawingml/2006/table">
            <a:tbl>
              <a:tblPr/>
              <a:tblGrid>
                <a:gridCol w="1190625"/>
                <a:gridCol w="5191125"/>
                <a:gridCol w="4572000"/>
              </a:tblGrid>
              <a:tr h="495300">
                <a:tc>
                  <a:txBody>
                    <a:bodyPr lIns="133350" tIns="76200" rIns="133350" bIns="76200"/>
                    <a:lstStyle/>
                    <a:p>
                      <a:r>
                        <a:rPr sz="1800" b="1">
                          <a:solidFill>
                            <a:srgbClr val="FFFFFF"/>
                          </a:solidFill>
                          <a:latin typeface="Arial"/>
                          <a:ea typeface="Arial"/>
                          <a:cs typeface="Arial"/>
                        </a:rPr>
                        <a:t>Owner</a:t>
                      </a:r>
                    </a:p>
                  </a:txBody>
                  <a:tcPr marL="91440" marR="91440" marT="45720" marB="45720" anchor="ctr">
                    <a:solidFill>
                      <a:srgbClr val="142C43"/>
                    </a:solidFill>
                  </a:tcPr>
                </a:tc>
                <a:tc>
                  <a:txBody>
                    <a:bodyPr lIns="133350" tIns="76200" rIns="133350" bIns="76200"/>
                    <a:lstStyle/>
                    <a:p>
                      <a:r>
                        <a:rPr sz="1800" b="1">
                          <a:solidFill>
                            <a:srgbClr val="FFFFFF"/>
                          </a:solidFill>
                          <a:latin typeface="Arial"/>
                          <a:ea typeface="Arial"/>
                          <a:cs typeface="Arial"/>
                        </a:rPr>
                        <a:t>Core features</a:t>
                      </a:r>
                    </a:p>
                  </a:txBody>
                  <a:tcPr marL="91440" marR="91440" marT="45720" marB="45720" anchor="ctr">
                    <a:solidFill>
                      <a:srgbClr val="142C43"/>
                    </a:solidFill>
                  </a:tcPr>
                </a:tc>
                <a:tc>
                  <a:txBody>
                    <a:bodyPr lIns="133350" tIns="76200" rIns="133350" bIns="76200"/>
                    <a:lstStyle/>
                    <a:p>
                      <a:r>
                        <a:rPr sz="1800" b="1">
                          <a:solidFill>
                            <a:srgbClr val="FFFFFF"/>
                          </a:solidFill>
                          <a:latin typeface="Arial"/>
                          <a:ea typeface="Arial"/>
                          <a:cs typeface="Arial"/>
                        </a:rPr>
                        <a:t>Selected extension</a:t>
                      </a:r>
                    </a:p>
                  </a:txBody>
                  <a:tcPr marL="91440" marR="91440" marT="45720" marB="45720" anchor="ctr">
                    <a:solidFill>
                      <a:srgbClr val="142C43"/>
                    </a:solidFill>
                  </a:tcPr>
                </a:tc>
              </a:tr>
              <a:tr h="809625">
                <a:tc>
                  <a:txBody>
                    <a:bodyPr lIns="133350" tIns="76200" rIns="133350" bIns="76200"/>
                    <a:lstStyle/>
                    <a:p>
                      <a:r>
                        <a:rPr sz="1800" b="0">
                          <a:solidFill>
                            <a:srgbClr val="142C43"/>
                          </a:solidFill>
                          <a:latin typeface="Arial"/>
                          <a:ea typeface="Arial"/>
                          <a:cs typeface="Arial"/>
                        </a:rPr>
                        <a:t>A</a:t>
                      </a:r>
                    </a:p>
                  </a:txBody>
                  <a:tcPr marL="91440" marR="91440" marT="45720" marB="45720" anchor="ctr">
                    <a:solidFill>
                      <a:srgbClr val="F0F3F6"/>
                    </a:solidFill>
                  </a:tcPr>
                </a:tc>
                <a:tc>
                  <a:txBody>
                    <a:bodyPr lIns="133350" tIns="76200" rIns="133350" bIns="76200"/>
                    <a:lstStyle/>
                    <a:p>
                      <a:r>
                        <a:rPr sz="1800" b="0">
                          <a:solidFill>
                            <a:srgbClr val="142C43"/>
                          </a:solidFill>
                          <a:latin typeface="Arial"/>
                          <a:ea typeface="Arial"/>
                          <a:cs typeface="Arial"/>
                        </a:rPr>
                        <a:t>Case lifecycle and proposals</a:t>
                      </a:r>
                    </a:p>
                    <a:p>
                      <a:r>
                        <a:rPr sz="1800" b="0">
                          <a:solidFill>
                            <a:srgbClr val="142C43"/>
                          </a:solidFill>
                          <a:latin typeface="Arial"/>
                          <a:ea typeface="Arial"/>
                          <a:cs typeface="Arial"/>
                        </a:rPr>
                        <a:t>Approval and simulated execution</a:t>
                      </a:r>
                    </a:p>
                  </a:txBody>
                  <a:tcPr marL="91440" marR="91440" marT="45720" marB="45720" anchor="ctr">
                    <a:solidFill>
                      <a:srgbClr val="F0F3F6"/>
                    </a:solidFill>
                  </a:tcPr>
                </a:tc>
                <a:tc>
                  <a:txBody>
                    <a:bodyPr lIns="133350" tIns="76200" rIns="133350" bIns="76200"/>
                    <a:lstStyle/>
                    <a:p>
                      <a:r>
                        <a:rPr sz="1800" b="0">
                          <a:solidFill>
                            <a:srgbClr val="142C43"/>
                          </a:solidFill>
                          <a:latin typeface="Arial"/>
                          <a:ea typeface="Arial"/>
                          <a:cs typeface="Arial"/>
                        </a:rPr>
                        <a:t>Logistics test adapter</a:t>
                      </a:r>
                    </a:p>
                    <a:p>
                      <a:r>
                        <a:rPr sz="1800" b="0">
                          <a:solidFill>
                            <a:srgbClr val="142C43"/>
                          </a:solidFill>
                          <a:latin typeface="Arial"/>
                          <a:ea typeface="Arial"/>
                          <a:cs typeface="Arial"/>
                        </a:rPr>
                        <a:t>External access unresolved</a:t>
                      </a:r>
                    </a:p>
                  </a:txBody>
                  <a:tcPr marL="91440" marR="91440" marT="45720" marB="45720" anchor="ctr">
                    <a:solidFill>
                      <a:srgbClr val="F0F3F6"/>
                    </a:solidFill>
                  </a:tcPr>
                </a:tc>
              </a:tr>
              <a:tr h="809625">
                <a:tc>
                  <a:txBody>
                    <a:bodyPr lIns="133350" tIns="76200" rIns="133350" bIns="76200"/>
                    <a:lstStyle/>
                    <a:p>
                      <a:r>
                        <a:rPr sz="1800" b="0">
                          <a:solidFill>
                            <a:srgbClr val="142C43"/>
                          </a:solidFill>
                          <a:latin typeface="Arial"/>
                          <a:ea typeface="Arial"/>
                          <a:cs typeface="Arial"/>
                        </a:rPr>
                        <a:t>B</a:t>
                      </a:r>
                    </a:p>
                  </a:txBody>
                  <a:tcPr marL="91440" marR="91440" marT="45720" marB="45720" anchor="ctr">
                    <a:solidFill>
                      <a:srgbClr val="FFFFFF"/>
                    </a:solidFill>
                  </a:tcPr>
                </a:tc>
                <a:tc>
                  <a:txBody>
                    <a:bodyPr lIns="133350" tIns="76200" rIns="133350" bIns="76200"/>
                    <a:lstStyle/>
                    <a:p>
                      <a:r>
                        <a:rPr sz="1800" b="0">
                          <a:solidFill>
                            <a:srgbClr val="142C43"/>
                          </a:solidFill>
                          <a:latin typeface="Arial"/>
                          <a:ea typeface="Arial"/>
                          <a:cs typeface="Arial"/>
                        </a:rPr>
                        <a:t>Customer intake and clarification</a:t>
                      </a:r>
                    </a:p>
                    <a:p>
                      <a:r>
                        <a:rPr sz="1800" b="0">
                          <a:solidFill>
                            <a:srgbClr val="142C43"/>
                          </a:solidFill>
                          <a:latin typeface="Arial"/>
                          <a:ea typeface="Arial"/>
                          <a:cs typeface="Arial"/>
                        </a:rPr>
                        <a:t>Founder review dashboard</a:t>
                      </a:r>
                    </a:p>
                  </a:txBody>
                  <a:tcPr marL="91440" marR="91440" marT="45720" marB="45720" anchor="ctr">
                    <a:solidFill>
                      <a:srgbClr val="FFFFFF"/>
                    </a:solidFill>
                  </a:tcPr>
                </a:tc>
                <a:tc>
                  <a:txBody>
                    <a:bodyPr lIns="133350" tIns="76200" rIns="133350" bIns="76200"/>
                    <a:lstStyle/>
                    <a:p>
                      <a:r>
                        <a:rPr sz="1800" b="0">
                          <a:solidFill>
                            <a:srgbClr val="142C43"/>
                          </a:solidFill>
                          <a:latin typeface="Arial"/>
                          <a:ea typeface="Arial"/>
                          <a:cs typeface="Arial"/>
                        </a:rPr>
                        <a:t>Operations analytics</a:t>
                      </a:r>
                    </a:p>
                  </a:txBody>
                  <a:tcPr marL="91440" marR="91440" marT="45720" marB="45720" anchor="ctr">
                    <a:solidFill>
                      <a:srgbClr val="FFFFFF"/>
                    </a:solidFill>
                  </a:tcPr>
                </a:tc>
              </a:tr>
              <a:tr h="809625">
                <a:tc>
                  <a:txBody>
                    <a:bodyPr lIns="133350" tIns="76200" rIns="133350" bIns="76200"/>
                    <a:lstStyle/>
                    <a:p>
                      <a:r>
                        <a:rPr sz="1800" b="0">
                          <a:solidFill>
                            <a:srgbClr val="142C43"/>
                          </a:solidFill>
                          <a:latin typeface="Arial"/>
                          <a:ea typeface="Arial"/>
                          <a:cs typeface="Arial"/>
                        </a:rPr>
                        <a:t>C</a:t>
                      </a:r>
                    </a:p>
                  </a:txBody>
                  <a:tcPr marL="91440" marR="91440" marT="45720" marB="45720" anchor="ctr">
                    <a:solidFill>
                      <a:srgbClr val="F0F3F6"/>
                    </a:solidFill>
                  </a:tcPr>
                </a:tc>
                <a:tc>
                  <a:txBody>
                    <a:bodyPr lIns="133350" tIns="76200" rIns="133350" bIns="76200"/>
                    <a:lstStyle/>
                    <a:p>
                      <a:r>
                        <a:rPr sz="1800" b="0">
                          <a:solidFill>
                            <a:srgbClr val="142C43"/>
                          </a:solidFill>
                          <a:latin typeface="Arial"/>
                          <a:ea typeface="Arial"/>
                          <a:cs typeface="Arial"/>
                        </a:rPr>
                        <a:t>Retrieval and citation verification</a:t>
                      </a:r>
                    </a:p>
                    <a:p>
                      <a:r>
                        <a:rPr sz="1800" b="0">
                          <a:solidFill>
                            <a:srgbClr val="142C43"/>
                          </a:solidFill>
                          <a:latin typeface="Arial"/>
                          <a:ea typeface="Arial"/>
                          <a:cs typeface="Arial"/>
                        </a:rPr>
                        <a:t>Independent risk review</a:t>
                      </a:r>
                    </a:p>
                  </a:txBody>
                  <a:tcPr marL="91440" marR="91440" marT="45720" marB="45720" anchor="ctr">
                    <a:solidFill>
                      <a:srgbClr val="F0F3F6"/>
                    </a:solidFill>
                  </a:tcPr>
                </a:tc>
                <a:tc>
                  <a:txBody>
                    <a:bodyPr lIns="133350" tIns="76200" rIns="133350" bIns="76200"/>
                    <a:lstStyle/>
                    <a:p>
                      <a:r>
                        <a:rPr sz="1800" b="0">
                          <a:solidFill>
                            <a:srgbClr val="142C43"/>
                          </a:solidFill>
                          <a:latin typeface="Arial"/>
                          <a:ea typeface="Arial"/>
                          <a:cs typeface="Arial"/>
                        </a:rPr>
                        <a:t>Image observations</a:t>
                      </a:r>
                    </a:p>
                  </a:txBody>
                  <a:tcPr marL="91440" marR="91440" marT="45720" marB="45720" anchor="ctr">
                    <a:solidFill>
                      <a:srgbClr val="F0F3F6"/>
                    </a:solidFill>
                  </a:tcPr>
                </a:tc>
              </a:tr>
            </a:tbl>
          </a:graphicData>
        </a:graphic>
      </p:graphicFrame>
      <p:sp>
        <p:nvSpPr>
          <p:cNvPr id="5" name="text-9">
            <a:extLst xmlns:a="http://schemas.openxmlformats.org/drawingml/2006/main">
              <a:ext uri="{FF2B5EF4-FFF2-40B4-BE49-F238E27FC236}">
                <a16:creationId xmlns:a16="http://schemas.microsoft.com/office/drawing/2014/main" id="{372841B0-38A5-4546-B5A7-24AB5E682673}"/>
              </a:ext>
            </a:extLst>
          </p:cNvPr>
          <p:cNvSpPr>
            <a:spLocks xmlns:a="http://schemas.openxmlformats.org/drawingml/2006/main" noGrp="1"/>
          </p:cNvSpPr>
          <p:nvPr/>
        </p:nvSpPr>
        <p:spPr>
          <a:xfrm xmlns:a="http://schemas.openxmlformats.org/drawingml/2006/main">
            <a:off x="647700" y="5010150"/>
            <a:ext cx="3000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75" b="1">
                <a:solidFill>
                  <a:srgbClr val="142C43"/>
                </a:solidFill>
                <a:latin typeface="Arial"/>
                <a:ea typeface="Arial"/>
                <a:cs typeface="Arial"/>
              </a:defRPr>
            </a:pPr>
            <a:r>
              <a:rPr sz="1875" b="1">
                <a:solidFill>
                  <a:srgbClr val="142C43"/>
                </a:solidFill>
                <a:latin typeface="Arial"/>
                <a:ea typeface="Arial"/>
                <a:cs typeface="Arial"/>
              </a:rPr>
              <a:t>Quality constraints</a:t>
            </a:r>
          </a:p>
        </p:txBody>
      </p:sp>
      <p:sp>
        <p:nvSpPr>
          <p:cNvPr id="6" name="text-10">
            <a:extLst xmlns:a="http://schemas.openxmlformats.org/drawingml/2006/main">
              <a:ext uri="{FF2B5EF4-FFF2-40B4-BE49-F238E27FC236}">
                <a16:creationId xmlns:a16="http://schemas.microsoft.com/office/drawing/2014/main" id="{7C3CD61D-7B9A-42EC-BCFD-28DF7FAC510F}"/>
              </a:ext>
            </a:extLst>
          </p:cNvPr>
          <p:cNvSpPr>
            <a:spLocks xmlns:a="http://schemas.openxmlformats.org/drawingml/2006/main" noGrp="1"/>
          </p:cNvSpPr>
          <p:nvPr/>
        </p:nvSpPr>
        <p:spPr>
          <a:xfrm xmlns:a="http://schemas.openxmlformats.org/drawingml/2006/main">
            <a:off x="3524250" y="5010150"/>
            <a:ext cx="795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75" b="0">
                <a:solidFill>
                  <a:srgbClr val="142C43"/>
                </a:solidFill>
                <a:latin typeface="Arial"/>
                <a:ea typeface="Arial"/>
                <a:cs typeface="Arial"/>
              </a:defRPr>
            </a:pPr>
            <a:r>
              <a:rPr sz="1875" b="0">
                <a:solidFill>
                  <a:srgbClr val="142C43"/>
                </a:solidFill>
                <a:latin typeface="Arial"/>
                <a:ea typeface="Arial"/>
                <a:cs typeface="Arial"/>
              </a:rPr>
              <a:t>Traceability, privacy, safe retries and controlled model inputs</a:t>
            </a:r>
          </a:p>
        </p:txBody>
      </p:sp>
      <p:sp>
        <p:nvSpPr>
          <p:cNvPr id="7" name="text-11">
            <a:extLst xmlns:a="http://schemas.openxmlformats.org/drawingml/2006/main">
              <a:ext uri="{FF2B5EF4-FFF2-40B4-BE49-F238E27FC236}">
                <a16:creationId xmlns:a16="http://schemas.microsoft.com/office/drawing/2014/main" id="{1118CCFD-F6EC-4D09-9E26-AC38BA083583}"/>
              </a:ext>
            </a:extLst>
          </p:cNvPr>
          <p:cNvSpPr>
            <a:spLocks xmlns:a="http://schemas.openxmlformats.org/drawingml/2006/main" noGrp="1"/>
          </p:cNvSpPr>
          <p:nvPr/>
        </p:nvSpPr>
        <p:spPr>
          <a:xfrm xmlns:a="http://schemas.openxmlformats.org/drawingml/2006/main">
            <a:off x="647700" y="5553075"/>
            <a:ext cx="285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75" b="1">
                <a:solidFill>
                  <a:srgbClr val="142C43"/>
                </a:solidFill>
                <a:latin typeface="Arial"/>
                <a:ea typeface="Arial"/>
                <a:cs typeface="Arial"/>
              </a:defRPr>
            </a:pPr>
            <a:r>
              <a:rPr sz="1875" b="1">
                <a:solidFill>
                  <a:srgbClr val="142C43"/>
                </a:solidFill>
                <a:latin typeface="Arial"/>
                <a:ea typeface="Arial"/>
                <a:cs typeface="Arial"/>
              </a:rPr>
              <a:t>Outside the core</a:t>
            </a:r>
          </a:p>
        </p:txBody>
      </p:sp>
      <p:sp>
        <p:nvSpPr>
          <p:cNvPr id="8" name="text-12">
            <a:extLst xmlns:a="http://schemas.openxmlformats.org/drawingml/2006/main">
              <a:ext uri="{FF2B5EF4-FFF2-40B4-BE49-F238E27FC236}">
                <a16:creationId xmlns:a16="http://schemas.microsoft.com/office/drawing/2014/main" id="{2273876D-F759-405F-A32D-AF583729152F}"/>
              </a:ext>
            </a:extLst>
          </p:cNvPr>
          <p:cNvSpPr>
            <a:spLocks xmlns:a="http://schemas.openxmlformats.org/drawingml/2006/main" noGrp="1"/>
          </p:cNvSpPr>
          <p:nvPr/>
        </p:nvSpPr>
        <p:spPr>
          <a:xfrm xmlns:a="http://schemas.openxmlformats.org/drawingml/2006/main">
            <a:off x="3524250" y="5524500"/>
            <a:ext cx="795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142C43"/>
                </a:solidFill>
                <a:latin typeface="Arial"/>
                <a:ea typeface="Arial"/>
                <a:cs typeface="Arial"/>
              </a:defRPr>
            </a:pPr>
            <a:r>
              <a:rPr sz="1800" b="0">
                <a:solidFill>
                  <a:srgbClr val="142C43"/>
                </a:solidFill>
                <a:latin typeface="Arial"/>
                <a:ea typeface="Arial"/>
                <a:cs typeface="Arial"/>
              </a:rPr>
              <a:t>Real refunds, physical inspection, restocking and live commerce</a:t>
            </a:r>
          </a:p>
        </p:txBody>
      </p:sp>
    </p:spTree>
    <p:extLst>
      <p:ext uri="{BB962C8B-B14F-4D97-AF65-F5344CB8AC3E}">
        <p14:creationId xmlns:p14="http://schemas.microsoft.com/office/powerpoint/2010/main" val="1487825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3">
            <a:extLst xmlns:a="http://schemas.openxmlformats.org/drawingml/2006/main">
              <a:ext uri="{FF2B5EF4-FFF2-40B4-BE49-F238E27FC236}">
                <a16:creationId xmlns:a16="http://schemas.microsoft.com/office/drawing/2014/main" id="{FC5DAEEA-AF97-4ABE-9158-F2586EAE04AA}"/>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Agent roles and trusted services</a:t>
            </a:r>
          </a:p>
        </p:txBody>
      </p:sp>
      <p:sp>
        <p:nvSpPr>
          <p:cNvPr id="2" name="text-14">
            <a:extLst xmlns:a="http://schemas.openxmlformats.org/drawingml/2006/main">
              <a:ext uri="{FF2B5EF4-FFF2-40B4-BE49-F238E27FC236}">
                <a16:creationId xmlns:a16="http://schemas.microsoft.com/office/drawing/2014/main" id="{08CFA573-E06B-42BB-BC29-6FE72E33983F}"/>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AI produces observations. Domain owns accepted business state.</a:t>
            </a:r>
          </a:p>
        </p:txBody>
      </p:sp>
      <p:sp>
        <p:nvSpPr>
          <p:cNvPr id="3" name="text-15">
            <a:extLst xmlns:a="http://schemas.openxmlformats.org/drawingml/2006/main">
              <a:ext uri="{FF2B5EF4-FFF2-40B4-BE49-F238E27FC236}">
                <a16:creationId xmlns:a16="http://schemas.microsoft.com/office/drawing/2014/main" id="{E9D60CD1-1FD4-46BD-9E30-B53624B3AF55}"/>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A   3 / 9</a:t>
            </a:r>
          </a:p>
        </p:txBody>
      </p:sp>
      <p:sp>
        <p:nvSpPr>
          <p:cNvPr id="4" name="text-16">
            <a:extLst xmlns:a="http://schemas.openxmlformats.org/drawingml/2006/main">
              <a:ext uri="{FF2B5EF4-FFF2-40B4-BE49-F238E27FC236}">
                <a16:creationId xmlns:a16="http://schemas.microsoft.com/office/drawing/2014/main" id="{70394171-457A-44BB-8C91-1B74889E10E6}"/>
              </a:ext>
            </a:extLst>
          </p:cNvPr>
          <p:cNvSpPr>
            <a:spLocks xmlns:a="http://schemas.openxmlformats.org/drawingml/2006/main" noGrp="1"/>
          </p:cNvSpPr>
          <p:nvPr/>
        </p:nvSpPr>
        <p:spPr>
          <a:xfrm xmlns:a="http://schemas.openxmlformats.org/drawingml/2006/main">
            <a:off x="666750" y="1819275"/>
            <a:ext cx="3095625" cy="93345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Coordinator</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Extract facts and ask questions</a:t>
            </a:r>
          </a:p>
        </p:txBody>
      </p:sp>
      <p:sp>
        <p:nvSpPr>
          <p:cNvPr id="5" name="text-17">
            <a:extLst xmlns:a="http://schemas.openxmlformats.org/drawingml/2006/main">
              <a:ext uri="{FF2B5EF4-FFF2-40B4-BE49-F238E27FC236}">
                <a16:creationId xmlns:a16="http://schemas.microsoft.com/office/drawing/2014/main" id="{237C0915-2C34-4440-AA45-6DDF041733E7}"/>
              </a:ext>
            </a:extLst>
          </p:cNvPr>
          <p:cNvSpPr>
            <a:spLocks xmlns:a="http://schemas.openxmlformats.org/drawingml/2006/main" noGrp="1"/>
          </p:cNvSpPr>
          <p:nvPr/>
        </p:nvSpPr>
        <p:spPr>
          <a:xfrm xmlns:a="http://schemas.openxmlformats.org/drawingml/2006/main">
            <a:off x="4543425" y="1819275"/>
            <a:ext cx="3095625" cy="93345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Assessment</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Draft a conditional proposal</a:t>
            </a:r>
          </a:p>
        </p:txBody>
      </p:sp>
      <p:sp>
        <p:nvSpPr>
          <p:cNvPr id="6" name="text-18">
            <a:extLst xmlns:a="http://schemas.openxmlformats.org/drawingml/2006/main">
              <a:ext uri="{FF2B5EF4-FFF2-40B4-BE49-F238E27FC236}">
                <a16:creationId xmlns:a16="http://schemas.microsoft.com/office/drawing/2014/main" id="{35A86615-C5E8-452F-B811-7CC5B8E0E65D}"/>
              </a:ext>
            </a:extLst>
          </p:cNvPr>
          <p:cNvSpPr>
            <a:spLocks xmlns:a="http://schemas.openxmlformats.org/drawingml/2006/main" noGrp="1"/>
          </p:cNvSpPr>
          <p:nvPr/>
        </p:nvSpPr>
        <p:spPr>
          <a:xfrm xmlns:a="http://schemas.openxmlformats.org/drawingml/2006/main">
            <a:off x="8420100" y="1819275"/>
            <a:ext cx="3095625" cy="93345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Independent Risk</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Challenge support and scope</a:t>
            </a:r>
          </a:p>
        </p:txBody>
      </p:sp>
      <p:sp>
        <p:nvSpPr>
          <p:cNvPr id="7" name="text-19">
            <a:extLst xmlns:a="http://schemas.openxmlformats.org/drawingml/2006/main">
              <a:ext uri="{FF2B5EF4-FFF2-40B4-BE49-F238E27FC236}">
                <a16:creationId xmlns:a16="http://schemas.microsoft.com/office/drawing/2014/main" id="{63AF4569-57FB-4FFC-BABA-F3E0B601371F}"/>
              </a:ext>
            </a:extLst>
          </p:cNvPr>
          <p:cNvSpPr>
            <a:spLocks xmlns:a="http://schemas.openxmlformats.org/drawingml/2006/main" noGrp="1"/>
          </p:cNvSpPr>
          <p:nvPr/>
        </p:nvSpPr>
        <p:spPr>
          <a:xfrm xmlns:a="http://schemas.openxmlformats.org/drawingml/2006/main">
            <a:off x="3810000" y="3524250"/>
            <a:ext cx="4048125" cy="77152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Bounded orchestrator</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Typed, separate invocations</a:t>
            </a:r>
          </a:p>
        </p:txBody>
      </p:sp>
      <p:sp>
        <p:nvSpPr>
          <p:cNvPr id="8" name="text-20">
            <a:extLst xmlns:a="http://schemas.openxmlformats.org/drawingml/2006/main">
              <a:ext uri="{FF2B5EF4-FFF2-40B4-BE49-F238E27FC236}">
                <a16:creationId xmlns:a16="http://schemas.microsoft.com/office/drawing/2014/main" id="{8E4A4F1A-B1CE-477D-8F48-67571293A331}"/>
              </a:ext>
            </a:extLst>
          </p:cNvPr>
          <p:cNvSpPr>
            <a:spLocks xmlns:a="http://schemas.openxmlformats.org/drawingml/2006/main" noGrp="1"/>
          </p:cNvSpPr>
          <p:nvPr/>
        </p:nvSpPr>
        <p:spPr>
          <a:xfrm xmlns:a="http://schemas.openxmlformats.org/drawingml/2006/main">
            <a:off x="3810000" y="5057775"/>
            <a:ext cx="4048125" cy="876300"/>
          </a:xfrm>
          <a:prstGeom xmlns:a="http://schemas.openxmlformats.org/drawingml/2006/main" prst="rect">
            <a:avLst/>
          </a:prstGeom>
          <a:solidFill xmlns:a="http://schemas.openxmlformats.org/drawingml/2006/main">
            <a:srgbClr val="142C43"/>
          </a:solidFill>
          <a:ln xmlns:a="http://schemas.openxmlformats.org/drawingml/2006/main" w="14288">
            <a:solidFill>
              <a:srgbClr val="142C43"/>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Domain Service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Validate, persist and audit</a:t>
            </a:r>
          </a:p>
        </p:txBody>
      </p:sp>
      <p:sp>
        <p:nvSpPr>
          <p:cNvPr id="9" name="text-21">
            <a:extLst xmlns:a="http://schemas.openxmlformats.org/drawingml/2006/main">
              <a:ext uri="{FF2B5EF4-FFF2-40B4-BE49-F238E27FC236}">
                <a16:creationId xmlns:a16="http://schemas.microsoft.com/office/drawing/2014/main" id="{0DB9264F-C770-4181-9BA2-5990FD663B10}"/>
              </a:ext>
            </a:extLst>
          </p:cNvPr>
          <p:cNvSpPr>
            <a:spLocks xmlns:a="http://schemas.openxmlformats.org/drawingml/2006/main" noGrp="1"/>
          </p:cNvSpPr>
          <p:nvPr/>
        </p:nvSpPr>
        <p:spPr>
          <a:xfrm xmlns:a="http://schemas.openxmlformats.org/drawingml/2006/main">
            <a:off x="8620125" y="3524250"/>
            <a:ext cx="2857500" cy="77152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Human Founder</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Review and decide</a:t>
            </a:r>
          </a:p>
        </p:txBody>
      </p:sp>
      <p:sp>
        <p:nvSpPr>
          <p:cNvPr id="10" name="text-22">
            <a:extLst xmlns:a="http://schemas.openxmlformats.org/drawingml/2006/main">
              <a:ext uri="{FF2B5EF4-FFF2-40B4-BE49-F238E27FC236}">
                <a16:creationId xmlns:a16="http://schemas.microsoft.com/office/drawing/2014/main" id="{283B1FFB-FC0C-4196-9DD7-0417C79FBDB2}"/>
              </a:ext>
            </a:extLst>
          </p:cNvPr>
          <p:cNvSpPr>
            <a:spLocks xmlns:a="http://schemas.openxmlformats.org/drawingml/2006/main" noGrp="1"/>
          </p:cNvSpPr>
          <p:nvPr/>
        </p:nvSpPr>
        <p:spPr>
          <a:xfrm xmlns:a="http://schemas.openxmlformats.org/drawingml/2006/main">
            <a:off x="619125" y="5057775"/>
            <a:ext cx="2571750" cy="8763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PostgreSQL</a:t>
            </a:r>
          </a:p>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Authoritative records</a:t>
            </a:r>
          </a:p>
        </p:txBody>
      </p:sp>
      <p:sp>
        <p:nvSpPr>
          <p:cNvPr id="11" name="text-23">
            <a:extLst xmlns:a="http://schemas.openxmlformats.org/drawingml/2006/main">
              <a:ext uri="{FF2B5EF4-FFF2-40B4-BE49-F238E27FC236}">
                <a16:creationId xmlns:a16="http://schemas.microsoft.com/office/drawing/2014/main" id="{AF1DED91-E8F4-44DE-A655-5FAB45D444D2}"/>
              </a:ext>
            </a:extLst>
          </p:cNvPr>
          <p:cNvSpPr>
            <a:spLocks xmlns:a="http://schemas.openxmlformats.org/drawingml/2006/main" noGrp="1"/>
          </p:cNvSpPr>
          <p:nvPr/>
        </p:nvSpPr>
        <p:spPr>
          <a:xfrm xmlns:a="http://schemas.openxmlformats.org/drawingml/2006/main">
            <a:off x="8620125" y="5057775"/>
            <a:ext cx="2857500" cy="8763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725" b="0">
                <a:solidFill>
                  <a:srgbClr val="142C43"/>
                </a:solidFill>
                <a:latin typeface="Arial"/>
                <a:ea typeface="Arial"/>
                <a:cs typeface="Arial"/>
              </a:defRPr>
            </a:pPr>
            <a:r>
              <a:rPr sz="1725" b="0">
                <a:solidFill>
                  <a:srgbClr val="142C43"/>
                </a:solidFill>
                <a:latin typeface="Arial"/>
                <a:ea typeface="Arial"/>
                <a:cs typeface="Arial"/>
              </a:rPr>
              <a:t>Operations Service</a:t>
            </a:r>
          </a:p>
          <a:p xmlns:a="http://schemas.openxmlformats.org/drawingml/2006/main">
            <a:pPr algn="ctr">
              <a:defRPr sz="1725" b="0">
                <a:solidFill>
                  <a:srgbClr val="142C43"/>
                </a:solidFill>
                <a:latin typeface="Arial"/>
                <a:ea typeface="Arial"/>
                <a:cs typeface="Arial"/>
              </a:defRPr>
            </a:pPr>
            <a:r>
              <a:rPr sz="1725" b="0">
                <a:solidFill>
                  <a:srgbClr val="142C43"/>
                </a:solidFill>
                <a:latin typeface="Arial"/>
                <a:ea typeface="Arial"/>
                <a:cs typeface="Arial"/>
              </a:rPr>
              <a:t>Approved simulations</a:t>
            </a:r>
          </a:p>
        </p:txBody>
      </p:sp>
      <p:cxnSp>
        <p:nvCxnSpPr>
          <p:cNvPr id="33" name=""/>
          <p:cNvCxnSpPr>
            <a:stCxn xmlns:a="http://schemas.openxmlformats.org/drawingml/2006/main" id="7" idx="0"/>
            <a:endCxn xmlns:a="http://schemas.openxmlformats.org/drawingml/2006/main" id="4" idx="2"/>
          </p:cNvCxnSpPr>
          <p:nvPr/>
        </p:nvCxnSpPr>
        <p:spPr>
          <a:xfrm xmlns:a="http://schemas.openxmlformats.org/drawingml/2006/main" flipH="1" flipV="1">
            <a:off x="2214563" y="2752725"/>
            <a:ext cx="3619500" cy="771525"/>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4" name=""/>
          <p:cNvCxnSpPr>
            <a:stCxn xmlns:a="http://schemas.openxmlformats.org/drawingml/2006/main" id="7" idx="0"/>
            <a:endCxn xmlns:a="http://schemas.openxmlformats.org/drawingml/2006/main" id="5" idx="2"/>
          </p:cNvCxnSpPr>
          <p:nvPr/>
        </p:nvCxnSpPr>
        <p:spPr>
          <a:xfrm xmlns:a="http://schemas.openxmlformats.org/drawingml/2006/main" flipV="1">
            <a:off x="5834063" y="2752725"/>
            <a:ext cx="257175" cy="771525"/>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5" name=""/>
          <p:cNvCxnSpPr>
            <a:stCxn xmlns:a="http://schemas.openxmlformats.org/drawingml/2006/main" id="7" idx="0"/>
            <a:endCxn xmlns:a="http://schemas.openxmlformats.org/drawingml/2006/main" id="6" idx="2"/>
          </p:cNvCxnSpPr>
          <p:nvPr/>
        </p:nvCxnSpPr>
        <p:spPr>
          <a:xfrm xmlns:a="http://schemas.openxmlformats.org/drawingml/2006/main" flipV="1">
            <a:off x="5834063" y="2752725"/>
            <a:ext cx="4133850" cy="771525"/>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6" name=""/>
          <p:cNvCxnSpPr>
            <a:stCxn xmlns:a="http://schemas.openxmlformats.org/drawingml/2006/main" id="7" idx="2"/>
            <a:endCxn xmlns:a="http://schemas.openxmlformats.org/drawingml/2006/main" id="8" idx="0"/>
          </p:cNvCxnSpPr>
          <p:nvPr/>
        </p:nvCxnSpPr>
        <p:spPr>
          <a:xfrm xmlns:a="http://schemas.openxmlformats.org/drawingml/2006/main">
            <a:off x="5834063" y="4295775"/>
            <a:ext cx="0" cy="76200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7" name=""/>
          <p:cNvCxnSpPr>
            <a:stCxn xmlns:a="http://schemas.openxmlformats.org/drawingml/2006/main" id="9" idx="1"/>
            <a:endCxn xmlns:a="http://schemas.openxmlformats.org/drawingml/2006/main" id="8" idx="3"/>
          </p:cNvCxnSpPr>
          <p:nvPr/>
        </p:nvCxnSpPr>
        <p:spPr>
          <a:xfrm xmlns:a="http://schemas.openxmlformats.org/drawingml/2006/main" flipH="1">
            <a:off x="7858125" y="3910013"/>
            <a:ext cx="762000" cy="1585913"/>
          </a:xfrm>
          <a:prstGeom xmlns:a="http://schemas.openxmlformats.org/drawingml/2006/main" prst="bentConnector3">
            <a:avLst>
              <a:gd name="adj1" fmla="val 50000"/>
            </a:avLst>
          </a:prstGeom>
          <a:ln xmlns:a="http://schemas.openxmlformats.org/drawingml/2006/main" w="19050">
            <a:solidFill>
              <a:srgbClr val="748591"/>
            </a:solidFill>
            <a:prstDash val="solid"/>
            <a:headEnd type="none" w="sm" len="sm"/>
            <a:tailEnd type="triangle" w="sm" len="sm"/>
          </a:ln>
        </p:spPr>
      </p:cxnSp>
      <p:cxnSp>
        <p:nvCxnSpPr>
          <p:cNvPr id="38" name=""/>
          <p:cNvCxnSpPr>
            <a:stCxn xmlns:a="http://schemas.openxmlformats.org/drawingml/2006/main" id="8" idx="1"/>
            <a:endCxn xmlns:a="http://schemas.openxmlformats.org/drawingml/2006/main" id="10" idx="3"/>
          </p:cNvCxnSpPr>
          <p:nvPr/>
        </p:nvCxnSpPr>
        <p:spPr>
          <a:xfrm xmlns:a="http://schemas.openxmlformats.org/drawingml/2006/main" flipH="1">
            <a:off x="3190875" y="5495925"/>
            <a:ext cx="619125"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9" name=""/>
          <p:cNvCxnSpPr>
            <a:stCxn xmlns:a="http://schemas.openxmlformats.org/drawingml/2006/main" id="8" idx="3"/>
            <a:endCxn xmlns:a="http://schemas.openxmlformats.org/drawingml/2006/main" id="11" idx="1"/>
          </p:cNvCxnSpPr>
          <p:nvPr/>
        </p:nvCxnSpPr>
        <p:spPr>
          <a:xfrm xmlns:a="http://schemas.openxmlformats.org/drawingml/2006/main">
            <a:off x="7858125" y="5495925"/>
            <a:ext cx="76200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9" name="text-24">
            <a:extLst xmlns:a="http://schemas.openxmlformats.org/drawingml/2006/main">
              <a:ext uri="{FF2B5EF4-FFF2-40B4-BE49-F238E27FC236}">
                <a16:creationId xmlns:a16="http://schemas.microsoft.com/office/drawing/2014/main" id="{70DB4FA9-F4DC-4DD0-9802-70F28694E2FF}"/>
              </a:ext>
            </a:extLst>
          </p:cNvPr>
          <p:cNvSpPr>
            <a:spLocks xmlns:a="http://schemas.openxmlformats.org/drawingml/2006/main" noGrp="1"/>
          </p:cNvSpPr>
          <p:nvPr/>
        </p:nvSpPr>
        <p:spPr>
          <a:xfrm xmlns:a="http://schemas.openxmlformats.org/drawingml/2006/main">
            <a:off x="3943350" y="4543425"/>
            <a:ext cx="37814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original observations</a:t>
            </a:r>
          </a:p>
        </p:txBody>
      </p:sp>
      <p:sp>
        <p:nvSpPr>
          <p:cNvPr id="20" name="text-25">
            <a:extLst xmlns:a="http://schemas.openxmlformats.org/drawingml/2006/main">
              <a:ext uri="{FF2B5EF4-FFF2-40B4-BE49-F238E27FC236}">
                <a16:creationId xmlns:a16="http://schemas.microsoft.com/office/drawing/2014/main" id="{7BB86D75-75F4-4D84-B664-D9C844A26AC6}"/>
              </a:ext>
            </a:extLst>
          </p:cNvPr>
          <p:cNvSpPr>
            <a:spLocks xmlns:a="http://schemas.openxmlformats.org/drawingml/2006/main" noGrp="1"/>
          </p:cNvSpPr>
          <p:nvPr/>
        </p:nvSpPr>
        <p:spPr>
          <a:xfrm xmlns:a="http://schemas.openxmlformats.org/drawingml/2006/main">
            <a:off x="8020050" y="4467225"/>
            <a:ext cx="349567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exact decision</a:t>
            </a:r>
          </a:p>
        </p:txBody>
      </p:sp>
      <p:sp>
        <p:nvSpPr>
          <p:cNvPr id="21" name="text-26">
            <a:extLst xmlns:a="http://schemas.openxmlformats.org/drawingml/2006/main">
              <a:ext uri="{FF2B5EF4-FFF2-40B4-BE49-F238E27FC236}">
                <a16:creationId xmlns:a16="http://schemas.microsoft.com/office/drawing/2014/main" id="{14A014DE-535E-4862-AD98-69B5AC8BA178}"/>
              </a:ext>
            </a:extLst>
          </p:cNvPr>
          <p:cNvSpPr>
            <a:spLocks xmlns:a="http://schemas.openxmlformats.org/drawingml/2006/main" noGrp="1"/>
          </p:cNvSpPr>
          <p:nvPr/>
        </p:nvSpPr>
        <p:spPr>
          <a:xfrm xmlns:a="http://schemas.openxmlformats.org/drawingml/2006/main">
            <a:off x="666750" y="620077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500" b="0">
                <a:solidFill>
                  <a:srgbClr val="536472"/>
                </a:solidFill>
                <a:latin typeface="Arial"/>
                <a:ea typeface="Arial"/>
                <a:cs typeface="Arial"/>
              </a:defRPr>
            </a:pPr>
            <a:r>
              <a:rPr sz="1500" b="0">
                <a:solidFill>
                  <a:srgbClr val="536472"/>
                </a:solidFill>
                <a:latin typeface="Arial"/>
                <a:ea typeface="Arial"/>
                <a:cs typeface="Arial"/>
              </a:rPr>
              <a:t>Domain-accepted evidence feeds the Risk invocation. Operations is deterministic, not a fourth AI.</a:t>
            </a:r>
          </a:p>
        </p:txBody>
      </p:sp>
    </p:spTree>
    <p:extLst>
      <p:ext uri="{BB962C8B-B14F-4D97-AF65-F5344CB8AC3E}">
        <p14:creationId xmlns:p14="http://schemas.microsoft.com/office/powerpoint/2010/main" val="16491161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27">
            <a:extLst xmlns:a="http://schemas.openxmlformats.org/drawingml/2006/main">
              <a:ext uri="{FF2B5EF4-FFF2-40B4-BE49-F238E27FC236}">
                <a16:creationId xmlns:a16="http://schemas.microsoft.com/office/drawing/2014/main" id="{DD4FD19B-3E93-4A61-A63C-DC799C4FDBBA}"/>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Use cases in one return journey</a:t>
            </a:r>
          </a:p>
        </p:txBody>
      </p:sp>
      <p:sp>
        <p:nvSpPr>
          <p:cNvPr id="2" name="text-28">
            <a:extLst xmlns:a="http://schemas.openxmlformats.org/drawingml/2006/main">
              <a:ext uri="{FF2B5EF4-FFF2-40B4-BE49-F238E27FC236}">
                <a16:creationId xmlns:a16="http://schemas.microsoft.com/office/drawing/2014/main" id="{72D861C1-4DB8-4364-9315-AA7F858E4FD8}"/>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Illustrative case: a desk lamp arrives with a cracked base</a:t>
            </a:r>
          </a:p>
        </p:txBody>
      </p:sp>
      <p:sp>
        <p:nvSpPr>
          <p:cNvPr id="3" name="text-29">
            <a:extLst xmlns:a="http://schemas.openxmlformats.org/drawingml/2006/main">
              <a:ext uri="{FF2B5EF4-FFF2-40B4-BE49-F238E27FC236}">
                <a16:creationId xmlns:a16="http://schemas.microsoft.com/office/drawing/2014/main" id="{54AC9AC6-EC66-4A05-92BC-BC649FA4E8D8}"/>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B   4 / 9</a:t>
            </a:r>
          </a:p>
        </p:txBody>
      </p:sp>
      <p:sp>
        <p:nvSpPr>
          <p:cNvPr id="4" name="text-30">
            <a:extLst xmlns:a="http://schemas.openxmlformats.org/drawingml/2006/main">
              <a:ext uri="{FF2B5EF4-FFF2-40B4-BE49-F238E27FC236}">
                <a16:creationId xmlns:a16="http://schemas.microsoft.com/office/drawing/2014/main" id="{5D01B530-2045-4E33-A30D-FBB695F3719E}"/>
              </a:ext>
            </a:extLst>
          </p:cNvPr>
          <p:cNvSpPr>
            <a:spLocks xmlns:a="http://schemas.openxmlformats.org/drawingml/2006/main" noGrp="1"/>
          </p:cNvSpPr>
          <p:nvPr/>
        </p:nvSpPr>
        <p:spPr>
          <a:xfrm xmlns:a="http://schemas.openxmlformats.org/drawingml/2006/main">
            <a:off x="762000" y="2219325"/>
            <a:ext cx="2238375" cy="904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UC-01</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Lodge request</a:t>
            </a:r>
          </a:p>
        </p:txBody>
      </p:sp>
      <p:sp>
        <p:nvSpPr>
          <p:cNvPr id="5" name="text-31">
            <a:extLst xmlns:a="http://schemas.openxmlformats.org/drawingml/2006/main">
              <a:ext uri="{FF2B5EF4-FFF2-40B4-BE49-F238E27FC236}">
                <a16:creationId xmlns:a16="http://schemas.microsoft.com/office/drawing/2014/main" id="{ADC8B7EA-F0DF-431B-BAF5-980DE2C11E3A}"/>
              </a:ext>
            </a:extLst>
          </p:cNvPr>
          <p:cNvSpPr>
            <a:spLocks xmlns:a="http://schemas.openxmlformats.org/drawingml/2006/main" noGrp="1"/>
          </p:cNvSpPr>
          <p:nvPr/>
        </p:nvSpPr>
        <p:spPr>
          <a:xfrm xmlns:a="http://schemas.openxmlformats.org/drawingml/2006/main">
            <a:off x="3914775" y="2219325"/>
            <a:ext cx="2476500" cy="904875"/>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UC-02</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Assess and propose</a:t>
            </a:r>
          </a:p>
        </p:txBody>
      </p:sp>
      <p:sp>
        <p:nvSpPr>
          <p:cNvPr id="6" name="text-32">
            <a:extLst xmlns:a="http://schemas.openxmlformats.org/drawingml/2006/main">
              <a:ext uri="{FF2B5EF4-FFF2-40B4-BE49-F238E27FC236}">
                <a16:creationId xmlns:a16="http://schemas.microsoft.com/office/drawing/2014/main" id="{516508AC-F14A-4D7C-9AB5-80E3B497BB17}"/>
              </a:ext>
            </a:extLst>
          </p:cNvPr>
          <p:cNvSpPr>
            <a:spLocks xmlns:a="http://schemas.openxmlformats.org/drawingml/2006/main" noGrp="1"/>
          </p:cNvSpPr>
          <p:nvPr/>
        </p:nvSpPr>
        <p:spPr>
          <a:xfrm xmlns:a="http://schemas.openxmlformats.org/drawingml/2006/main">
            <a:off x="7515225" y="2219325"/>
            <a:ext cx="2952750" cy="904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UC-03</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Founder decision</a:t>
            </a:r>
          </a:p>
        </p:txBody>
      </p:sp>
      <p:sp>
        <p:nvSpPr>
          <p:cNvPr id="7" name="text-33">
            <a:extLst xmlns:a="http://schemas.openxmlformats.org/drawingml/2006/main">
              <a:ext uri="{FF2B5EF4-FFF2-40B4-BE49-F238E27FC236}">
                <a16:creationId xmlns:a16="http://schemas.microsoft.com/office/drawing/2014/main" id="{7E489728-7C8B-470A-9666-47391B533149}"/>
              </a:ext>
            </a:extLst>
          </p:cNvPr>
          <p:cNvSpPr>
            <a:spLocks xmlns:a="http://schemas.openxmlformats.org/drawingml/2006/main" noGrp="1"/>
          </p:cNvSpPr>
          <p:nvPr/>
        </p:nvSpPr>
        <p:spPr>
          <a:xfrm xmlns:a="http://schemas.openxmlformats.org/drawingml/2006/main">
            <a:off x="762000" y="4143375"/>
            <a:ext cx="2238375" cy="904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UC-01E</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Provide clarification</a:t>
            </a:r>
          </a:p>
        </p:txBody>
      </p:sp>
      <p:sp>
        <p:nvSpPr>
          <p:cNvPr id="8" name="text-34">
            <a:extLst xmlns:a="http://schemas.openxmlformats.org/drawingml/2006/main">
              <a:ext uri="{FF2B5EF4-FFF2-40B4-BE49-F238E27FC236}">
                <a16:creationId xmlns:a16="http://schemas.microsoft.com/office/drawing/2014/main" id="{FD6E7961-7886-459A-90A8-187A2BE306FA}"/>
              </a:ext>
            </a:extLst>
          </p:cNvPr>
          <p:cNvSpPr>
            <a:spLocks xmlns:a="http://schemas.openxmlformats.org/drawingml/2006/main" noGrp="1"/>
          </p:cNvSpPr>
          <p:nvPr/>
        </p:nvSpPr>
        <p:spPr>
          <a:xfrm xmlns:a="http://schemas.openxmlformats.org/drawingml/2006/main">
            <a:off x="3914775" y="4143375"/>
            <a:ext cx="2476500" cy="904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UC-05</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Inspect state and audit</a:t>
            </a:r>
          </a:p>
        </p:txBody>
      </p:sp>
      <p:sp>
        <p:nvSpPr>
          <p:cNvPr id="9" name="text-35">
            <a:extLst xmlns:a="http://schemas.openxmlformats.org/drawingml/2006/main">
              <a:ext uri="{FF2B5EF4-FFF2-40B4-BE49-F238E27FC236}">
                <a16:creationId xmlns:a16="http://schemas.microsoft.com/office/drawing/2014/main" id="{834FAE07-A5DB-480C-AFCA-1E2FF76C99FD}"/>
              </a:ext>
            </a:extLst>
          </p:cNvPr>
          <p:cNvSpPr>
            <a:spLocks xmlns:a="http://schemas.openxmlformats.org/drawingml/2006/main" noGrp="1"/>
          </p:cNvSpPr>
          <p:nvPr/>
        </p:nvSpPr>
        <p:spPr>
          <a:xfrm xmlns:a="http://schemas.openxmlformats.org/drawingml/2006/main">
            <a:off x="7515225" y="4143375"/>
            <a:ext cx="2952750" cy="904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UC-04</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Execute approved simulation</a:t>
            </a:r>
          </a:p>
        </p:txBody>
      </p: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3000375" y="2671763"/>
            <a:ext cx="91440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a:off x="6391275" y="2671763"/>
            <a:ext cx="112395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1" name=""/>
          <p:cNvCxnSpPr>
            <a:stCxn xmlns:a="http://schemas.openxmlformats.org/drawingml/2006/main" id="6" idx="2"/>
            <a:endCxn xmlns:a="http://schemas.openxmlformats.org/drawingml/2006/main" id="9" idx="0"/>
          </p:cNvCxnSpPr>
          <p:nvPr/>
        </p:nvCxnSpPr>
        <p:spPr>
          <a:xfrm xmlns:a="http://schemas.openxmlformats.org/drawingml/2006/main">
            <a:off x="8991600" y="3124200"/>
            <a:ext cx="0" cy="1019175"/>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2" name=""/>
          <p:cNvCxnSpPr>
            <a:stCxn xmlns:a="http://schemas.openxmlformats.org/drawingml/2006/main" id="5" idx="2"/>
            <a:endCxn xmlns:a="http://schemas.openxmlformats.org/drawingml/2006/main" id="7" idx="0"/>
          </p:cNvCxnSpPr>
          <p:nvPr/>
        </p:nvCxnSpPr>
        <p:spPr>
          <a:xfrm xmlns:a="http://schemas.openxmlformats.org/drawingml/2006/main" flipH="1">
            <a:off x="1881188" y="3124200"/>
            <a:ext cx="3271838" cy="1019175"/>
          </a:xfrm>
          <a:prstGeom xmlns:a="http://schemas.openxmlformats.org/drawingml/2006/main" prst="bentConnector4">
            <a:avLst>
              <a:gd name="adj1" fmla="val 0"/>
              <a:gd name="adj2" fmla="val 50000"/>
            </a:avLst>
          </a:prstGeom>
          <a:ln xmlns:a="http://schemas.openxmlformats.org/drawingml/2006/main" w="19050">
            <a:solidFill>
              <a:srgbClr val="748591"/>
            </a:solidFill>
            <a:prstDash val="solid"/>
            <a:headEnd type="none" w="sm" len="sm"/>
            <a:tailEnd type="triangle" w="sm" len="sm"/>
          </a:ln>
        </p:spPr>
      </p:cxnSp>
      <p:cxnSp>
        <p:nvCxnSpPr>
          <p:cNvPr id="33" name=""/>
          <p:cNvCxnSpPr>
            <a:stCxn xmlns:a="http://schemas.openxmlformats.org/drawingml/2006/main" id="7" idx="3"/>
            <a:endCxn xmlns:a="http://schemas.openxmlformats.org/drawingml/2006/main" id="5" idx="1"/>
          </p:cNvCxnSpPr>
          <p:nvPr/>
        </p:nvCxnSpPr>
        <p:spPr>
          <a:xfrm xmlns:a="http://schemas.openxmlformats.org/drawingml/2006/main" flipV="1">
            <a:off x="3000375" y="2671763"/>
            <a:ext cx="914400" cy="1924050"/>
          </a:xfrm>
          <a:prstGeom xmlns:a="http://schemas.openxmlformats.org/drawingml/2006/main" prst="bentConnector3">
            <a:avLst>
              <a:gd name="adj1" fmla="val 50000"/>
            </a:avLst>
          </a:prstGeom>
          <a:ln xmlns:a="http://schemas.openxmlformats.org/drawingml/2006/main" w="19050">
            <a:solidFill>
              <a:srgbClr val="748591"/>
            </a:solidFill>
            <a:prstDash val="solid"/>
            <a:headEnd type="none" w="sm" len="sm"/>
            <a:tailEnd type="triangle" w="sm" len="sm"/>
          </a:ln>
        </p:spPr>
      </p:cxnSp>
      <p:cxnSp>
        <p:nvCxnSpPr>
          <p:cNvPr id="34" name=""/>
          <p:cNvCxnSpPr>
            <a:stCxn xmlns:a="http://schemas.openxmlformats.org/drawingml/2006/main" id="8" idx="0"/>
            <a:endCxn xmlns:a="http://schemas.openxmlformats.org/drawingml/2006/main" id="6" idx="2"/>
          </p:cNvCxnSpPr>
          <p:nvPr/>
        </p:nvCxnSpPr>
        <p:spPr>
          <a:xfrm xmlns:a="http://schemas.openxmlformats.org/drawingml/2006/main" flipV="1">
            <a:off x="5153025" y="3124200"/>
            <a:ext cx="3838575" cy="1019175"/>
          </a:xfrm>
          <a:prstGeom xmlns:a="http://schemas.openxmlformats.org/drawingml/2006/main" prst="straightConnector1">
            <a:avLst/>
          </a:prstGeom>
          <a:ln xmlns:a="http://schemas.openxmlformats.org/drawingml/2006/main" w="19050">
            <a:solidFill>
              <a:srgbClr val="748591"/>
            </a:solidFill>
            <a:prstDash val="dash"/>
            <a:headEnd type="none" w="sm" len="sm"/>
            <a:tailEnd type="none" w="sm" len="sm"/>
          </a:ln>
        </p:spPr>
      </p:cxnSp>
      <p:sp>
        <p:nvSpPr>
          <p:cNvPr id="16" name="text-36">
            <a:extLst xmlns:a="http://schemas.openxmlformats.org/drawingml/2006/main">
              <a:ext uri="{FF2B5EF4-FFF2-40B4-BE49-F238E27FC236}">
                <a16:creationId xmlns:a16="http://schemas.microsoft.com/office/drawing/2014/main" id="{8EDE4DF2-F56E-4ACA-B3F8-856B75E52E21}"/>
              </a:ext>
            </a:extLst>
          </p:cNvPr>
          <p:cNvSpPr>
            <a:spLocks xmlns:a="http://schemas.openxmlformats.org/drawingml/2006/main" noGrp="1"/>
          </p:cNvSpPr>
          <p:nvPr/>
        </p:nvSpPr>
        <p:spPr>
          <a:xfrm xmlns:a="http://schemas.openxmlformats.org/drawingml/2006/main">
            <a:off x="6324600" y="1781175"/>
            <a:ext cx="39338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current passing review</a:t>
            </a:r>
          </a:p>
        </p:txBody>
      </p:sp>
      <p:sp>
        <p:nvSpPr>
          <p:cNvPr id="17" name="text-37">
            <a:extLst xmlns:a="http://schemas.openxmlformats.org/drawingml/2006/main">
              <a:ext uri="{FF2B5EF4-FFF2-40B4-BE49-F238E27FC236}">
                <a16:creationId xmlns:a16="http://schemas.microsoft.com/office/drawing/2014/main" id="{D07FE592-C79C-4285-A168-03A0991DEA4C}"/>
              </a:ext>
            </a:extLst>
          </p:cNvPr>
          <p:cNvSpPr>
            <a:spLocks xmlns:a="http://schemas.openxmlformats.org/drawingml/2006/main" noGrp="1"/>
          </p:cNvSpPr>
          <p:nvPr/>
        </p:nvSpPr>
        <p:spPr>
          <a:xfrm xmlns:a="http://schemas.openxmlformats.org/drawingml/2006/main">
            <a:off x="7896225" y="3467100"/>
            <a:ext cx="2190750"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exact approval</a:t>
            </a:r>
          </a:p>
        </p:txBody>
      </p:sp>
      <p:sp>
        <p:nvSpPr>
          <p:cNvPr id="18" name="text-38">
            <a:extLst xmlns:a="http://schemas.openxmlformats.org/drawingml/2006/main">
              <a:ext uri="{FF2B5EF4-FFF2-40B4-BE49-F238E27FC236}">
                <a16:creationId xmlns:a16="http://schemas.microsoft.com/office/drawing/2014/main" id="{EF51049E-3463-42B3-BB33-6F5E6C53FF71}"/>
              </a:ext>
            </a:extLst>
          </p:cNvPr>
          <p:cNvSpPr>
            <a:spLocks xmlns:a="http://schemas.openxmlformats.org/drawingml/2006/main" noGrp="1"/>
          </p:cNvSpPr>
          <p:nvPr/>
        </p:nvSpPr>
        <p:spPr>
          <a:xfrm xmlns:a="http://schemas.openxmlformats.org/drawingml/2006/main">
            <a:off x="762000" y="55245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Clarification changes the input revision and requires a fresh assessment.</a:t>
            </a:r>
          </a:p>
        </p:txBody>
      </p:sp>
      <p:sp>
        <p:nvSpPr>
          <p:cNvPr id="19" name="text-39">
            <a:extLst xmlns:a="http://schemas.openxmlformats.org/drawingml/2006/main">
              <a:ext uri="{FF2B5EF4-FFF2-40B4-BE49-F238E27FC236}">
                <a16:creationId xmlns:a16="http://schemas.microsoft.com/office/drawing/2014/main" id="{539EAF52-0949-41DB-AF06-1D9D0D4681B1}"/>
              </a:ext>
            </a:extLst>
          </p:cNvPr>
          <p:cNvSpPr>
            <a:spLocks xmlns:a="http://schemas.openxmlformats.org/drawingml/2006/main" noGrp="1"/>
          </p:cNvSpPr>
          <p:nvPr/>
        </p:nvSpPr>
        <p:spPr>
          <a:xfrm xmlns:a="http://schemas.openxmlformats.org/drawingml/2006/main">
            <a:off x="762000" y="60007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650" b="0">
                <a:solidFill>
                  <a:srgbClr val="536472"/>
                </a:solidFill>
                <a:latin typeface="Arial"/>
                <a:ea typeface="Arial"/>
                <a:cs typeface="Arial"/>
              </a:defRPr>
            </a:pPr>
            <a:r>
              <a:rPr sz="1650" b="0">
                <a:solidFill>
                  <a:srgbClr val="536472"/>
                </a:solidFill>
                <a:latin typeface="Arial"/>
                <a:ea typeface="Arial"/>
                <a:cs typeface="Arial"/>
              </a:rPr>
              <a:t>Outcome notification follows saved results. The course core performs no real settlement.</a:t>
            </a:r>
          </a:p>
        </p:txBody>
      </p:sp>
    </p:spTree>
    <p:extLst>
      <p:ext uri="{BB962C8B-B14F-4D97-AF65-F5344CB8AC3E}">
        <p14:creationId xmlns:p14="http://schemas.microsoft.com/office/powerpoint/2010/main" val="12815240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40">
            <a:extLst xmlns:a="http://schemas.openxmlformats.org/drawingml/2006/main">
              <a:ext uri="{FF2B5EF4-FFF2-40B4-BE49-F238E27FC236}">
                <a16:creationId xmlns:a16="http://schemas.microsoft.com/office/drawing/2014/main" id="{4D650450-354D-4CE0-801C-F0E88E201102}"/>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B model chain for customer intake</a:t>
            </a:r>
          </a:p>
        </p:txBody>
      </p:sp>
      <p:sp>
        <p:nvSpPr>
          <p:cNvPr id="2" name="text-41">
            <a:extLst xmlns:a="http://schemas.openxmlformats.org/drawingml/2006/main">
              <a:ext uri="{FF2B5EF4-FFF2-40B4-BE49-F238E27FC236}">
                <a16:creationId xmlns:a16="http://schemas.microsoft.com/office/drawing/2014/main" id="{D3FB2262-C3C0-49A9-BB3E-05696A5112BD}"/>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AH-01 and UC-01: preserve one original request</a:t>
            </a:r>
          </a:p>
        </p:txBody>
      </p:sp>
      <p:sp>
        <p:nvSpPr>
          <p:cNvPr id="3" name="text-42">
            <a:extLst xmlns:a="http://schemas.openxmlformats.org/drawingml/2006/main">
              <a:ext uri="{FF2B5EF4-FFF2-40B4-BE49-F238E27FC236}">
                <a16:creationId xmlns:a16="http://schemas.microsoft.com/office/drawing/2014/main" id="{185290BD-D428-479D-BB78-50762C0ED16B}"/>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B   5 / 9</a:t>
            </a:r>
          </a:p>
        </p:txBody>
      </p:sp>
      <p:sp>
        <p:nvSpPr>
          <p:cNvPr id="4" name="text-43">
            <a:extLst xmlns:a="http://schemas.openxmlformats.org/drawingml/2006/main">
              <a:ext uri="{FF2B5EF4-FFF2-40B4-BE49-F238E27FC236}">
                <a16:creationId xmlns:a16="http://schemas.microsoft.com/office/drawing/2014/main" id="{20D6F039-0D96-469C-8AA0-1E865FD44E2A}"/>
              </a:ext>
            </a:extLst>
          </p:cNvPr>
          <p:cNvSpPr>
            <a:spLocks xmlns:a="http://schemas.openxmlformats.org/drawingml/2006/main" noGrp="1"/>
          </p:cNvSpPr>
          <p:nvPr/>
        </p:nvSpPr>
        <p:spPr>
          <a:xfrm xmlns:a="http://schemas.openxmlformats.org/drawingml/2006/main">
            <a:off x="1000125" y="1809750"/>
            <a:ext cx="1428750" cy="523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Customer</a:t>
            </a:r>
          </a:p>
        </p:txBody>
      </p:sp>
      <p:sp>
        <p:nvSpPr>
          <p:cNvPr id="5" name="text-44">
            <a:extLst xmlns:a="http://schemas.openxmlformats.org/drawingml/2006/main">
              <a:ext uri="{FF2B5EF4-FFF2-40B4-BE49-F238E27FC236}">
                <a16:creationId xmlns:a16="http://schemas.microsoft.com/office/drawing/2014/main" id="{26377155-7B9E-468D-A1A0-BCBAB8D5002F}"/>
              </a:ext>
            </a:extLst>
          </p:cNvPr>
          <p:cNvSpPr>
            <a:spLocks xmlns:a="http://schemas.openxmlformats.org/drawingml/2006/main" noGrp="1"/>
          </p:cNvSpPr>
          <p:nvPr/>
        </p:nvSpPr>
        <p:spPr>
          <a:xfrm xmlns:a="http://schemas.openxmlformats.org/drawingml/2006/main">
            <a:off x="4048125" y="1809750"/>
            <a:ext cx="1619250" cy="523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Portal</a:t>
            </a:r>
          </a:p>
        </p:txBody>
      </p:sp>
      <p:sp>
        <p:nvSpPr>
          <p:cNvPr id="6" name="text-45">
            <a:extLst xmlns:a="http://schemas.openxmlformats.org/drawingml/2006/main">
              <a:ext uri="{FF2B5EF4-FFF2-40B4-BE49-F238E27FC236}">
                <a16:creationId xmlns:a16="http://schemas.microsoft.com/office/drawing/2014/main" id="{F1E6F5DE-423E-487C-B5FD-A59BA3072498}"/>
              </a:ext>
            </a:extLst>
          </p:cNvPr>
          <p:cNvSpPr>
            <a:spLocks xmlns:a="http://schemas.openxmlformats.org/drawingml/2006/main" noGrp="1"/>
          </p:cNvSpPr>
          <p:nvPr/>
        </p:nvSpPr>
        <p:spPr>
          <a:xfrm xmlns:a="http://schemas.openxmlformats.org/drawingml/2006/main">
            <a:off x="7286625" y="1809750"/>
            <a:ext cx="1714500" cy="523875"/>
          </a:xfrm>
          <a:prstGeom xmlns:a="http://schemas.openxmlformats.org/drawingml/2006/main" prst="rect">
            <a:avLst/>
          </a:prstGeom>
          <a:solidFill xmlns:a="http://schemas.openxmlformats.org/drawingml/2006/main">
            <a:srgbClr val="142C4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Domain</a:t>
            </a:r>
          </a:p>
        </p:txBody>
      </p:sp>
      <p:sp>
        <p:nvSpPr>
          <p:cNvPr id="7" name="text-46">
            <a:extLst xmlns:a="http://schemas.openxmlformats.org/drawingml/2006/main">
              <a:ext uri="{FF2B5EF4-FFF2-40B4-BE49-F238E27FC236}">
                <a16:creationId xmlns:a16="http://schemas.microsoft.com/office/drawing/2014/main" id="{04EA369C-66F5-4416-B94F-FBFD98BC8289}"/>
              </a:ext>
            </a:extLst>
          </p:cNvPr>
          <p:cNvSpPr>
            <a:spLocks xmlns:a="http://schemas.openxmlformats.org/drawingml/2006/main" noGrp="1"/>
          </p:cNvSpPr>
          <p:nvPr/>
        </p:nvSpPr>
        <p:spPr>
          <a:xfrm xmlns:a="http://schemas.openxmlformats.org/drawingml/2006/main">
            <a:off x="1704975" y="5562600"/>
            <a:ext cx="190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8" name="text-47">
            <a:extLst xmlns:a="http://schemas.openxmlformats.org/drawingml/2006/main">
              <a:ext uri="{FF2B5EF4-FFF2-40B4-BE49-F238E27FC236}">
                <a16:creationId xmlns:a16="http://schemas.microsoft.com/office/drawing/2014/main" id="{C367B1C0-FA33-4634-9055-A38A9B76446C}"/>
              </a:ext>
            </a:extLst>
          </p:cNvPr>
          <p:cNvSpPr>
            <a:spLocks xmlns:a="http://schemas.openxmlformats.org/drawingml/2006/main" noGrp="1"/>
          </p:cNvSpPr>
          <p:nvPr/>
        </p:nvSpPr>
        <p:spPr>
          <a:xfrm xmlns:a="http://schemas.openxmlformats.org/drawingml/2006/main">
            <a:off x="4848225" y="5562600"/>
            <a:ext cx="190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9" name="text-48">
            <a:extLst xmlns:a="http://schemas.openxmlformats.org/drawingml/2006/main">
              <a:ext uri="{FF2B5EF4-FFF2-40B4-BE49-F238E27FC236}">
                <a16:creationId xmlns:a16="http://schemas.microsoft.com/office/drawing/2014/main" id="{EE93E9FE-D595-4618-933A-20AC7E6B57A8}"/>
              </a:ext>
            </a:extLst>
          </p:cNvPr>
          <p:cNvSpPr>
            <a:spLocks xmlns:a="http://schemas.openxmlformats.org/drawingml/2006/main" noGrp="1"/>
          </p:cNvSpPr>
          <p:nvPr/>
        </p:nvSpPr>
        <p:spPr>
          <a:xfrm xmlns:a="http://schemas.openxmlformats.org/drawingml/2006/main">
            <a:off x="8134350" y="5562600"/>
            <a:ext cx="190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41" name=""/>
          <p:cNvCxnSpPr>
            <a:stCxn xmlns:a="http://schemas.openxmlformats.org/drawingml/2006/main" id="4" idx="2"/>
            <a:endCxn xmlns:a="http://schemas.openxmlformats.org/drawingml/2006/main" id="7" idx="0"/>
          </p:cNvCxnSpPr>
          <p:nvPr/>
        </p:nvCxnSpPr>
        <p:spPr>
          <a:xfrm xmlns:a="http://schemas.openxmlformats.org/drawingml/2006/main">
            <a:off x="1714500" y="2333625"/>
            <a:ext cx="0" cy="3228975"/>
          </a:xfrm>
          <a:prstGeom xmlns:a="http://schemas.openxmlformats.org/drawingml/2006/main" prst="straightConnector1">
            <a:avLst/>
          </a:prstGeom>
          <a:ln xmlns:a="http://schemas.openxmlformats.org/drawingml/2006/main" w="9525">
            <a:solidFill>
              <a:srgbClr val="748591"/>
            </a:solidFill>
            <a:prstDash val="dash"/>
            <a:headEnd type="none" w="sm" len="sm"/>
            <a:tailEnd type="none" w="sm" len="sm"/>
          </a:ln>
        </p:spPr>
      </p:cxnSp>
      <p:cxnSp>
        <p:nvCxnSpPr>
          <p:cNvPr id="42" name=""/>
          <p:cNvCxnSpPr>
            <a:stCxn xmlns:a="http://schemas.openxmlformats.org/drawingml/2006/main" id="5" idx="2"/>
            <a:endCxn xmlns:a="http://schemas.openxmlformats.org/drawingml/2006/main" id="8" idx="0"/>
          </p:cNvCxnSpPr>
          <p:nvPr/>
        </p:nvCxnSpPr>
        <p:spPr>
          <a:xfrm xmlns:a="http://schemas.openxmlformats.org/drawingml/2006/main">
            <a:off x="4857750" y="2333625"/>
            <a:ext cx="0" cy="3228975"/>
          </a:xfrm>
          <a:prstGeom xmlns:a="http://schemas.openxmlformats.org/drawingml/2006/main" prst="straightConnector1">
            <a:avLst/>
          </a:prstGeom>
          <a:ln xmlns:a="http://schemas.openxmlformats.org/drawingml/2006/main" w="9525">
            <a:solidFill>
              <a:srgbClr val="748591"/>
            </a:solidFill>
            <a:prstDash val="dash"/>
            <a:headEnd type="none" w="sm" len="sm"/>
            <a:tailEnd type="none" w="sm" len="sm"/>
          </a:ln>
        </p:spPr>
      </p:cxnSp>
      <p:cxnSp>
        <p:nvCxnSpPr>
          <p:cNvPr id="43" name=""/>
          <p:cNvCxnSpPr>
            <a:stCxn xmlns:a="http://schemas.openxmlformats.org/drawingml/2006/main" id="6" idx="2"/>
            <a:endCxn xmlns:a="http://schemas.openxmlformats.org/drawingml/2006/main" id="9" idx="0"/>
          </p:cNvCxnSpPr>
          <p:nvPr/>
        </p:nvCxnSpPr>
        <p:spPr>
          <a:xfrm xmlns:a="http://schemas.openxmlformats.org/drawingml/2006/main">
            <a:off x="8143875" y="2333625"/>
            <a:ext cx="0" cy="3228975"/>
          </a:xfrm>
          <a:prstGeom xmlns:a="http://schemas.openxmlformats.org/drawingml/2006/main" prst="straightConnector1">
            <a:avLst/>
          </a:prstGeom>
          <a:ln xmlns:a="http://schemas.openxmlformats.org/drawingml/2006/main" w="9525">
            <a:solidFill>
              <a:srgbClr val="748591"/>
            </a:solidFill>
            <a:prstDash val="dash"/>
            <a:headEnd type="none" w="sm" len="sm"/>
            <a:tailEnd type="none" w="sm" len="sm"/>
          </a:ln>
        </p:spPr>
      </p:cxnSp>
      <p:sp>
        <p:nvSpPr>
          <p:cNvPr id="13" name="text-49">
            <a:extLst xmlns:a="http://schemas.openxmlformats.org/drawingml/2006/main">
              <a:ext uri="{FF2B5EF4-FFF2-40B4-BE49-F238E27FC236}">
                <a16:creationId xmlns:a16="http://schemas.microsoft.com/office/drawing/2014/main" id="{D0853711-EEED-4522-A250-8C3F9FDEB5DE}"/>
              </a:ext>
            </a:extLst>
          </p:cNvPr>
          <p:cNvSpPr>
            <a:spLocks xmlns:a="http://schemas.openxmlformats.org/drawingml/2006/main" noGrp="1"/>
          </p:cNvSpPr>
          <p:nvPr/>
        </p:nvSpPr>
        <p:spPr>
          <a:xfrm xmlns:a="http://schemas.openxmlformats.org/drawingml/2006/main">
            <a:off x="1714500" y="28765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14" name="text-50">
            <a:extLst xmlns:a="http://schemas.openxmlformats.org/drawingml/2006/main">
              <a:ext uri="{FF2B5EF4-FFF2-40B4-BE49-F238E27FC236}">
                <a16:creationId xmlns:a16="http://schemas.microsoft.com/office/drawing/2014/main" id="{AD68A8D9-DC24-4FCB-ADBA-7CE6957698DF}"/>
              </a:ext>
            </a:extLst>
          </p:cNvPr>
          <p:cNvSpPr>
            <a:spLocks xmlns:a="http://schemas.openxmlformats.org/drawingml/2006/main" noGrp="1"/>
          </p:cNvSpPr>
          <p:nvPr/>
        </p:nvSpPr>
        <p:spPr>
          <a:xfrm xmlns:a="http://schemas.openxmlformats.org/drawingml/2006/main">
            <a:off x="4857750" y="28765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46" name=""/>
          <p:cNvCxnSpPr>
            <a:stCxn xmlns:a="http://schemas.openxmlformats.org/drawingml/2006/main" id="13" idx="3"/>
            <a:endCxn xmlns:a="http://schemas.openxmlformats.org/drawingml/2006/main" id="14" idx="1"/>
          </p:cNvCxnSpPr>
          <p:nvPr/>
        </p:nvCxnSpPr>
        <p:spPr>
          <a:xfrm xmlns:a="http://schemas.openxmlformats.org/drawingml/2006/main">
            <a:off x="1724025" y="2881313"/>
            <a:ext cx="3133725"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6" name="text-51">
            <a:extLst xmlns:a="http://schemas.openxmlformats.org/drawingml/2006/main">
              <a:ext uri="{FF2B5EF4-FFF2-40B4-BE49-F238E27FC236}">
                <a16:creationId xmlns:a16="http://schemas.microsoft.com/office/drawing/2014/main" id="{FDB5DF35-907A-4FD2-B3EC-7DD95029B580}"/>
              </a:ext>
            </a:extLst>
          </p:cNvPr>
          <p:cNvSpPr>
            <a:spLocks xmlns:a="http://schemas.openxmlformats.org/drawingml/2006/main" noGrp="1"/>
          </p:cNvSpPr>
          <p:nvPr/>
        </p:nvSpPr>
        <p:spPr>
          <a:xfrm xmlns:a="http://schemas.openxmlformats.org/drawingml/2006/main">
            <a:off x="1790700" y="2524125"/>
            <a:ext cx="2990850"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650" b="0">
                <a:solidFill>
                  <a:srgbClr val="536472"/>
                </a:solidFill>
                <a:latin typeface="Arial"/>
                <a:ea typeface="Arial"/>
                <a:cs typeface="Arial"/>
              </a:defRPr>
            </a:pPr>
            <a:r>
              <a:rPr sz="1650" b="0">
                <a:solidFill>
                  <a:srgbClr val="536472"/>
                </a:solidFill>
                <a:latin typeface="Arial"/>
                <a:ea typeface="Arial"/>
                <a:cs typeface="Arial"/>
              </a:rPr>
              <a:t>Request and evidence</a:t>
            </a:r>
          </a:p>
        </p:txBody>
      </p:sp>
      <p:sp>
        <p:nvSpPr>
          <p:cNvPr id="17" name="text-52">
            <a:extLst xmlns:a="http://schemas.openxmlformats.org/drawingml/2006/main">
              <a:ext uri="{FF2B5EF4-FFF2-40B4-BE49-F238E27FC236}">
                <a16:creationId xmlns:a16="http://schemas.microsoft.com/office/drawing/2014/main" id="{6F5B299B-D61E-4C06-8A69-6807AECB7EF8}"/>
              </a:ext>
            </a:extLst>
          </p:cNvPr>
          <p:cNvSpPr>
            <a:spLocks xmlns:a="http://schemas.openxmlformats.org/drawingml/2006/main" noGrp="1"/>
          </p:cNvSpPr>
          <p:nvPr/>
        </p:nvSpPr>
        <p:spPr>
          <a:xfrm xmlns:a="http://schemas.openxmlformats.org/drawingml/2006/main">
            <a:off x="4857750" y="3619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18" name="text-53">
            <a:extLst xmlns:a="http://schemas.openxmlformats.org/drawingml/2006/main">
              <a:ext uri="{FF2B5EF4-FFF2-40B4-BE49-F238E27FC236}">
                <a16:creationId xmlns:a16="http://schemas.microsoft.com/office/drawing/2014/main" id="{C53C4C5F-7EFC-4BB7-AC7F-6FB8EE5FE5BD}"/>
              </a:ext>
            </a:extLst>
          </p:cNvPr>
          <p:cNvSpPr>
            <a:spLocks xmlns:a="http://schemas.openxmlformats.org/drawingml/2006/main" noGrp="1"/>
          </p:cNvSpPr>
          <p:nvPr/>
        </p:nvSpPr>
        <p:spPr>
          <a:xfrm xmlns:a="http://schemas.openxmlformats.org/drawingml/2006/main">
            <a:off x="8143875" y="361950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50" name=""/>
          <p:cNvCxnSpPr>
            <a:stCxn xmlns:a="http://schemas.openxmlformats.org/drawingml/2006/main" id="17" idx="3"/>
            <a:endCxn xmlns:a="http://schemas.openxmlformats.org/drawingml/2006/main" id="18" idx="1"/>
          </p:cNvCxnSpPr>
          <p:nvPr/>
        </p:nvCxnSpPr>
        <p:spPr>
          <a:xfrm xmlns:a="http://schemas.openxmlformats.org/drawingml/2006/main">
            <a:off x="4867275" y="3624263"/>
            <a:ext cx="327660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20" name="text-54">
            <a:extLst xmlns:a="http://schemas.openxmlformats.org/drawingml/2006/main">
              <a:ext uri="{FF2B5EF4-FFF2-40B4-BE49-F238E27FC236}">
                <a16:creationId xmlns:a16="http://schemas.microsoft.com/office/drawing/2014/main" id="{08C2C151-557B-4118-8F5C-8F7A275EAA76}"/>
              </a:ext>
            </a:extLst>
          </p:cNvPr>
          <p:cNvSpPr>
            <a:spLocks xmlns:a="http://schemas.openxmlformats.org/drawingml/2006/main" noGrp="1"/>
          </p:cNvSpPr>
          <p:nvPr/>
        </p:nvSpPr>
        <p:spPr>
          <a:xfrm xmlns:a="http://schemas.openxmlformats.org/drawingml/2006/main">
            <a:off x="4933950" y="3267075"/>
            <a:ext cx="31337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650" b="0">
                <a:solidFill>
                  <a:srgbClr val="536472"/>
                </a:solidFill>
                <a:latin typeface="Arial"/>
                <a:ea typeface="Arial"/>
                <a:cs typeface="Arial"/>
              </a:defRPr>
            </a:pPr>
            <a:r>
              <a:rPr sz="1650" b="0">
                <a:solidFill>
                  <a:srgbClr val="536472"/>
                </a:solidFill>
                <a:latin typeface="Arial"/>
                <a:ea typeface="Arial"/>
                <a:cs typeface="Arial"/>
              </a:rPr>
              <a:t>Stable key + same payload</a:t>
            </a:r>
          </a:p>
        </p:txBody>
      </p:sp>
      <p:sp>
        <p:nvSpPr>
          <p:cNvPr id="21" name="text-55">
            <a:extLst xmlns:a="http://schemas.openxmlformats.org/drawingml/2006/main">
              <a:ext uri="{FF2B5EF4-FFF2-40B4-BE49-F238E27FC236}">
                <a16:creationId xmlns:a16="http://schemas.microsoft.com/office/drawing/2014/main" id="{9EF5F733-432A-4DB5-8B60-49750126E8E3}"/>
              </a:ext>
            </a:extLst>
          </p:cNvPr>
          <p:cNvSpPr>
            <a:spLocks xmlns:a="http://schemas.openxmlformats.org/drawingml/2006/main" noGrp="1"/>
          </p:cNvSpPr>
          <p:nvPr/>
        </p:nvSpPr>
        <p:spPr>
          <a:xfrm xmlns:a="http://schemas.openxmlformats.org/drawingml/2006/main">
            <a:off x="8143875" y="43243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22" name="text-56">
            <a:extLst xmlns:a="http://schemas.openxmlformats.org/drawingml/2006/main">
              <a:ext uri="{FF2B5EF4-FFF2-40B4-BE49-F238E27FC236}">
                <a16:creationId xmlns:a16="http://schemas.microsoft.com/office/drawing/2014/main" id="{F4898308-31C9-4522-B8DA-5680D094ADD0}"/>
              </a:ext>
            </a:extLst>
          </p:cNvPr>
          <p:cNvSpPr>
            <a:spLocks xmlns:a="http://schemas.openxmlformats.org/drawingml/2006/main" noGrp="1"/>
          </p:cNvSpPr>
          <p:nvPr/>
        </p:nvSpPr>
        <p:spPr>
          <a:xfrm xmlns:a="http://schemas.openxmlformats.org/drawingml/2006/main">
            <a:off x="4857750" y="43243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54" name=""/>
          <p:cNvCxnSpPr>
            <a:stCxn xmlns:a="http://schemas.openxmlformats.org/drawingml/2006/main" id="21" idx="1"/>
            <a:endCxn xmlns:a="http://schemas.openxmlformats.org/drawingml/2006/main" id="22" idx="3"/>
          </p:cNvCxnSpPr>
          <p:nvPr/>
        </p:nvCxnSpPr>
        <p:spPr>
          <a:xfrm xmlns:a="http://schemas.openxmlformats.org/drawingml/2006/main" flipH="1">
            <a:off x="4867275" y="4329113"/>
            <a:ext cx="327660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24" name="text-57">
            <a:extLst xmlns:a="http://schemas.openxmlformats.org/drawingml/2006/main">
              <a:ext uri="{FF2B5EF4-FFF2-40B4-BE49-F238E27FC236}">
                <a16:creationId xmlns:a16="http://schemas.microsoft.com/office/drawing/2014/main" id="{38FFBBC2-ADB3-4712-AA4F-564F01108E57}"/>
              </a:ext>
            </a:extLst>
          </p:cNvPr>
          <p:cNvSpPr>
            <a:spLocks xmlns:a="http://schemas.openxmlformats.org/drawingml/2006/main" noGrp="1"/>
          </p:cNvSpPr>
          <p:nvPr/>
        </p:nvSpPr>
        <p:spPr>
          <a:xfrm xmlns:a="http://schemas.openxmlformats.org/drawingml/2006/main">
            <a:off x="4933950" y="3971925"/>
            <a:ext cx="31337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650" b="0">
                <a:solidFill>
                  <a:srgbClr val="536472"/>
                </a:solidFill>
                <a:latin typeface="Arial"/>
                <a:ea typeface="Arial"/>
                <a:cs typeface="Arial"/>
              </a:defRPr>
            </a:pPr>
            <a:r>
              <a:rPr sz="1650" b="0">
                <a:solidFill>
                  <a:srgbClr val="536472"/>
                </a:solidFill>
                <a:latin typeface="Arial"/>
                <a:ea typeface="Arial"/>
                <a:cs typeface="Arial"/>
              </a:rPr>
              <a:t>Accepted reference or error</a:t>
            </a:r>
          </a:p>
        </p:txBody>
      </p:sp>
      <p:sp>
        <p:nvSpPr>
          <p:cNvPr id="25" name="text-58">
            <a:extLst xmlns:a="http://schemas.openxmlformats.org/drawingml/2006/main">
              <a:ext uri="{FF2B5EF4-FFF2-40B4-BE49-F238E27FC236}">
                <a16:creationId xmlns:a16="http://schemas.microsoft.com/office/drawing/2014/main" id="{BEE60C8D-2C79-4FAB-AC88-F61DA4F8477E}"/>
              </a:ext>
            </a:extLst>
          </p:cNvPr>
          <p:cNvSpPr>
            <a:spLocks xmlns:a="http://schemas.openxmlformats.org/drawingml/2006/main" noGrp="1"/>
          </p:cNvSpPr>
          <p:nvPr/>
        </p:nvSpPr>
        <p:spPr>
          <a:xfrm xmlns:a="http://schemas.openxmlformats.org/drawingml/2006/main">
            <a:off x="4857750" y="50768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sp>
        <p:nvSpPr>
          <p:cNvPr id="26" name="text-59">
            <a:extLst xmlns:a="http://schemas.openxmlformats.org/drawingml/2006/main">
              <a:ext uri="{FF2B5EF4-FFF2-40B4-BE49-F238E27FC236}">
                <a16:creationId xmlns:a16="http://schemas.microsoft.com/office/drawing/2014/main" id="{8C51AD87-CEC5-4DAD-94F4-3DC8ECF02921}"/>
              </a:ext>
            </a:extLst>
          </p:cNvPr>
          <p:cNvSpPr>
            <a:spLocks xmlns:a="http://schemas.openxmlformats.org/drawingml/2006/main" noGrp="1"/>
          </p:cNvSpPr>
          <p:nvPr/>
        </p:nvSpPr>
        <p:spPr>
          <a:xfrm xmlns:a="http://schemas.openxmlformats.org/drawingml/2006/main">
            <a:off x="8143875" y="5076825"/>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58" name=""/>
          <p:cNvCxnSpPr>
            <a:stCxn xmlns:a="http://schemas.openxmlformats.org/drawingml/2006/main" id="25" idx="3"/>
            <a:endCxn xmlns:a="http://schemas.openxmlformats.org/drawingml/2006/main" id="26" idx="1"/>
          </p:cNvCxnSpPr>
          <p:nvPr/>
        </p:nvCxnSpPr>
        <p:spPr>
          <a:xfrm xmlns:a="http://schemas.openxmlformats.org/drawingml/2006/main">
            <a:off x="4867275" y="5081588"/>
            <a:ext cx="327660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28" name="text-60">
            <a:extLst xmlns:a="http://schemas.openxmlformats.org/drawingml/2006/main">
              <a:ext uri="{FF2B5EF4-FFF2-40B4-BE49-F238E27FC236}">
                <a16:creationId xmlns:a16="http://schemas.microsoft.com/office/drawing/2014/main" id="{F7EAFA69-0455-45C3-B3FD-0D65B6B5AC10}"/>
              </a:ext>
            </a:extLst>
          </p:cNvPr>
          <p:cNvSpPr>
            <a:spLocks xmlns:a="http://schemas.openxmlformats.org/drawingml/2006/main" noGrp="1"/>
          </p:cNvSpPr>
          <p:nvPr/>
        </p:nvSpPr>
        <p:spPr>
          <a:xfrm xmlns:a="http://schemas.openxmlformats.org/drawingml/2006/main">
            <a:off x="4933950" y="4724400"/>
            <a:ext cx="31337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650" b="0">
                <a:solidFill>
                  <a:srgbClr val="536472"/>
                </a:solidFill>
                <a:latin typeface="Arial"/>
                <a:ea typeface="Arial"/>
                <a:cs typeface="Arial"/>
              </a:defRPr>
            </a:pPr>
            <a:r>
              <a:rPr sz="1650" b="0">
                <a:solidFill>
                  <a:srgbClr val="536472"/>
                </a:solidFill>
                <a:latin typeface="Arial"/>
                <a:ea typeface="Arial"/>
                <a:cs typeface="Arial"/>
              </a:rPr>
              <a:t>Replay after uncertain response</a:t>
            </a:r>
          </a:p>
        </p:txBody>
      </p:sp>
      <p:sp>
        <p:nvSpPr>
          <p:cNvPr id="29" name="text-61">
            <a:extLst xmlns:a="http://schemas.openxmlformats.org/drawingml/2006/main">
              <a:ext uri="{FF2B5EF4-FFF2-40B4-BE49-F238E27FC236}">
                <a16:creationId xmlns:a16="http://schemas.microsoft.com/office/drawing/2014/main" id="{5E0CEC77-152A-49B0-9186-BBE8514E67F3}"/>
              </a:ext>
            </a:extLst>
          </p:cNvPr>
          <p:cNvSpPr>
            <a:spLocks xmlns:a="http://schemas.openxmlformats.org/drawingml/2006/main" noGrp="1"/>
          </p:cNvSpPr>
          <p:nvPr/>
        </p:nvSpPr>
        <p:spPr>
          <a:xfrm xmlns:a="http://schemas.openxmlformats.org/drawingml/2006/main">
            <a:off x="9286875" y="2705100"/>
            <a:ext cx="2238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142C43"/>
                </a:solidFill>
                <a:latin typeface="Arial"/>
                <a:ea typeface="Arial"/>
                <a:cs typeface="Arial"/>
              </a:defRPr>
            </a:pPr>
            <a:r>
              <a:rPr sz="1800" b="0">
                <a:solidFill>
                  <a:srgbClr val="142C43"/>
                </a:solidFill>
                <a:latin typeface="Arial"/>
                <a:ea typeface="Arial"/>
                <a:cs typeface="Arial"/>
              </a:rPr>
              <a:t>Domain checks current</a:t>
            </a:r>
          </a:p>
          <a:p xmlns:a="http://schemas.openxmlformats.org/drawingml/2006/main">
            <a:pPr algn="l">
              <a:defRPr sz="1800" b="0">
                <a:solidFill>
                  <a:srgbClr val="142C43"/>
                </a:solidFill>
                <a:latin typeface="Arial"/>
                <a:ea typeface="Arial"/>
                <a:cs typeface="Arial"/>
              </a:defRPr>
            </a:pPr>
            <a:r>
              <a:rPr sz="1800" b="0">
                <a:solidFill>
                  <a:srgbClr val="142C43"/>
                </a:solidFill>
                <a:latin typeface="Arial"/>
                <a:ea typeface="Arial"/>
                <a:cs typeface="Arial"/>
              </a:rPr>
              <a:t>identity and access</a:t>
            </a:r>
          </a:p>
          <a:p xmlns:a="http://schemas.openxmlformats.org/drawingml/2006/main">
            <a:pPr algn="l">
              <a:defRPr sz="1800" b="0">
                <a:solidFill>
                  <a:srgbClr val="142C43"/>
                </a:solidFill>
                <a:latin typeface="Arial"/>
                <a:ea typeface="Arial"/>
                <a:cs typeface="Arial"/>
              </a:defRPr>
            </a:pPr>
            <a:r>
              <a:rPr sz="1800" b="0">
                <a:solidFill>
                  <a:srgbClr val="142C43"/>
                </a:solidFill>
                <a:latin typeface="Arial"/>
                <a:ea typeface="Arial"/>
                <a:cs typeface="Arial"/>
              </a:rPr>
              <a:t>on every replay.</a:t>
            </a:r>
          </a:p>
        </p:txBody>
      </p:sp>
      <p:sp>
        <p:nvSpPr>
          <p:cNvPr id="30" name="text-62">
            <a:extLst xmlns:a="http://schemas.openxmlformats.org/drawingml/2006/main">
              <a:ext uri="{FF2B5EF4-FFF2-40B4-BE49-F238E27FC236}">
                <a16:creationId xmlns:a16="http://schemas.microsoft.com/office/drawing/2014/main" id="{14E8A4A5-3597-4DBA-85DE-B3BB49F88921}"/>
              </a:ext>
            </a:extLst>
          </p:cNvPr>
          <p:cNvSpPr>
            <a:spLocks xmlns:a="http://schemas.openxmlformats.org/drawingml/2006/main" noGrp="1"/>
          </p:cNvSpPr>
          <p:nvPr/>
        </p:nvSpPr>
        <p:spPr>
          <a:xfrm xmlns:a="http://schemas.openxmlformats.org/drawingml/2006/main">
            <a:off x="9286875" y="4210050"/>
            <a:ext cx="2238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127B78"/>
                </a:solidFill>
                <a:latin typeface="Arial"/>
                <a:ea typeface="Arial"/>
                <a:cs typeface="Arial"/>
              </a:defRPr>
            </a:pPr>
            <a:r>
              <a:rPr sz="1800" b="0">
                <a:solidFill>
                  <a:srgbClr val="127B78"/>
                </a:solidFill>
                <a:latin typeface="Arial"/>
                <a:ea typeface="Arial"/>
                <a:cs typeface="Arial"/>
              </a:rPr>
              <a:t>A matching replay</a:t>
            </a:r>
          </a:p>
          <a:p xmlns:a="http://schemas.openxmlformats.org/drawingml/2006/main">
            <a:pPr algn="l">
              <a:defRPr sz="1800" b="0">
                <a:solidFill>
                  <a:srgbClr val="127B78"/>
                </a:solidFill>
                <a:latin typeface="Arial"/>
                <a:ea typeface="Arial"/>
                <a:cs typeface="Arial"/>
              </a:defRPr>
            </a:pPr>
            <a:r>
              <a:rPr sz="1800" b="0">
                <a:solidFill>
                  <a:srgbClr val="127B78"/>
                </a:solidFill>
                <a:latin typeface="Arial"/>
                <a:ea typeface="Arial"/>
                <a:cs typeface="Arial"/>
              </a:rPr>
              <a:t>creates no new</a:t>
            </a:r>
          </a:p>
          <a:p xmlns:a="http://schemas.openxmlformats.org/drawingml/2006/main">
            <a:pPr algn="l">
              <a:defRPr sz="1800" b="0">
                <a:solidFill>
                  <a:srgbClr val="127B78"/>
                </a:solidFill>
                <a:latin typeface="Arial"/>
                <a:ea typeface="Arial"/>
                <a:cs typeface="Arial"/>
              </a:defRPr>
            </a:pPr>
            <a:r>
              <a:rPr sz="1800" b="0">
                <a:solidFill>
                  <a:srgbClr val="127B78"/>
                </a:solidFill>
                <a:latin typeface="Arial"/>
                <a:ea typeface="Arial"/>
                <a:cs typeface="Arial"/>
              </a:rPr>
              <a:t>case or work.</a:t>
            </a:r>
          </a:p>
        </p:txBody>
      </p:sp>
      <p:sp>
        <p:nvSpPr>
          <p:cNvPr id="31" name="text-63">
            <a:extLst xmlns:a="http://schemas.openxmlformats.org/drawingml/2006/main">
              <a:ext uri="{FF2B5EF4-FFF2-40B4-BE49-F238E27FC236}">
                <a16:creationId xmlns:a16="http://schemas.microsoft.com/office/drawing/2014/main" id="{AEC6BFB1-CB5F-4E66-9AED-F782002AB9E0}"/>
              </a:ext>
            </a:extLst>
          </p:cNvPr>
          <p:cNvSpPr>
            <a:spLocks xmlns:a="http://schemas.openxmlformats.org/drawingml/2006/main" noGrp="1"/>
          </p:cNvSpPr>
          <p:nvPr/>
        </p:nvSpPr>
        <p:spPr>
          <a:xfrm xmlns:a="http://schemas.openxmlformats.org/drawingml/2006/main">
            <a:off x="762000" y="57340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142C43"/>
                </a:solidFill>
                <a:latin typeface="Arial"/>
                <a:ea typeface="Arial"/>
                <a:cs typeface="Arial"/>
              </a:defRPr>
            </a:pPr>
            <a:r>
              <a:rPr sz="1800" b="0">
                <a:solidFill>
                  <a:srgbClr val="142C43"/>
                </a:solidFill>
                <a:latin typeface="Arial"/>
                <a:ea typeface="Arial"/>
                <a:cs typeface="Arial"/>
              </a:rPr>
              <a:t>Activity: accept or reject the request. State: IntakeSession persists beyond the browser view.</a:t>
            </a:r>
          </a:p>
        </p:txBody>
      </p:sp>
    </p:spTree>
    <p:extLst>
      <p:ext uri="{BB962C8B-B14F-4D97-AF65-F5344CB8AC3E}">
        <p14:creationId xmlns:p14="http://schemas.microsoft.com/office/powerpoint/2010/main" val="17018681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64">
            <a:extLst xmlns:a="http://schemas.openxmlformats.org/drawingml/2006/main">
              <a:ext uri="{FF2B5EF4-FFF2-40B4-BE49-F238E27FC236}">
                <a16:creationId xmlns:a16="http://schemas.microsoft.com/office/drawing/2014/main" id="{34C8439D-B30F-44CF-86BA-29AAE3FA1BAE}"/>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C model chain for independent review</a:t>
            </a:r>
          </a:p>
        </p:txBody>
      </p:sp>
      <p:sp>
        <p:nvSpPr>
          <p:cNvPr id="2" name="text-65">
            <a:extLst xmlns:a="http://schemas.openxmlformats.org/drawingml/2006/main">
              <a:ext uri="{FF2B5EF4-FFF2-40B4-BE49-F238E27FC236}">
                <a16:creationId xmlns:a16="http://schemas.microsoft.com/office/drawing/2014/main" id="{88A700B9-CBAD-4D26-8DD8-9E25E3F9C596}"/>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AH-08 and UC-02: expose conflicts and stop unsafe approval</a:t>
            </a:r>
          </a:p>
        </p:txBody>
      </p:sp>
      <p:sp>
        <p:nvSpPr>
          <p:cNvPr id="3" name="text-66">
            <a:extLst xmlns:a="http://schemas.openxmlformats.org/drawingml/2006/main">
              <a:ext uri="{FF2B5EF4-FFF2-40B4-BE49-F238E27FC236}">
                <a16:creationId xmlns:a16="http://schemas.microsoft.com/office/drawing/2014/main" id="{2DDA63E2-093A-49F5-BF12-7CA065C3BA87}"/>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C   6 / 9</a:t>
            </a:r>
          </a:p>
        </p:txBody>
      </p:sp>
      <p:sp>
        <p:nvSpPr>
          <p:cNvPr id="4" name="text-67">
            <a:extLst xmlns:a="http://schemas.openxmlformats.org/drawingml/2006/main">
              <a:ext uri="{FF2B5EF4-FFF2-40B4-BE49-F238E27FC236}">
                <a16:creationId xmlns:a16="http://schemas.microsoft.com/office/drawing/2014/main" id="{97A3812C-9118-48B1-92E3-93F5252F3B91}"/>
              </a:ext>
            </a:extLst>
          </p:cNvPr>
          <p:cNvSpPr>
            <a:spLocks xmlns:a="http://schemas.openxmlformats.org/drawingml/2006/main" noGrp="1"/>
          </p:cNvSpPr>
          <p:nvPr/>
        </p:nvSpPr>
        <p:spPr>
          <a:xfrm xmlns:a="http://schemas.openxmlformats.org/drawingml/2006/main">
            <a:off x="619125" y="1800225"/>
            <a:ext cx="3048000" cy="828675"/>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C1 retrieves sources</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and verifies citations</a:t>
            </a:r>
          </a:p>
        </p:txBody>
      </p:sp>
      <p:sp>
        <p:nvSpPr>
          <p:cNvPr id="5" name="text-68">
            <a:extLst xmlns:a="http://schemas.openxmlformats.org/drawingml/2006/main">
              <a:ext uri="{FF2B5EF4-FFF2-40B4-BE49-F238E27FC236}">
                <a16:creationId xmlns:a16="http://schemas.microsoft.com/office/drawing/2014/main" id="{CEB98224-D39E-410F-BD92-525BF4B4D427}"/>
              </a:ext>
            </a:extLst>
          </p:cNvPr>
          <p:cNvSpPr>
            <a:spLocks xmlns:a="http://schemas.openxmlformats.org/drawingml/2006/main" noGrp="1"/>
          </p:cNvSpPr>
          <p:nvPr/>
        </p:nvSpPr>
        <p:spPr>
          <a:xfrm xmlns:a="http://schemas.openxmlformats.org/drawingml/2006/main">
            <a:off x="4505325" y="1800225"/>
            <a:ext cx="3190875" cy="8286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Domain accepts the complete</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proposal and evidence bundle</a:t>
            </a:r>
          </a:p>
        </p:txBody>
      </p:sp>
      <p:sp>
        <p:nvSpPr>
          <p:cNvPr id="6" name="text-69">
            <a:extLst xmlns:a="http://schemas.openxmlformats.org/drawingml/2006/main">
              <a:ext uri="{FF2B5EF4-FFF2-40B4-BE49-F238E27FC236}">
                <a16:creationId xmlns:a16="http://schemas.microsoft.com/office/drawing/2014/main" id="{E5B77B28-C8B7-436C-B1D6-AFCAB92287BA}"/>
              </a:ext>
            </a:extLst>
          </p:cNvPr>
          <p:cNvSpPr>
            <a:spLocks xmlns:a="http://schemas.openxmlformats.org/drawingml/2006/main" noGrp="1"/>
          </p:cNvSpPr>
          <p:nvPr/>
        </p:nvSpPr>
        <p:spPr>
          <a:xfrm xmlns:a="http://schemas.openxmlformats.org/drawingml/2006/main">
            <a:off x="8562975" y="1800225"/>
            <a:ext cx="3000375" cy="828675"/>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C2 independently reviews</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Domain validates the reply</a:t>
            </a:r>
          </a:p>
        </p:txBody>
      </p:sp>
      <p:cxnSp>
        <p:nvCxnSpPr>
          <p:cNvPr id="30" name=""/>
          <p:cNvCxnSpPr>
            <a:stCxn xmlns:a="http://schemas.openxmlformats.org/drawingml/2006/main" id="4" idx="3"/>
            <a:endCxn xmlns:a="http://schemas.openxmlformats.org/drawingml/2006/main" id="5" idx="1"/>
          </p:cNvCxnSpPr>
          <p:nvPr/>
        </p:nvCxnSpPr>
        <p:spPr>
          <a:xfrm xmlns:a="http://schemas.openxmlformats.org/drawingml/2006/main">
            <a:off x="3667125" y="2214563"/>
            <a:ext cx="83820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696200" y="2214563"/>
            <a:ext cx="866775"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9" name="text-70">
            <a:extLst xmlns:a="http://schemas.openxmlformats.org/drawingml/2006/main">
              <a:ext uri="{FF2B5EF4-FFF2-40B4-BE49-F238E27FC236}">
                <a16:creationId xmlns:a16="http://schemas.microsoft.com/office/drawing/2014/main" id="{6EE955B8-E90E-4908-8B0F-34E4B2FF5680}"/>
              </a:ext>
            </a:extLst>
          </p:cNvPr>
          <p:cNvSpPr>
            <a:spLocks xmlns:a="http://schemas.openxmlformats.org/drawingml/2006/main" noGrp="1"/>
          </p:cNvSpPr>
          <p:nvPr/>
        </p:nvSpPr>
        <p:spPr>
          <a:xfrm xmlns:a="http://schemas.openxmlformats.org/drawingml/2006/main">
            <a:off x="4657725" y="3209925"/>
            <a:ext cx="2857500" cy="742950"/>
          </a:xfrm>
          <a:prstGeom xmlns:a="http://schemas.openxmlformats.org/drawingml/2006/main" prst="diamond">
            <a:avLst/>
          </a:prstGeom>
          <a:solidFill xmlns:a="http://schemas.openxmlformats.org/drawingml/2006/main">
            <a:srgbClr val="FFFFFF"/>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575" b="0">
                <a:solidFill>
                  <a:srgbClr val="142C43"/>
                </a:solidFill>
                <a:latin typeface="Arial"/>
                <a:ea typeface="Arial"/>
                <a:cs typeface="Arial"/>
              </a:defRPr>
            </a:pPr>
            <a:r>
              <a:rPr sz="1575" b="0">
                <a:solidFill>
                  <a:srgbClr val="142C43"/>
                </a:solidFill>
                <a:latin typeface="Arial"/>
                <a:ea typeface="Arial"/>
                <a:cs typeface="Arial"/>
              </a:rPr>
              <a:t>Accepted</a:t>
            </a:r>
          </a:p>
          <a:p xmlns:a="http://schemas.openxmlformats.org/drawingml/2006/main">
            <a:pPr algn="ctr">
              <a:defRPr sz="1575" b="0">
                <a:solidFill>
                  <a:srgbClr val="142C43"/>
                </a:solidFill>
                <a:latin typeface="Arial"/>
                <a:ea typeface="Arial"/>
                <a:cs typeface="Arial"/>
              </a:defRPr>
            </a:pPr>
            <a:r>
              <a:rPr sz="1575" b="0">
                <a:solidFill>
                  <a:srgbClr val="142C43"/>
                </a:solidFill>
                <a:latin typeface="Arial"/>
                <a:ea typeface="Arial"/>
                <a:cs typeface="Arial"/>
              </a:rPr>
              <a:t>outcome?</a:t>
            </a:r>
          </a:p>
        </p:txBody>
      </p:sp>
      <p:cxnSp>
        <p:nvCxnSpPr>
          <p:cNvPr id="33" name=""/>
          <p:cNvCxnSpPr>
            <a:stCxn xmlns:a="http://schemas.openxmlformats.org/drawingml/2006/main" id="6" idx="2"/>
            <a:endCxn xmlns:a="http://schemas.openxmlformats.org/drawingml/2006/main" id="9" idx="3"/>
          </p:cNvCxnSpPr>
          <p:nvPr/>
        </p:nvCxnSpPr>
        <p:spPr>
          <a:xfrm xmlns:a="http://schemas.openxmlformats.org/drawingml/2006/main" flipH="1">
            <a:off x="7515225" y="2628900"/>
            <a:ext cx="2547938" cy="952500"/>
          </a:xfrm>
          <a:prstGeom xmlns:a="http://schemas.openxmlformats.org/drawingml/2006/main" prst="bentConnector3">
            <a:avLst>
              <a:gd name="adj1" fmla="val 0"/>
            </a:avLst>
          </a:prstGeom>
          <a:ln xmlns:a="http://schemas.openxmlformats.org/drawingml/2006/main" w="19050">
            <a:solidFill>
              <a:srgbClr val="748591"/>
            </a:solidFill>
            <a:prstDash val="solid"/>
            <a:headEnd type="none" w="sm" len="sm"/>
            <a:tailEnd type="triangle" w="sm" len="sm"/>
          </a:ln>
        </p:spPr>
      </p:cxnSp>
      <p:sp>
        <p:nvSpPr>
          <p:cNvPr id="11" name="text-71">
            <a:extLst xmlns:a="http://schemas.openxmlformats.org/drawingml/2006/main">
              <a:ext uri="{FF2B5EF4-FFF2-40B4-BE49-F238E27FC236}">
                <a16:creationId xmlns:a16="http://schemas.microsoft.com/office/drawing/2014/main" id="{8FA23E78-50D8-44B0-929B-235471F3AB35}"/>
              </a:ext>
            </a:extLst>
          </p:cNvPr>
          <p:cNvSpPr>
            <a:spLocks xmlns:a="http://schemas.openxmlformats.org/drawingml/2006/main" noGrp="1"/>
          </p:cNvSpPr>
          <p:nvPr/>
        </p:nvSpPr>
        <p:spPr>
          <a:xfrm xmlns:a="http://schemas.openxmlformats.org/drawingml/2006/main">
            <a:off x="381000" y="4667250"/>
            <a:ext cx="2190750" cy="87630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PASS</a:t>
            </a:r>
          </a:p>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Founder review</a:t>
            </a:r>
          </a:p>
        </p:txBody>
      </p:sp>
      <p:sp>
        <p:nvSpPr>
          <p:cNvPr id="12" name="text-72">
            <a:extLst xmlns:a="http://schemas.openxmlformats.org/drawingml/2006/main">
              <a:ext uri="{FF2B5EF4-FFF2-40B4-BE49-F238E27FC236}">
                <a16:creationId xmlns:a16="http://schemas.microsoft.com/office/drawing/2014/main" id="{E744BA93-259C-4FA7-9898-FADF6703EF1D}"/>
              </a:ext>
            </a:extLst>
          </p:cNvPr>
          <p:cNvSpPr>
            <a:spLocks xmlns:a="http://schemas.openxmlformats.org/drawingml/2006/main" noGrp="1"/>
          </p:cNvSpPr>
          <p:nvPr/>
        </p:nvSpPr>
        <p:spPr>
          <a:xfrm xmlns:a="http://schemas.openxmlformats.org/drawingml/2006/main">
            <a:off x="2724150" y="4667250"/>
            <a:ext cx="2190750" cy="87630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PASS WITH WARNING</a:t>
            </a:r>
          </a:p>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Warnings + review</a:t>
            </a:r>
          </a:p>
        </p:txBody>
      </p:sp>
      <p:sp>
        <p:nvSpPr>
          <p:cNvPr id="13" name="text-73">
            <a:extLst xmlns:a="http://schemas.openxmlformats.org/drawingml/2006/main">
              <a:ext uri="{FF2B5EF4-FFF2-40B4-BE49-F238E27FC236}">
                <a16:creationId xmlns:a16="http://schemas.microsoft.com/office/drawing/2014/main" id="{362526E9-9CB4-4EA3-BB1E-E6574BDD9B64}"/>
              </a:ext>
            </a:extLst>
          </p:cNvPr>
          <p:cNvSpPr>
            <a:spLocks xmlns:a="http://schemas.openxmlformats.org/drawingml/2006/main" noGrp="1"/>
          </p:cNvSpPr>
          <p:nvPr/>
        </p:nvSpPr>
        <p:spPr>
          <a:xfrm xmlns:a="http://schemas.openxmlformats.org/drawingml/2006/main">
            <a:off x="5067300" y="4667250"/>
            <a:ext cx="2190750" cy="8763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REVISE</a:t>
            </a:r>
          </a:p>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New proposal + review</a:t>
            </a:r>
          </a:p>
        </p:txBody>
      </p:sp>
      <p:sp>
        <p:nvSpPr>
          <p:cNvPr id="14" name="text-74">
            <a:extLst xmlns:a="http://schemas.openxmlformats.org/drawingml/2006/main">
              <a:ext uri="{FF2B5EF4-FFF2-40B4-BE49-F238E27FC236}">
                <a16:creationId xmlns:a16="http://schemas.microsoft.com/office/drawing/2014/main" id="{D0749859-9F9B-4A0E-9D54-28F74C518453}"/>
              </a:ext>
            </a:extLst>
          </p:cNvPr>
          <p:cNvSpPr>
            <a:spLocks xmlns:a="http://schemas.openxmlformats.org/drawingml/2006/main" noGrp="1"/>
          </p:cNvSpPr>
          <p:nvPr/>
        </p:nvSpPr>
        <p:spPr>
          <a:xfrm xmlns:a="http://schemas.openxmlformats.org/drawingml/2006/main">
            <a:off x="7410450" y="4667250"/>
            <a:ext cx="2190750" cy="8763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NEEDS INFORMATION</a:t>
            </a:r>
          </a:p>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Current clarification</a:t>
            </a:r>
          </a:p>
        </p:txBody>
      </p:sp>
      <p:sp>
        <p:nvSpPr>
          <p:cNvPr id="15" name="text-75">
            <a:extLst xmlns:a="http://schemas.openxmlformats.org/drawingml/2006/main">
              <a:ext uri="{FF2B5EF4-FFF2-40B4-BE49-F238E27FC236}">
                <a16:creationId xmlns:a16="http://schemas.microsoft.com/office/drawing/2014/main" id="{9AFE25F7-0EB0-4AD8-BB12-885E38A50E5B}"/>
              </a:ext>
            </a:extLst>
          </p:cNvPr>
          <p:cNvSpPr>
            <a:spLocks xmlns:a="http://schemas.openxmlformats.org/drawingml/2006/main" noGrp="1"/>
          </p:cNvSpPr>
          <p:nvPr/>
        </p:nvSpPr>
        <p:spPr>
          <a:xfrm xmlns:a="http://schemas.openxmlformats.org/drawingml/2006/main">
            <a:off x="9753600" y="4667250"/>
            <a:ext cx="2190750" cy="8763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ESCALATE</a:t>
            </a:r>
          </a:p>
          <a:p xmlns:a="http://schemas.openxmlformats.org/drawingml/2006/main">
            <a:pPr algn="ctr">
              <a:defRPr sz="1500" b="0">
                <a:solidFill>
                  <a:srgbClr val="142C43"/>
                </a:solidFill>
                <a:latin typeface="Arial"/>
                <a:ea typeface="Arial"/>
                <a:cs typeface="Arial"/>
              </a:defRPr>
            </a:pPr>
            <a:r>
              <a:rPr sz="1500" b="0">
                <a:solidFill>
                  <a:srgbClr val="142C43"/>
                </a:solidFill>
                <a:latin typeface="Arial"/>
                <a:ea typeface="Arial"/>
                <a:cs typeface="Arial"/>
              </a:rPr>
              <a:t>Revision / manual route</a:t>
            </a:r>
          </a:p>
        </p:txBody>
      </p:sp>
      <p:cxnSp>
        <p:nvCxnSpPr>
          <p:cNvPr id="39" name=""/>
          <p:cNvCxnSpPr>
            <a:stCxn xmlns:a="http://schemas.openxmlformats.org/drawingml/2006/main" id="9" idx="2"/>
            <a:endCxn xmlns:a="http://schemas.openxmlformats.org/drawingml/2006/main" id="11" idx="0"/>
          </p:cNvCxnSpPr>
          <p:nvPr/>
        </p:nvCxnSpPr>
        <p:spPr>
          <a:xfrm xmlns:a="http://schemas.openxmlformats.org/drawingml/2006/main" flipH="1">
            <a:off x="1476375" y="3952875"/>
            <a:ext cx="4610100" cy="714375"/>
          </a:xfrm>
          <a:prstGeom xmlns:a="http://schemas.openxmlformats.org/drawingml/2006/main" prst="bentConnector4">
            <a:avLst>
              <a:gd name="adj1" fmla="val 0"/>
              <a:gd name="adj2" fmla="val 50000"/>
            </a:avLst>
          </a:prstGeom>
          <a:ln xmlns:a="http://schemas.openxmlformats.org/drawingml/2006/main" w="19050">
            <a:solidFill>
              <a:srgbClr val="748591"/>
            </a:solidFill>
            <a:prstDash val="solid"/>
            <a:headEnd type="none" w="sm" len="sm"/>
            <a:tailEnd type="triangle" w="sm" len="sm"/>
          </a:ln>
        </p:spPr>
      </p:cxnSp>
      <p:cxnSp>
        <p:nvCxnSpPr>
          <p:cNvPr id="40" name=""/>
          <p:cNvCxnSpPr>
            <a:stCxn xmlns:a="http://schemas.openxmlformats.org/drawingml/2006/main" id="9" idx="2"/>
            <a:endCxn xmlns:a="http://schemas.openxmlformats.org/drawingml/2006/main" id="12" idx="0"/>
          </p:cNvCxnSpPr>
          <p:nvPr/>
        </p:nvCxnSpPr>
        <p:spPr>
          <a:xfrm xmlns:a="http://schemas.openxmlformats.org/drawingml/2006/main" flipH="1">
            <a:off x="3819525" y="3952875"/>
            <a:ext cx="2266950" cy="714375"/>
          </a:xfrm>
          <a:prstGeom xmlns:a="http://schemas.openxmlformats.org/drawingml/2006/main" prst="bentConnector4">
            <a:avLst>
              <a:gd name="adj1" fmla="val 0"/>
              <a:gd name="adj2" fmla="val 50000"/>
            </a:avLst>
          </a:prstGeom>
          <a:ln xmlns:a="http://schemas.openxmlformats.org/drawingml/2006/main" w="19050">
            <a:solidFill>
              <a:srgbClr val="748591"/>
            </a:solidFill>
            <a:prstDash val="solid"/>
            <a:headEnd type="none" w="sm" len="sm"/>
            <a:tailEnd type="triangle" w="sm" len="sm"/>
          </a:ln>
        </p:spPr>
      </p:cxnSp>
      <p:cxnSp>
        <p:nvCxnSpPr>
          <p:cNvPr id="41" name=""/>
          <p:cNvCxnSpPr>
            <a:stCxn xmlns:a="http://schemas.openxmlformats.org/drawingml/2006/main" id="9" idx="2"/>
            <a:endCxn xmlns:a="http://schemas.openxmlformats.org/drawingml/2006/main" id="13" idx="0"/>
          </p:cNvCxnSpPr>
          <p:nvPr/>
        </p:nvCxnSpPr>
        <p:spPr>
          <a:xfrm xmlns:a="http://schemas.openxmlformats.org/drawingml/2006/main">
            <a:off x="6086475" y="3952875"/>
            <a:ext cx="76200" cy="714375"/>
          </a:xfrm>
          <a:prstGeom xmlns:a="http://schemas.openxmlformats.org/drawingml/2006/main" prst="bentConnector4">
            <a:avLst>
              <a:gd name="adj1" fmla="val 0"/>
              <a:gd name="adj2" fmla="val 50000"/>
            </a:avLst>
          </a:prstGeom>
          <a:ln xmlns:a="http://schemas.openxmlformats.org/drawingml/2006/main" w="19050">
            <a:solidFill>
              <a:srgbClr val="748591"/>
            </a:solidFill>
            <a:prstDash val="solid"/>
            <a:headEnd type="none" w="sm" len="sm"/>
            <a:tailEnd type="triangle" w="sm" len="sm"/>
          </a:ln>
        </p:spPr>
      </p:cxnSp>
      <p:cxnSp>
        <p:nvCxnSpPr>
          <p:cNvPr id="42" name=""/>
          <p:cNvCxnSpPr>
            <a:stCxn xmlns:a="http://schemas.openxmlformats.org/drawingml/2006/main" id="9" idx="2"/>
            <a:endCxn xmlns:a="http://schemas.openxmlformats.org/drawingml/2006/main" id="14" idx="0"/>
          </p:cNvCxnSpPr>
          <p:nvPr/>
        </p:nvCxnSpPr>
        <p:spPr>
          <a:xfrm xmlns:a="http://schemas.openxmlformats.org/drawingml/2006/main">
            <a:off x="6086475" y="3952875"/>
            <a:ext cx="2419350" cy="714375"/>
          </a:xfrm>
          <a:prstGeom xmlns:a="http://schemas.openxmlformats.org/drawingml/2006/main" prst="bentConnector4">
            <a:avLst>
              <a:gd name="adj1" fmla="val 0"/>
              <a:gd name="adj2" fmla="val 50000"/>
            </a:avLst>
          </a:prstGeom>
          <a:ln xmlns:a="http://schemas.openxmlformats.org/drawingml/2006/main" w="19050">
            <a:solidFill>
              <a:srgbClr val="748591"/>
            </a:solidFill>
            <a:prstDash val="solid"/>
            <a:headEnd type="none" w="sm" len="sm"/>
            <a:tailEnd type="triangle" w="sm" len="sm"/>
          </a:ln>
        </p:spPr>
      </p:cxnSp>
      <p:cxnSp>
        <p:nvCxnSpPr>
          <p:cNvPr id="43" name=""/>
          <p:cNvCxnSpPr>
            <a:stCxn xmlns:a="http://schemas.openxmlformats.org/drawingml/2006/main" id="9" idx="2"/>
            <a:endCxn xmlns:a="http://schemas.openxmlformats.org/drawingml/2006/main" id="15" idx="0"/>
          </p:cNvCxnSpPr>
          <p:nvPr/>
        </p:nvCxnSpPr>
        <p:spPr>
          <a:xfrm xmlns:a="http://schemas.openxmlformats.org/drawingml/2006/main">
            <a:off x="6086475" y="3952875"/>
            <a:ext cx="4762500" cy="714375"/>
          </a:xfrm>
          <a:prstGeom xmlns:a="http://schemas.openxmlformats.org/drawingml/2006/main" prst="bentConnector4">
            <a:avLst>
              <a:gd name="adj1" fmla="val 0"/>
              <a:gd name="adj2" fmla="val 50000"/>
            </a:avLst>
          </a:prstGeom>
          <a:ln xmlns:a="http://schemas.openxmlformats.org/drawingml/2006/main" w="19050">
            <a:solidFill>
              <a:srgbClr val="748591"/>
            </a:solidFill>
            <a:prstDash val="solid"/>
            <a:headEnd type="none" w="sm" len="sm"/>
            <a:tailEnd type="triangle" w="sm" len="sm"/>
          </a:ln>
        </p:spPr>
      </p:cxnSp>
      <p:sp>
        <p:nvSpPr>
          <p:cNvPr id="21" name="text-76">
            <a:extLst xmlns:a="http://schemas.openxmlformats.org/drawingml/2006/main">
              <a:ext uri="{FF2B5EF4-FFF2-40B4-BE49-F238E27FC236}">
                <a16:creationId xmlns:a16="http://schemas.microsoft.com/office/drawing/2014/main" id="{AB8BF112-9004-499D-A432-B45F96E077DB}"/>
              </a:ext>
            </a:extLst>
          </p:cNvPr>
          <p:cNvSpPr>
            <a:spLocks xmlns:a="http://schemas.openxmlformats.org/drawingml/2006/main" noGrp="1"/>
          </p:cNvSpPr>
          <p:nvPr/>
        </p:nvSpPr>
        <p:spPr>
          <a:xfrm xmlns:a="http://schemas.openxmlformats.org/drawingml/2006/main">
            <a:off x="523875" y="28003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500" b="0">
                <a:solidFill>
                  <a:srgbClr val="536472"/>
                </a:solidFill>
                <a:latin typeface="Arial"/>
                <a:ea typeface="Arial"/>
                <a:cs typeface="Arial"/>
              </a:defRPr>
            </a:pPr>
            <a:r>
              <a:rPr sz="1500" b="0">
                <a:solidFill>
                  <a:srgbClr val="536472"/>
                </a:solidFill>
                <a:latin typeface="Arial"/>
                <a:ea typeface="Arial"/>
                <a:cs typeface="Arial"/>
              </a:rPr>
              <a:t>Technical failures and stale replies are handled before outcome routing.</a:t>
            </a:r>
          </a:p>
        </p:txBody>
      </p:sp>
      <p:sp>
        <p:nvSpPr>
          <p:cNvPr id="22" name="text-77">
            <a:extLst xmlns:a="http://schemas.openxmlformats.org/drawingml/2006/main">
              <a:ext uri="{FF2B5EF4-FFF2-40B4-BE49-F238E27FC236}">
                <a16:creationId xmlns:a16="http://schemas.microsoft.com/office/drawing/2014/main" id="{9CA8B1C0-F45D-409B-A2D8-16D04A5C6263}"/>
              </a:ext>
            </a:extLst>
          </p:cNvPr>
          <p:cNvSpPr>
            <a:spLocks xmlns:a="http://schemas.openxmlformats.org/drawingml/2006/main" noGrp="1"/>
          </p:cNvSpPr>
          <p:nvPr/>
        </p:nvSpPr>
        <p:spPr>
          <a:xfrm xmlns:a="http://schemas.openxmlformats.org/drawingml/2006/main">
            <a:off x="523875" y="56959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142C43"/>
                </a:solidFill>
                <a:latin typeface="Arial"/>
                <a:ea typeface="Arial"/>
                <a:cs typeface="Arial"/>
              </a:defRPr>
            </a:pPr>
            <a:r>
              <a:rPr sz="1800" b="0">
                <a:solidFill>
                  <a:srgbClr val="142C43"/>
                </a:solidFill>
                <a:latin typeface="Arial"/>
                <a:ea typeface="Arial"/>
                <a:cs typeface="Arial"/>
              </a:rPr>
              <a:t>Five outcomes ≠ seven work phases. A passing review grants no execution authority.</a:t>
            </a:r>
          </a:p>
        </p:txBody>
      </p:sp>
      <p:sp>
        <p:nvSpPr>
          <p:cNvPr id="23" name="text-78">
            <a:extLst xmlns:a="http://schemas.openxmlformats.org/drawingml/2006/main">
              <a:ext uri="{FF2B5EF4-FFF2-40B4-BE49-F238E27FC236}">
                <a16:creationId xmlns:a16="http://schemas.microsoft.com/office/drawing/2014/main" id="{6A2AFFC9-2C49-4B15-AD09-BA420DCD43C0}"/>
              </a:ext>
            </a:extLst>
          </p:cNvPr>
          <p:cNvSpPr>
            <a:spLocks xmlns:a="http://schemas.openxmlformats.org/drawingml/2006/main" noGrp="1"/>
          </p:cNvSpPr>
          <p:nvPr/>
        </p:nvSpPr>
        <p:spPr>
          <a:xfrm xmlns:a="http://schemas.openxmlformats.org/drawingml/2006/main">
            <a:off x="523875" y="6191250"/>
            <a:ext cx="962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500" b="0">
                <a:solidFill>
                  <a:srgbClr val="536472"/>
                </a:solidFill>
                <a:latin typeface="Arial"/>
                <a:ea typeface="Arial"/>
                <a:cs typeface="Arial"/>
              </a:defRPr>
            </a:pPr>
            <a:r>
              <a:rPr sz="1500" b="0">
                <a:solidFill>
                  <a:srgbClr val="536472"/>
                </a:solidFill>
                <a:latin typeface="Arial"/>
                <a:ea typeface="Arial"/>
                <a:cs typeface="Arial"/>
              </a:rPr>
              <a:t>Bounded revision preserves the actual outcome and proposal when its budget is exhausted.</a:t>
            </a:r>
          </a:p>
        </p:txBody>
      </p:sp>
    </p:spTree>
    <p:extLst>
      <p:ext uri="{BB962C8B-B14F-4D97-AF65-F5344CB8AC3E}">
        <p14:creationId xmlns:p14="http://schemas.microsoft.com/office/powerpoint/2010/main" val="13007397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79">
            <a:extLst xmlns:a="http://schemas.openxmlformats.org/drawingml/2006/main">
              <a:ext uri="{FF2B5EF4-FFF2-40B4-BE49-F238E27FC236}">
                <a16:creationId xmlns:a16="http://schemas.microsoft.com/office/drawing/2014/main" id="{F2EC7C10-8340-4FC4-932A-60065BD983EE}"/>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A model chain for governed execution</a:t>
            </a:r>
          </a:p>
        </p:txBody>
      </p:sp>
      <p:sp>
        <p:nvSpPr>
          <p:cNvPr id="2" name="text-80">
            <a:extLst xmlns:a="http://schemas.openxmlformats.org/drawingml/2006/main">
              <a:ext uri="{FF2B5EF4-FFF2-40B4-BE49-F238E27FC236}">
                <a16:creationId xmlns:a16="http://schemas.microsoft.com/office/drawing/2014/main" id="{E2B0EDBD-E952-42A4-AB07-A86C6012B0E5}"/>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AH-10 and UC-04: prevent unauthorised or duplicate effects</a:t>
            </a:r>
          </a:p>
        </p:txBody>
      </p:sp>
      <p:sp>
        <p:nvSpPr>
          <p:cNvPr id="3" name="text-81">
            <a:extLst xmlns:a="http://schemas.openxmlformats.org/drawingml/2006/main">
              <a:ext uri="{FF2B5EF4-FFF2-40B4-BE49-F238E27FC236}">
                <a16:creationId xmlns:a16="http://schemas.microsoft.com/office/drawing/2014/main" id="{EA6AB2D1-4E70-414B-A4DF-BFBDDDB79F36}"/>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A   7 / 9</a:t>
            </a:r>
          </a:p>
        </p:txBody>
      </p:sp>
      <p:sp>
        <p:nvSpPr>
          <p:cNvPr id="4" name="text-82">
            <a:extLst xmlns:a="http://schemas.openxmlformats.org/drawingml/2006/main">
              <a:ext uri="{FF2B5EF4-FFF2-40B4-BE49-F238E27FC236}">
                <a16:creationId xmlns:a16="http://schemas.microsoft.com/office/drawing/2014/main" id="{6B45D72A-645C-4917-BDDD-7E946D9F6FBE}"/>
              </a:ext>
            </a:extLst>
          </p:cNvPr>
          <p:cNvSpPr>
            <a:spLocks xmlns:a="http://schemas.openxmlformats.org/drawingml/2006/main" noGrp="1"/>
          </p:cNvSpPr>
          <p:nvPr/>
        </p:nvSpPr>
        <p:spPr>
          <a:xfrm xmlns:a="http://schemas.openxmlformats.org/drawingml/2006/main">
            <a:off x="714375" y="2314575"/>
            <a:ext cx="2000250" cy="61912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PENDING</a:t>
            </a:r>
          </a:p>
        </p:txBody>
      </p:sp>
      <p:sp>
        <p:nvSpPr>
          <p:cNvPr id="5" name="text-83">
            <a:extLst xmlns:a="http://schemas.openxmlformats.org/drawingml/2006/main">
              <a:ext uri="{FF2B5EF4-FFF2-40B4-BE49-F238E27FC236}">
                <a16:creationId xmlns:a16="http://schemas.microsoft.com/office/drawing/2014/main" id="{3D19BC27-AAE9-48EE-BC30-7A3C270C49C8}"/>
              </a:ext>
            </a:extLst>
          </p:cNvPr>
          <p:cNvSpPr>
            <a:spLocks xmlns:a="http://schemas.openxmlformats.org/drawingml/2006/main" noGrp="1"/>
          </p:cNvSpPr>
          <p:nvPr/>
        </p:nvSpPr>
        <p:spPr>
          <a:xfrm xmlns:a="http://schemas.openxmlformats.org/drawingml/2006/main">
            <a:off x="4105275" y="2314575"/>
            <a:ext cx="2381250" cy="619125"/>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EXECUTING</a:t>
            </a:r>
          </a:p>
        </p:txBody>
      </p:sp>
      <p:sp>
        <p:nvSpPr>
          <p:cNvPr id="6" name="text-84">
            <a:extLst xmlns:a="http://schemas.openxmlformats.org/drawingml/2006/main">
              <a:ext uri="{FF2B5EF4-FFF2-40B4-BE49-F238E27FC236}">
                <a16:creationId xmlns:a16="http://schemas.microsoft.com/office/drawing/2014/main" id="{A944309F-B11A-4271-BDF4-5216721E9FE5}"/>
              </a:ext>
            </a:extLst>
          </p:cNvPr>
          <p:cNvSpPr>
            <a:spLocks xmlns:a="http://schemas.openxmlformats.org/drawingml/2006/main" noGrp="1"/>
          </p:cNvSpPr>
          <p:nvPr/>
        </p:nvSpPr>
        <p:spPr>
          <a:xfrm xmlns:a="http://schemas.openxmlformats.org/drawingml/2006/main">
            <a:off x="8829675" y="2314575"/>
            <a:ext cx="2571750" cy="619125"/>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SUCCEEDED</a:t>
            </a:r>
          </a:p>
        </p:txBody>
      </p:sp>
      <p:sp>
        <p:nvSpPr>
          <p:cNvPr id="7" name="text-85">
            <a:extLst xmlns:a="http://schemas.openxmlformats.org/drawingml/2006/main">
              <a:ext uri="{FF2B5EF4-FFF2-40B4-BE49-F238E27FC236}">
                <a16:creationId xmlns:a16="http://schemas.microsoft.com/office/drawing/2014/main" id="{64A562F0-C91E-40A3-B569-54A1968857B3}"/>
              </a:ext>
            </a:extLst>
          </p:cNvPr>
          <p:cNvSpPr>
            <a:spLocks xmlns:a="http://schemas.openxmlformats.org/drawingml/2006/main" noGrp="1"/>
          </p:cNvSpPr>
          <p:nvPr/>
        </p:nvSpPr>
        <p:spPr>
          <a:xfrm xmlns:a="http://schemas.openxmlformats.org/drawingml/2006/main">
            <a:off x="4105275" y="4152900"/>
            <a:ext cx="2381250" cy="61912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UNKNOWN</a:t>
            </a:r>
          </a:p>
        </p:txBody>
      </p:sp>
      <p:sp>
        <p:nvSpPr>
          <p:cNvPr id="8" name="text-86">
            <a:extLst xmlns:a="http://schemas.openxmlformats.org/drawingml/2006/main">
              <a:ext uri="{FF2B5EF4-FFF2-40B4-BE49-F238E27FC236}">
                <a16:creationId xmlns:a16="http://schemas.microsoft.com/office/drawing/2014/main" id="{B93D53A6-E64A-4936-8486-9FF28FC39374}"/>
              </a:ext>
            </a:extLst>
          </p:cNvPr>
          <p:cNvSpPr>
            <a:spLocks xmlns:a="http://schemas.openxmlformats.org/drawingml/2006/main" noGrp="1"/>
          </p:cNvSpPr>
          <p:nvPr/>
        </p:nvSpPr>
        <p:spPr>
          <a:xfrm xmlns:a="http://schemas.openxmlformats.org/drawingml/2006/main">
            <a:off x="8829675" y="4152900"/>
            <a:ext cx="2571750" cy="61912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RECONCILING</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2714625" y="2624138"/>
            <a:ext cx="139065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0" name="text-87">
            <a:extLst xmlns:a="http://schemas.openxmlformats.org/drawingml/2006/main">
              <a:ext uri="{FF2B5EF4-FFF2-40B4-BE49-F238E27FC236}">
                <a16:creationId xmlns:a16="http://schemas.microsoft.com/office/drawing/2014/main" id="{E48DD2C4-BDF0-4193-A2DF-42A26628F26D}"/>
              </a:ext>
            </a:extLst>
          </p:cNvPr>
          <p:cNvSpPr>
            <a:spLocks xmlns:a="http://schemas.openxmlformats.org/drawingml/2006/main" noGrp="1"/>
          </p:cNvSpPr>
          <p:nvPr/>
        </p:nvSpPr>
        <p:spPr>
          <a:xfrm xmlns:a="http://schemas.openxmlformats.org/drawingml/2006/main">
            <a:off x="2705100" y="1914525"/>
            <a:ext cx="2095500"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final guards pass</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6486525" y="2624138"/>
            <a:ext cx="234315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2" name="text-88">
            <a:extLst xmlns:a="http://schemas.openxmlformats.org/drawingml/2006/main">
              <a:ext uri="{FF2B5EF4-FFF2-40B4-BE49-F238E27FC236}">
                <a16:creationId xmlns:a16="http://schemas.microsoft.com/office/drawing/2014/main" id="{12C3A5D6-5E9F-4DDF-A8A2-F96B133AF1FB}"/>
              </a:ext>
            </a:extLst>
          </p:cNvPr>
          <p:cNvSpPr>
            <a:spLocks xmlns:a="http://schemas.openxmlformats.org/drawingml/2006/main" noGrp="1"/>
          </p:cNvSpPr>
          <p:nvPr/>
        </p:nvSpPr>
        <p:spPr>
          <a:xfrm xmlns:a="http://schemas.openxmlformats.org/drawingml/2006/main">
            <a:off x="6553200" y="1952625"/>
            <a:ext cx="231457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complete result durable</a:t>
            </a:r>
          </a:p>
        </p:txBody>
      </p:sp>
      <p:cxnSp>
        <p:nvCxnSpPr>
          <p:cNvPr id="35" name=""/>
          <p:cNvCxnSpPr>
            <a:stCxn xmlns:a="http://schemas.openxmlformats.org/drawingml/2006/main" id="5" idx="2"/>
            <a:endCxn xmlns:a="http://schemas.openxmlformats.org/drawingml/2006/main" id="7" idx="0"/>
          </p:cNvCxnSpPr>
          <p:nvPr/>
        </p:nvCxnSpPr>
        <p:spPr>
          <a:xfrm xmlns:a="http://schemas.openxmlformats.org/drawingml/2006/main">
            <a:off x="5295900" y="2933700"/>
            <a:ext cx="0" cy="121920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4" name="text-89">
            <a:extLst xmlns:a="http://schemas.openxmlformats.org/drawingml/2006/main">
              <a:ext uri="{FF2B5EF4-FFF2-40B4-BE49-F238E27FC236}">
                <a16:creationId xmlns:a16="http://schemas.microsoft.com/office/drawing/2014/main" id="{3C464F7B-ACE7-45D2-8F89-C304C0A57A28}"/>
              </a:ext>
            </a:extLst>
          </p:cNvPr>
          <p:cNvSpPr>
            <a:spLocks xmlns:a="http://schemas.openxmlformats.org/drawingml/2006/main" noGrp="1"/>
          </p:cNvSpPr>
          <p:nvPr/>
        </p:nvSpPr>
        <p:spPr>
          <a:xfrm xmlns:a="http://schemas.openxmlformats.org/drawingml/2006/main">
            <a:off x="3981450" y="3343275"/>
            <a:ext cx="2667000"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effect uncertain</a:t>
            </a:r>
          </a:p>
        </p:txBody>
      </p: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6486525" y="4462463"/>
            <a:ext cx="2343150" cy="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6" name="text-90">
            <a:extLst xmlns:a="http://schemas.openxmlformats.org/drawingml/2006/main">
              <a:ext uri="{FF2B5EF4-FFF2-40B4-BE49-F238E27FC236}">
                <a16:creationId xmlns:a16="http://schemas.microsoft.com/office/drawing/2014/main" id="{90382805-EA96-4EA5-BF83-10BB57EEC283}"/>
              </a:ext>
            </a:extLst>
          </p:cNvPr>
          <p:cNvSpPr>
            <a:spLocks xmlns:a="http://schemas.openxmlformats.org/drawingml/2006/main" noGrp="1"/>
          </p:cNvSpPr>
          <p:nvPr/>
        </p:nvSpPr>
        <p:spPr>
          <a:xfrm xmlns:a="http://schemas.openxmlformats.org/drawingml/2006/main">
            <a:off x="6496050" y="3733800"/>
            <a:ext cx="2381250"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query original identity</a:t>
            </a:r>
          </a:p>
        </p:txBody>
      </p:sp>
      <p:cxnSp>
        <p:nvCxnSpPr>
          <p:cNvPr id="39" name=""/>
          <p:cNvCxnSpPr>
            <a:stCxn xmlns:a="http://schemas.openxmlformats.org/drawingml/2006/main" id="8" idx="0"/>
            <a:endCxn xmlns:a="http://schemas.openxmlformats.org/drawingml/2006/main" id="6" idx="2"/>
          </p:cNvCxnSpPr>
          <p:nvPr/>
        </p:nvCxnSpPr>
        <p:spPr>
          <a:xfrm xmlns:a="http://schemas.openxmlformats.org/drawingml/2006/main" flipV="1">
            <a:off x="10115550" y="2933700"/>
            <a:ext cx="0" cy="1219200"/>
          </a:xfrm>
          <a:prstGeom xmlns:a="http://schemas.openxmlformats.org/drawingml/2006/main" prst="straightConnector1">
            <a:avLst/>
          </a:prstGeom>
          <a:ln xmlns:a="http://schemas.openxmlformats.org/drawingml/2006/main" w="19050">
            <a:solidFill>
              <a:srgbClr val="748591"/>
            </a:solidFill>
            <a:prstDash val="solid"/>
            <a:headEnd type="none" w="sm" len="sm"/>
            <a:tailEnd type="triangle" w="sm" len="sm"/>
          </a:ln>
        </p:spPr>
      </p:cxnSp>
      <p:sp>
        <p:nvSpPr>
          <p:cNvPr id="18" name="text-91">
            <a:extLst xmlns:a="http://schemas.openxmlformats.org/drawingml/2006/main">
              <a:ext uri="{FF2B5EF4-FFF2-40B4-BE49-F238E27FC236}">
                <a16:creationId xmlns:a16="http://schemas.microsoft.com/office/drawing/2014/main" id="{16FFE9EC-DED8-4F4D-A89B-2B81D0339614}"/>
              </a:ext>
            </a:extLst>
          </p:cNvPr>
          <p:cNvSpPr>
            <a:spLocks xmlns:a="http://schemas.openxmlformats.org/drawingml/2006/main" noGrp="1"/>
          </p:cNvSpPr>
          <p:nvPr/>
        </p:nvSpPr>
        <p:spPr>
          <a:xfrm xmlns:a="http://schemas.openxmlformats.org/drawingml/2006/main">
            <a:off x="8886825" y="3257550"/>
            <a:ext cx="2600325" cy="2667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425" b="0">
                <a:solidFill>
                  <a:srgbClr val="536472"/>
                </a:solidFill>
                <a:latin typeface="Arial"/>
                <a:ea typeface="Arial"/>
                <a:cs typeface="Arial"/>
              </a:defRPr>
            </a:pPr>
            <a:r>
              <a:rPr sz="1425" b="0">
                <a:solidFill>
                  <a:srgbClr val="536472"/>
                </a:solidFill>
                <a:latin typeface="Arial"/>
                <a:ea typeface="Arial"/>
                <a:cs typeface="Arial"/>
              </a:rPr>
              <a:t>verified success</a:t>
            </a:r>
          </a:p>
        </p:txBody>
      </p:sp>
      <p:sp>
        <p:nvSpPr>
          <p:cNvPr id="19" name="text-92">
            <a:extLst xmlns:a="http://schemas.openxmlformats.org/drawingml/2006/main">
              <a:ext uri="{FF2B5EF4-FFF2-40B4-BE49-F238E27FC236}">
                <a16:creationId xmlns:a16="http://schemas.microsoft.com/office/drawing/2014/main" id="{AE2CCFC3-D4D7-4180-8249-FAF51E2D4F9E}"/>
              </a:ext>
            </a:extLst>
          </p:cNvPr>
          <p:cNvSpPr>
            <a:spLocks xmlns:a="http://schemas.openxmlformats.org/drawingml/2006/main" noGrp="1"/>
          </p:cNvSpPr>
          <p:nvPr/>
        </p:nvSpPr>
        <p:spPr>
          <a:xfrm xmlns:a="http://schemas.openxmlformats.org/drawingml/2006/main">
            <a:off x="8886825" y="3533775"/>
            <a:ext cx="2600325" cy="2667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425" b="0">
                <a:solidFill>
                  <a:srgbClr val="536472"/>
                </a:solidFill>
                <a:latin typeface="Arial"/>
                <a:ea typeface="Arial"/>
                <a:cs typeface="Arial"/>
              </a:defRPr>
            </a:pPr>
            <a:r>
              <a:rPr sz="1425" b="0">
                <a:solidFill>
                  <a:srgbClr val="536472"/>
                </a:solidFill>
                <a:latin typeface="Arial"/>
                <a:ea typeface="Arial"/>
                <a:cs typeface="Arial"/>
              </a:rPr>
              <a:t>and saved result</a:t>
            </a:r>
          </a:p>
        </p:txBody>
      </p:sp>
      <p:sp>
        <p:nvSpPr>
          <p:cNvPr id="20" name="text-93">
            <a:extLst xmlns:a="http://schemas.openxmlformats.org/drawingml/2006/main">
              <a:ext uri="{FF2B5EF4-FFF2-40B4-BE49-F238E27FC236}">
                <a16:creationId xmlns:a16="http://schemas.microsoft.com/office/drawing/2014/main" id="{058E33C5-07AC-4F67-9263-A89A832FFC89}"/>
              </a:ext>
            </a:extLst>
          </p:cNvPr>
          <p:cNvSpPr>
            <a:spLocks xmlns:a="http://schemas.openxmlformats.org/drawingml/2006/main" noGrp="1"/>
          </p:cNvSpPr>
          <p:nvPr/>
        </p:nvSpPr>
        <p:spPr>
          <a:xfrm xmlns:a="http://schemas.openxmlformats.org/drawingml/2006/main">
            <a:off x="714375" y="3857625"/>
            <a:ext cx="257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950" b="0">
                <a:solidFill>
                  <a:srgbClr val="A83B35"/>
                </a:solidFill>
                <a:latin typeface="Arial"/>
                <a:ea typeface="Arial"/>
                <a:cs typeface="Arial"/>
              </a:defRPr>
            </a:pPr>
            <a:r>
              <a:rPr sz="1950" b="0">
                <a:solidFill>
                  <a:srgbClr val="A83B35"/>
                </a:solidFill>
                <a:latin typeface="Arial"/>
                <a:ea typeface="Arial"/>
                <a:cs typeface="Arial"/>
              </a:rPr>
              <a:t>Guards fail</a:t>
            </a:r>
          </a:p>
          <a:p xmlns:a="http://schemas.openxmlformats.org/drawingml/2006/main">
            <a:pPr algn="l">
              <a:defRPr sz="1950" b="0">
                <a:solidFill>
                  <a:srgbClr val="A83B35"/>
                </a:solidFill>
                <a:latin typeface="Arial"/>
                <a:ea typeface="Arial"/>
                <a:cs typeface="Arial"/>
              </a:defRPr>
            </a:pPr>
            <a:r>
              <a:rPr sz="1950" b="0">
                <a:solidFill>
                  <a:srgbClr val="A83B35"/>
                </a:solidFill>
                <a:latin typeface="Arial"/>
                <a:ea typeface="Arial"/>
                <a:cs typeface="Arial"/>
              </a:rPr>
              <a:t>BLOCKED</a:t>
            </a:r>
          </a:p>
          <a:p xmlns:a="http://schemas.openxmlformats.org/drawingml/2006/main">
            <a:pPr algn="l">
              <a:defRPr sz="1950" b="0">
                <a:solidFill>
                  <a:srgbClr val="A83B35"/>
                </a:solidFill>
                <a:latin typeface="Arial"/>
                <a:ea typeface="Arial"/>
                <a:cs typeface="Arial"/>
              </a:defRPr>
            </a:pPr>
            <a:r>
              <a:rPr sz="1950" b="0">
                <a:solidFill>
                  <a:srgbClr val="A83B35"/>
                </a:solidFill>
                <a:latin typeface="Arial"/>
                <a:ea typeface="Arial"/>
                <a:cs typeface="Arial"/>
              </a:rPr>
              <a:t>Zero new effect</a:t>
            </a:r>
          </a:p>
        </p:txBody>
      </p:sp>
      <p:sp>
        <p:nvSpPr>
          <p:cNvPr id="21" name="text-94">
            <a:extLst xmlns:a="http://schemas.openxmlformats.org/drawingml/2006/main">
              <a:ext uri="{FF2B5EF4-FFF2-40B4-BE49-F238E27FC236}">
                <a16:creationId xmlns:a16="http://schemas.microsoft.com/office/drawing/2014/main" id="{81E1FB76-1F8A-481F-98FE-5A10A32CE2A5}"/>
              </a:ext>
            </a:extLst>
          </p:cNvPr>
          <p:cNvSpPr>
            <a:spLocks xmlns:a="http://schemas.openxmlformats.org/drawingml/2006/main" noGrp="1"/>
          </p:cNvSpPr>
          <p:nvPr/>
        </p:nvSpPr>
        <p:spPr>
          <a:xfrm xmlns:a="http://schemas.openxmlformats.org/drawingml/2006/main">
            <a:off x="714375" y="53721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75" b="0">
                <a:solidFill>
                  <a:srgbClr val="142C43"/>
                </a:solidFill>
                <a:latin typeface="Arial"/>
                <a:ea typeface="Arial"/>
                <a:cs typeface="Arial"/>
              </a:defRPr>
            </a:pPr>
            <a:r>
              <a:rPr sz="1875" b="0">
                <a:solidFill>
                  <a:srgbClr val="142C43"/>
                </a:solidFill>
                <a:latin typeface="Arial"/>
                <a:ea typeface="Arial"/>
                <a:cs typeface="Arial"/>
              </a:rPr>
              <a:t>Known label success, missing file: recover the original artifact within EXECUTING.</a:t>
            </a:r>
          </a:p>
        </p:txBody>
      </p:sp>
      <p:sp>
        <p:nvSpPr>
          <p:cNvPr id="22" name="text-95">
            <a:extLst xmlns:a="http://schemas.openxmlformats.org/drawingml/2006/main">
              <a:ext uri="{FF2B5EF4-FFF2-40B4-BE49-F238E27FC236}">
                <a16:creationId xmlns:a16="http://schemas.microsoft.com/office/drawing/2014/main" id="{BC94C52C-FE96-4F39-8597-703F2B055ABF}"/>
              </a:ext>
            </a:extLst>
          </p:cNvPr>
          <p:cNvSpPr>
            <a:spLocks xmlns:a="http://schemas.openxmlformats.org/drawingml/2006/main" noGrp="1"/>
          </p:cNvSpPr>
          <p:nvPr/>
        </p:nvSpPr>
        <p:spPr>
          <a:xfrm xmlns:a="http://schemas.openxmlformats.org/drawingml/2006/main">
            <a:off x="714375" y="58769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75" b="0">
                <a:solidFill>
                  <a:srgbClr val="142C43"/>
                </a:solidFill>
                <a:latin typeface="Arial"/>
                <a:ea typeface="Arial"/>
                <a:cs typeface="Arial"/>
              </a:defRPr>
            </a:pPr>
            <a:r>
              <a:rPr sz="1875" b="0">
                <a:solidFill>
                  <a:srgbClr val="142C43"/>
                </a:solidFill>
                <a:latin typeface="Arial"/>
                <a:ea typeface="Arial"/>
                <a:cs typeface="Arial"/>
              </a:rPr>
              <a:t>Notification-only retry preserves successful return and label results.</a:t>
            </a:r>
          </a:p>
        </p:txBody>
      </p:sp>
    </p:spTree>
    <p:extLst>
      <p:ext uri="{BB962C8B-B14F-4D97-AF65-F5344CB8AC3E}">
        <p14:creationId xmlns:p14="http://schemas.microsoft.com/office/powerpoint/2010/main" val="5038475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96">
            <a:extLst xmlns:a="http://schemas.openxmlformats.org/drawingml/2006/main">
              <a:ext uri="{FF2B5EF4-FFF2-40B4-BE49-F238E27FC236}">
                <a16:creationId xmlns:a16="http://schemas.microsoft.com/office/drawing/2014/main" id="{8B4883A5-DAD8-4B5F-A499-0FB0648D4E39}"/>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Shared classes and object snapshot</a:t>
            </a:r>
          </a:p>
        </p:txBody>
      </p:sp>
      <p:sp>
        <p:nvSpPr>
          <p:cNvPr id="2" name="text-97">
            <a:extLst xmlns:a="http://schemas.openxmlformats.org/drawingml/2006/main">
              <a:ext uri="{FF2B5EF4-FFF2-40B4-BE49-F238E27FC236}">
                <a16:creationId xmlns:a16="http://schemas.microsoft.com/office/drawing/2014/main" id="{B7045B40-4164-47A0-82DB-594B274D0039}"/>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Typed structure and concrete instances answer different questions</a:t>
            </a:r>
          </a:p>
        </p:txBody>
      </p:sp>
      <p:sp>
        <p:nvSpPr>
          <p:cNvPr id="3" name="text-98">
            <a:extLst xmlns:a="http://schemas.openxmlformats.org/drawingml/2006/main">
              <a:ext uri="{FF2B5EF4-FFF2-40B4-BE49-F238E27FC236}">
                <a16:creationId xmlns:a16="http://schemas.microsoft.com/office/drawing/2014/main" id="{FFE9DC14-E2C3-48AA-A152-5667F7EA6B23}"/>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C   8 / 9</a:t>
            </a:r>
          </a:p>
        </p:txBody>
      </p:sp>
      <p:sp>
        <p:nvSpPr>
          <p:cNvPr id="4" name="text-99">
            <a:extLst xmlns:a="http://schemas.openxmlformats.org/drawingml/2006/main">
              <a:ext uri="{FF2B5EF4-FFF2-40B4-BE49-F238E27FC236}">
                <a16:creationId xmlns:a16="http://schemas.microsoft.com/office/drawing/2014/main" id="{C02BEB00-7DF4-41DD-9F7D-0C92A00BF405}"/>
              </a:ext>
            </a:extLst>
          </p:cNvPr>
          <p:cNvSpPr>
            <a:spLocks xmlns:a="http://schemas.openxmlformats.org/drawingml/2006/main" noGrp="1"/>
          </p:cNvSpPr>
          <p:nvPr/>
        </p:nvSpPr>
        <p:spPr>
          <a:xfrm xmlns:a="http://schemas.openxmlformats.org/drawingml/2006/main">
            <a:off x="666750" y="17049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175" b="1">
                <a:solidFill>
                  <a:srgbClr val="142C43"/>
                </a:solidFill>
                <a:latin typeface="Arial"/>
                <a:ea typeface="Arial"/>
                <a:cs typeface="Arial"/>
              </a:defRPr>
            </a:pPr>
            <a:r>
              <a:rPr sz="2175" b="1">
                <a:solidFill>
                  <a:srgbClr val="142C43"/>
                </a:solidFill>
                <a:latin typeface="Arial"/>
                <a:ea typeface="Arial"/>
                <a:cs typeface="Arial"/>
              </a:rPr>
              <a:t>Class model fragment</a:t>
            </a:r>
          </a:p>
        </p:txBody>
      </p:sp>
      <p:sp>
        <p:nvSpPr>
          <p:cNvPr id="5" name="text-100">
            <a:extLst xmlns:a="http://schemas.openxmlformats.org/drawingml/2006/main">
              <a:ext uri="{FF2B5EF4-FFF2-40B4-BE49-F238E27FC236}">
                <a16:creationId xmlns:a16="http://schemas.microsoft.com/office/drawing/2014/main" id="{0C55ED58-575A-479C-A3A0-04DB2F82E983}"/>
              </a:ext>
            </a:extLst>
          </p:cNvPr>
          <p:cNvSpPr>
            <a:spLocks xmlns:a="http://schemas.openxmlformats.org/drawingml/2006/main" noGrp="1"/>
          </p:cNvSpPr>
          <p:nvPr/>
        </p:nvSpPr>
        <p:spPr>
          <a:xfrm xmlns:a="http://schemas.openxmlformats.org/drawingml/2006/main">
            <a:off x="6238875" y="170497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175" b="1">
                <a:solidFill>
                  <a:srgbClr val="142C43"/>
                </a:solidFill>
                <a:latin typeface="Arial"/>
                <a:ea typeface="Arial"/>
                <a:cs typeface="Arial"/>
              </a:defRPr>
            </a:pPr>
            <a:r>
              <a:rPr sz="2175" b="1">
                <a:solidFill>
                  <a:srgbClr val="142C43"/>
                </a:solidFill>
                <a:latin typeface="Arial"/>
                <a:ea typeface="Arial"/>
                <a:cs typeface="Arial"/>
              </a:rPr>
              <a:t>Synthetic object snapshot</a:t>
            </a:r>
          </a:p>
        </p:txBody>
      </p:sp>
      <p:sp>
        <p:nvSpPr>
          <p:cNvPr id="6" name="text-101">
            <a:extLst xmlns:a="http://schemas.openxmlformats.org/drawingml/2006/main">
              <a:ext uri="{FF2B5EF4-FFF2-40B4-BE49-F238E27FC236}">
                <a16:creationId xmlns:a16="http://schemas.microsoft.com/office/drawing/2014/main" id="{20381088-FC14-4682-BE51-4AD47D65129D}"/>
              </a:ext>
            </a:extLst>
          </p:cNvPr>
          <p:cNvSpPr>
            <a:spLocks xmlns:a="http://schemas.openxmlformats.org/drawingml/2006/main" noGrp="1"/>
          </p:cNvSpPr>
          <p:nvPr/>
        </p:nvSpPr>
        <p:spPr>
          <a:xfrm xmlns:a="http://schemas.openxmlformats.org/drawingml/2006/main">
            <a:off x="1047750" y="2333625"/>
            <a:ext cx="3524250" cy="904875"/>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ReturnCase</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case_id</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input_version</a:t>
            </a:r>
          </a:p>
        </p:txBody>
      </p:sp>
      <p:sp>
        <p:nvSpPr>
          <p:cNvPr id="7" name="text-102">
            <a:extLst xmlns:a="http://schemas.openxmlformats.org/drawingml/2006/main">
              <a:ext uri="{FF2B5EF4-FFF2-40B4-BE49-F238E27FC236}">
                <a16:creationId xmlns:a16="http://schemas.microsoft.com/office/drawing/2014/main" id="{6C80E6EF-D406-413B-B98E-7FFED10CBAFE}"/>
              </a:ext>
            </a:extLst>
          </p:cNvPr>
          <p:cNvSpPr>
            <a:spLocks xmlns:a="http://schemas.openxmlformats.org/drawingml/2006/main" noGrp="1"/>
          </p:cNvSpPr>
          <p:nvPr/>
        </p:nvSpPr>
        <p:spPr>
          <a:xfrm xmlns:a="http://schemas.openxmlformats.org/drawingml/2006/main">
            <a:off x="1047750" y="3962400"/>
            <a:ext cx="3524250" cy="9525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DecisionPacket</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proposal_id</a:t>
            </a:r>
          </a:p>
          <a:p xmlns:a="http://schemas.openxmlformats.org/drawingml/2006/main">
            <a:pPr algn="ctr">
              <a:defRPr sz="1800" b="0">
                <a:solidFill>
                  <a:srgbClr val="142C43"/>
                </a:solidFill>
                <a:latin typeface="Arial"/>
                <a:ea typeface="Arial"/>
                <a:cs typeface="Arial"/>
              </a:defRPr>
            </a:pPr>
            <a:r>
              <a:rPr sz="1800" b="0">
                <a:solidFill>
                  <a:srgbClr val="142C43"/>
                </a:solidFill>
                <a:latin typeface="Arial"/>
                <a:ea typeface="Arial"/>
                <a:cs typeface="Arial"/>
              </a:rPr>
              <a:t>proposal_version</a:t>
            </a:r>
          </a:p>
        </p:txBody>
      </p:sp>
      <p:cxnSp>
        <p:nvCxnSpPr>
          <p:cNvPr id="34" name=""/>
          <p:cNvCxnSpPr>
            <a:stCxn xmlns:a="http://schemas.openxmlformats.org/drawingml/2006/main" id="6" idx="2"/>
            <a:endCxn xmlns:a="http://schemas.openxmlformats.org/drawingml/2006/main" id="7" idx="0"/>
          </p:cNvCxnSpPr>
          <p:nvPr/>
        </p:nvCxnSpPr>
        <p:spPr>
          <a:xfrm xmlns:a="http://schemas.openxmlformats.org/drawingml/2006/main">
            <a:off x="2809875" y="3238500"/>
            <a:ext cx="0" cy="723900"/>
          </a:xfrm>
          <a:prstGeom xmlns:a="http://schemas.openxmlformats.org/drawingml/2006/main" prst="straightConnector1">
            <a:avLst/>
          </a:prstGeom>
          <a:ln xmlns:a="http://schemas.openxmlformats.org/drawingml/2006/main" w="19050">
            <a:solidFill>
              <a:srgbClr val="748591"/>
            </a:solidFill>
            <a:prstDash val="solid"/>
            <a:headEnd type="diamond" w="sm" len="sm"/>
            <a:tailEnd type="none" w="sm" len="sm"/>
          </a:ln>
        </p:spPr>
      </p:cxnSp>
      <p:sp>
        <p:nvSpPr>
          <p:cNvPr id="9" name="text-103">
            <a:extLst xmlns:a="http://schemas.openxmlformats.org/drawingml/2006/main">
              <a:ext uri="{FF2B5EF4-FFF2-40B4-BE49-F238E27FC236}">
                <a16:creationId xmlns:a16="http://schemas.microsoft.com/office/drawing/2014/main" id="{9ADC6612-5E09-48A4-B3D3-718E7BFB994C}"/>
              </a:ext>
            </a:extLst>
          </p:cNvPr>
          <p:cNvSpPr>
            <a:spLocks xmlns:a="http://schemas.openxmlformats.org/drawingml/2006/main" noGrp="1"/>
          </p:cNvSpPr>
          <p:nvPr/>
        </p:nvSpPr>
        <p:spPr>
          <a:xfrm xmlns:a="http://schemas.openxmlformats.org/drawingml/2006/main">
            <a:off x="733425" y="3228975"/>
            <a:ext cx="4286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1</a:t>
            </a:r>
          </a:p>
        </p:txBody>
      </p:sp>
      <p:sp>
        <p:nvSpPr>
          <p:cNvPr id="10" name="text-104">
            <a:extLst xmlns:a="http://schemas.openxmlformats.org/drawingml/2006/main">
              <a:ext uri="{FF2B5EF4-FFF2-40B4-BE49-F238E27FC236}">
                <a16:creationId xmlns:a16="http://schemas.microsoft.com/office/drawing/2014/main" id="{8DE6C546-0117-45ED-BD39-AFFD4CC3F692}"/>
              </a:ext>
            </a:extLst>
          </p:cNvPr>
          <p:cNvSpPr>
            <a:spLocks xmlns:a="http://schemas.openxmlformats.org/drawingml/2006/main" noGrp="1"/>
          </p:cNvSpPr>
          <p:nvPr/>
        </p:nvSpPr>
        <p:spPr>
          <a:xfrm xmlns:a="http://schemas.openxmlformats.org/drawingml/2006/main">
            <a:off x="1162050" y="3476625"/>
            <a:ext cx="2066925" cy="3238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75" b="0">
                <a:solidFill>
                  <a:srgbClr val="536472"/>
                </a:solidFill>
                <a:latin typeface="Arial"/>
                <a:ea typeface="Arial"/>
                <a:cs typeface="Arial"/>
              </a:defRPr>
            </a:pPr>
            <a:r>
              <a:rPr sz="1575" b="0">
                <a:solidFill>
                  <a:srgbClr val="536472"/>
                </a:solidFill>
                <a:latin typeface="Arial"/>
                <a:ea typeface="Arial"/>
                <a:cs typeface="Arial"/>
              </a:rPr>
              <a:t>0..* revisions</a:t>
            </a:r>
          </a:p>
        </p:txBody>
      </p:sp>
      <p:sp>
        <p:nvSpPr>
          <p:cNvPr id="11" name="text-105">
            <a:extLst xmlns:a="http://schemas.openxmlformats.org/drawingml/2006/main">
              <a:ext uri="{FF2B5EF4-FFF2-40B4-BE49-F238E27FC236}">
                <a16:creationId xmlns:a16="http://schemas.microsoft.com/office/drawing/2014/main" id="{BD213CC4-1AC1-4136-A123-DD73124CEB85}"/>
              </a:ext>
            </a:extLst>
          </p:cNvPr>
          <p:cNvSpPr>
            <a:spLocks xmlns:a="http://schemas.openxmlformats.org/drawingml/2006/main" noGrp="1"/>
          </p:cNvSpPr>
          <p:nvPr/>
        </p:nvSpPr>
        <p:spPr>
          <a:xfrm xmlns:a="http://schemas.openxmlformats.org/drawingml/2006/main">
            <a:off x="7429500" y="2266950"/>
            <a:ext cx="3943350" cy="64770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case02 : ReturnCase</a:t>
            </a:r>
          </a:p>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status = ESCALATED</a:t>
            </a:r>
          </a:p>
        </p:txBody>
      </p:sp>
      <p:sp>
        <p:nvSpPr>
          <p:cNvPr id="12" name="text-106">
            <a:extLst xmlns:a="http://schemas.openxmlformats.org/drawingml/2006/main">
              <a:ext uri="{FF2B5EF4-FFF2-40B4-BE49-F238E27FC236}">
                <a16:creationId xmlns:a16="http://schemas.microsoft.com/office/drawing/2014/main" id="{14CFCB88-361E-4359-9709-0EF4D2C670F7}"/>
              </a:ext>
            </a:extLst>
          </p:cNvPr>
          <p:cNvSpPr>
            <a:spLocks xmlns:a="http://schemas.openxmlformats.org/drawingml/2006/main" noGrp="1"/>
          </p:cNvSpPr>
          <p:nvPr/>
        </p:nvSpPr>
        <p:spPr>
          <a:xfrm xmlns:a="http://schemas.openxmlformats.org/drawingml/2006/main">
            <a:off x="7429500" y="3305175"/>
            <a:ext cx="3943350" cy="64770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packet02 : DecisionPacket</a:t>
            </a:r>
          </a:p>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proposal_version = 1</a:t>
            </a:r>
          </a:p>
        </p:txBody>
      </p:sp>
      <p:sp>
        <p:nvSpPr>
          <p:cNvPr id="13" name="text-107">
            <a:extLst xmlns:a="http://schemas.openxmlformats.org/drawingml/2006/main">
              <a:ext uri="{FF2B5EF4-FFF2-40B4-BE49-F238E27FC236}">
                <a16:creationId xmlns:a16="http://schemas.microsoft.com/office/drawing/2014/main" id="{6652D1B3-9835-4E49-8973-7229DF20694F}"/>
              </a:ext>
            </a:extLst>
          </p:cNvPr>
          <p:cNvSpPr>
            <a:spLocks xmlns:a="http://schemas.openxmlformats.org/drawingml/2006/main" noGrp="1"/>
          </p:cNvSpPr>
          <p:nvPr/>
        </p:nvSpPr>
        <p:spPr>
          <a:xfrm xmlns:a="http://schemas.openxmlformats.org/drawingml/2006/main">
            <a:off x="8458200" y="4829175"/>
            <a:ext cx="2914650" cy="742950"/>
          </a:xfrm>
          <a:prstGeom xmlns:a="http://schemas.openxmlformats.org/drawingml/2006/main" prst="rect">
            <a:avLst/>
          </a:prstGeom>
          <a:solidFill xmlns:a="http://schemas.openxmlformats.org/drawingml/2006/main">
            <a:srgbClr val="EAF4F3"/>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review02 : RiskReview</a:t>
            </a:r>
          </a:p>
          <a:p xmlns:a="http://schemas.openxmlformats.org/drawingml/2006/main">
            <a:pPr algn="ctr">
              <a:defRPr sz="1650" b="0">
                <a:solidFill>
                  <a:srgbClr val="142C43"/>
                </a:solidFill>
                <a:latin typeface="Arial"/>
                <a:ea typeface="Arial"/>
                <a:cs typeface="Arial"/>
              </a:defRPr>
            </a:pPr>
            <a:r>
              <a:rPr sz="1650" b="0">
                <a:solidFill>
                  <a:srgbClr val="142C43"/>
                </a:solidFill>
                <a:latin typeface="Arial"/>
                <a:ea typeface="Arial"/>
                <a:cs typeface="Arial"/>
              </a:rPr>
              <a:t>outcome = ESCALATE</a:t>
            </a:r>
          </a:p>
        </p:txBody>
      </p:sp>
      <p:sp>
        <p:nvSpPr>
          <p:cNvPr id="14" name="text-108">
            <a:extLst xmlns:a="http://schemas.openxmlformats.org/drawingml/2006/main">
              <a:ext uri="{FF2B5EF4-FFF2-40B4-BE49-F238E27FC236}">
                <a16:creationId xmlns:a16="http://schemas.microsoft.com/office/drawing/2014/main" id="{6C623FE9-53E2-4872-BECF-5DDA1376515C}"/>
              </a:ext>
            </a:extLst>
          </p:cNvPr>
          <p:cNvSpPr>
            <a:spLocks xmlns:a="http://schemas.openxmlformats.org/drawingml/2006/main" noGrp="1"/>
          </p:cNvSpPr>
          <p:nvPr/>
        </p:nvSpPr>
        <p:spPr>
          <a:xfrm xmlns:a="http://schemas.openxmlformats.org/drawingml/2006/main">
            <a:off x="5895975" y="4429125"/>
            <a:ext cx="2457450" cy="5715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350" b="0">
                <a:solidFill>
                  <a:srgbClr val="142C43"/>
                </a:solidFill>
                <a:latin typeface="Arial"/>
                <a:ea typeface="Arial"/>
                <a:cs typeface="Arial"/>
              </a:defRPr>
            </a:pPr>
            <a:r>
              <a:rPr sz="1350" b="0">
                <a:solidFill>
                  <a:srgbClr val="142C43"/>
                </a:solidFill>
                <a:latin typeface="Arial"/>
                <a:ea typeface="Arial"/>
                <a:cs typeface="Arial"/>
              </a:rPr>
              <a:t>policy01 : PolicyPassage</a:t>
            </a:r>
          </a:p>
          <a:p xmlns:a="http://schemas.openxmlformats.org/drawingml/2006/main">
            <a:pPr algn="ctr">
              <a:defRPr sz="1350" b="0">
                <a:solidFill>
                  <a:srgbClr val="142C43"/>
                </a:solidFill>
                <a:latin typeface="Arial"/>
                <a:ea typeface="Arial"/>
                <a:cs typeface="Arial"/>
              </a:defRPr>
            </a:pPr>
            <a:r>
              <a:rPr sz="1350" b="0">
                <a:solidFill>
                  <a:srgbClr val="142C43"/>
                </a:solidFill>
                <a:latin typeface="Arial"/>
                <a:ea typeface="Arial"/>
                <a:cs typeface="Arial"/>
              </a:rPr>
              <a:t>Criterion X: not eligible.</a:t>
            </a:r>
          </a:p>
        </p:txBody>
      </p:sp>
      <p:sp>
        <p:nvSpPr>
          <p:cNvPr id="15" name="text-109">
            <a:extLst xmlns:a="http://schemas.openxmlformats.org/drawingml/2006/main">
              <a:ext uri="{FF2B5EF4-FFF2-40B4-BE49-F238E27FC236}">
                <a16:creationId xmlns:a16="http://schemas.microsoft.com/office/drawing/2014/main" id="{0B8B74BD-6C5B-401A-B5EB-803D5E5B5538}"/>
              </a:ext>
            </a:extLst>
          </p:cNvPr>
          <p:cNvSpPr>
            <a:spLocks xmlns:a="http://schemas.openxmlformats.org/drawingml/2006/main" noGrp="1"/>
          </p:cNvSpPr>
          <p:nvPr/>
        </p:nvSpPr>
        <p:spPr>
          <a:xfrm xmlns:a="http://schemas.openxmlformats.org/drawingml/2006/main">
            <a:off x="5895975" y="5276850"/>
            <a:ext cx="2457450" cy="571500"/>
          </a:xfrm>
          <a:prstGeom xmlns:a="http://schemas.openxmlformats.org/drawingml/2006/main" prst="rect">
            <a:avLst/>
          </a:prstGeom>
          <a:solidFill xmlns:a="http://schemas.openxmlformats.org/drawingml/2006/main">
            <a:srgbClr val="F0F3F6"/>
          </a:solidFill>
          <a:ln xmlns:a="http://schemas.openxmlformats.org/drawingml/2006/main" w="14288">
            <a:solidFill>
              <a:srgbClr val="748591"/>
            </a:solid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ctr">
              <a:defRPr sz="1350" b="0">
                <a:solidFill>
                  <a:srgbClr val="142C43"/>
                </a:solidFill>
                <a:latin typeface="Arial"/>
                <a:ea typeface="Arial"/>
                <a:cs typeface="Arial"/>
              </a:defRPr>
            </a:pPr>
            <a:r>
              <a:rPr sz="1350" b="0">
                <a:solidFill>
                  <a:srgbClr val="142C43"/>
                </a:solidFill>
                <a:latin typeface="Arial"/>
                <a:ea typeface="Arial"/>
                <a:cs typeface="Arial"/>
              </a:rPr>
              <a:t>guidance01 : PolicyPassage</a:t>
            </a:r>
          </a:p>
          <a:p xmlns:a="http://schemas.openxmlformats.org/drawingml/2006/main">
            <a:pPr algn="ctr">
              <a:defRPr sz="1350" b="0">
                <a:solidFill>
                  <a:srgbClr val="142C43"/>
                </a:solidFill>
                <a:latin typeface="Arial"/>
                <a:ea typeface="Arial"/>
                <a:cs typeface="Arial"/>
              </a:defRPr>
            </a:pPr>
            <a:r>
              <a:rPr sz="1350" b="0">
                <a:solidFill>
                  <a:srgbClr val="142C43"/>
                </a:solidFill>
                <a:latin typeface="Arial"/>
                <a:ea typeface="Arial"/>
                <a:cs typeface="Arial"/>
              </a:rPr>
              <a:t>Criterion X: eligible.</a:t>
            </a:r>
          </a:p>
        </p:txBody>
      </p:sp>
      <p:cxnSp>
        <p:nvCxnSpPr>
          <p:cNvPr id="42" name=""/>
          <p:cNvCxnSpPr>
            <a:stCxn xmlns:a="http://schemas.openxmlformats.org/drawingml/2006/main" id="11" idx="2"/>
            <a:endCxn xmlns:a="http://schemas.openxmlformats.org/drawingml/2006/main" id="12" idx="0"/>
          </p:cNvCxnSpPr>
          <p:nvPr/>
        </p:nvCxnSpPr>
        <p:spPr>
          <a:xfrm xmlns:a="http://schemas.openxmlformats.org/drawingml/2006/main">
            <a:off x="9401175" y="2914650"/>
            <a:ext cx="0" cy="390525"/>
          </a:xfrm>
          <a:prstGeom xmlns:a="http://schemas.openxmlformats.org/drawingml/2006/main" prst="straightConnector1">
            <a:avLst/>
          </a:prstGeom>
          <a:ln xmlns:a="http://schemas.openxmlformats.org/drawingml/2006/main" w="19050">
            <a:solidFill>
              <a:srgbClr val="748591"/>
            </a:solidFill>
            <a:prstDash val="solid"/>
            <a:headEnd type="none" w="sm" len="sm"/>
            <a:tailEnd type="none" w="sm" len="sm"/>
          </a:ln>
        </p:spPr>
      </p:cxnSp>
      <p:sp>
        <p:nvSpPr>
          <p:cNvPr id="17" name="text-110">
            <a:extLst xmlns:a="http://schemas.openxmlformats.org/drawingml/2006/main">
              <a:ext uri="{FF2B5EF4-FFF2-40B4-BE49-F238E27FC236}">
                <a16:creationId xmlns:a16="http://schemas.microsoft.com/office/drawing/2014/main" id="{BF1AB3ED-0FB3-4831-945D-81DA0C8BE7C9}"/>
              </a:ext>
            </a:extLst>
          </p:cNvPr>
          <p:cNvSpPr>
            <a:spLocks xmlns:a="http://schemas.openxmlformats.org/drawingml/2006/main" noGrp="1"/>
          </p:cNvSpPr>
          <p:nvPr/>
        </p:nvSpPr>
        <p:spPr>
          <a:xfrm xmlns:a="http://schemas.openxmlformats.org/drawingml/2006/main">
            <a:off x="8239125" y="2971800"/>
            <a:ext cx="233362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00" b="0">
                <a:solidFill>
                  <a:srgbClr val="536472"/>
                </a:solidFill>
                <a:latin typeface="Arial"/>
                <a:ea typeface="Arial"/>
                <a:cs typeface="Arial"/>
              </a:defRPr>
            </a:pPr>
            <a:r>
              <a:rPr sz="1500" b="0">
                <a:solidFill>
                  <a:srgbClr val="536472"/>
                </a:solidFill>
                <a:latin typeface="Arial"/>
                <a:ea typeface="Arial"/>
                <a:cs typeface="Arial"/>
              </a:rPr>
              <a:t>current proposal</a:t>
            </a:r>
          </a:p>
        </p:txBody>
      </p:sp>
      <p:cxnSp>
        <p:nvCxnSpPr>
          <p:cNvPr id="44" name=""/>
          <p:cNvCxnSpPr>
            <a:stCxn xmlns:a="http://schemas.openxmlformats.org/drawingml/2006/main" id="12" idx="2"/>
            <a:endCxn xmlns:a="http://schemas.openxmlformats.org/drawingml/2006/main" id="13" idx="0"/>
          </p:cNvCxnSpPr>
          <p:nvPr/>
        </p:nvCxnSpPr>
        <p:spPr>
          <a:xfrm xmlns:a="http://schemas.openxmlformats.org/drawingml/2006/main">
            <a:off x="9401175" y="3952875"/>
            <a:ext cx="514350" cy="876300"/>
          </a:xfrm>
          <a:prstGeom xmlns:a="http://schemas.openxmlformats.org/drawingml/2006/main" prst="straightConnector1">
            <a:avLst/>
          </a:prstGeom>
          <a:ln xmlns:a="http://schemas.openxmlformats.org/drawingml/2006/main" w="19050">
            <a:solidFill>
              <a:srgbClr val="748591"/>
            </a:solidFill>
            <a:prstDash val="solid"/>
            <a:headEnd type="none" w="sm" len="sm"/>
            <a:tailEnd type="none" w="sm" len="sm"/>
          </a:ln>
        </p:spPr>
      </p:cxnSp>
      <p:sp>
        <p:nvSpPr>
          <p:cNvPr id="19" name="text-111">
            <a:extLst xmlns:a="http://schemas.openxmlformats.org/drawingml/2006/main">
              <a:ext uri="{FF2B5EF4-FFF2-40B4-BE49-F238E27FC236}">
                <a16:creationId xmlns:a16="http://schemas.microsoft.com/office/drawing/2014/main" id="{2E031CCC-AEA5-4F88-A1AD-FCC0D48FEEC0}"/>
              </a:ext>
            </a:extLst>
          </p:cNvPr>
          <p:cNvSpPr>
            <a:spLocks xmlns:a="http://schemas.openxmlformats.org/drawingml/2006/main" noGrp="1"/>
          </p:cNvSpPr>
          <p:nvPr/>
        </p:nvSpPr>
        <p:spPr>
          <a:xfrm xmlns:a="http://schemas.openxmlformats.org/drawingml/2006/main">
            <a:off x="9134475" y="4210050"/>
            <a:ext cx="21621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500" b="0">
                <a:solidFill>
                  <a:srgbClr val="536472"/>
                </a:solidFill>
                <a:latin typeface="Arial"/>
                <a:ea typeface="Arial"/>
                <a:cs typeface="Arial"/>
              </a:defRPr>
            </a:pPr>
            <a:r>
              <a:rPr sz="1500" b="0">
                <a:solidFill>
                  <a:srgbClr val="536472"/>
                </a:solidFill>
                <a:latin typeface="Arial"/>
                <a:ea typeface="Arial"/>
                <a:cs typeface="Arial"/>
              </a:rPr>
              <a:t>exact revision</a:t>
            </a:r>
          </a:p>
        </p:txBody>
      </p:sp>
      <p:cxnSp>
        <p:nvCxnSpPr>
          <p:cNvPr id="46" name=""/>
          <p:cNvCxnSpPr>
            <a:stCxn xmlns:a="http://schemas.openxmlformats.org/drawingml/2006/main" id="12" idx="1"/>
            <a:endCxn xmlns:a="http://schemas.openxmlformats.org/drawingml/2006/main" id="14" idx="0"/>
          </p:cNvCxnSpPr>
          <p:nvPr/>
        </p:nvCxnSpPr>
        <p:spPr>
          <a:xfrm xmlns:a="http://schemas.openxmlformats.org/drawingml/2006/main" flipH="1">
            <a:off x="7124700" y="3629025"/>
            <a:ext cx="304800" cy="800100"/>
          </a:xfrm>
          <a:prstGeom xmlns:a="http://schemas.openxmlformats.org/drawingml/2006/main" prst="bentConnector2">
            <a:avLst/>
          </a:prstGeom>
          <a:ln xmlns:a="http://schemas.openxmlformats.org/drawingml/2006/main" w="19050">
            <a:solidFill>
              <a:srgbClr val="748591"/>
            </a:solidFill>
            <a:prstDash val="solid"/>
            <a:headEnd type="none" w="sm" len="sm"/>
            <a:tailEnd type="none" w="sm" len="sm"/>
          </a:ln>
        </p:spPr>
      </p:cxnSp>
      <p:sp>
        <p:nvSpPr>
          <p:cNvPr id="21" name="text-112">
            <a:extLst xmlns:a="http://schemas.openxmlformats.org/drawingml/2006/main">
              <a:ext uri="{FF2B5EF4-FFF2-40B4-BE49-F238E27FC236}">
                <a16:creationId xmlns:a16="http://schemas.microsoft.com/office/drawing/2014/main" id="{9FB3AF49-3405-4973-B719-65253CA83BEB}"/>
              </a:ext>
            </a:extLst>
          </p:cNvPr>
          <p:cNvSpPr>
            <a:spLocks xmlns:a="http://schemas.openxmlformats.org/drawingml/2006/main" noGrp="1"/>
          </p:cNvSpPr>
          <p:nvPr/>
        </p:nvSpPr>
        <p:spPr>
          <a:xfrm xmlns:a="http://schemas.openxmlformats.org/drawingml/2006/main">
            <a:off x="6057900" y="3943350"/>
            <a:ext cx="1571625"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defRPr sz="1350" b="0">
                <a:solidFill>
                  <a:srgbClr val="536472"/>
                </a:solidFill>
                <a:latin typeface="Arial"/>
                <a:ea typeface="Arial"/>
                <a:cs typeface="Arial"/>
              </a:defRPr>
            </a:pPr>
            <a:r>
              <a:rPr sz="1350" b="0">
                <a:solidFill>
                  <a:srgbClr val="536472"/>
                </a:solidFill>
                <a:latin typeface="Arial"/>
                <a:ea typeface="Arial"/>
                <a:cs typeface="Arial"/>
              </a:rPr>
              <a:t>via citations</a:t>
            </a:r>
          </a:p>
        </p:txBody>
      </p:sp>
      <p:sp>
        <p:nvSpPr>
          <p:cNvPr id="22" name="text-113">
            <a:extLst xmlns:a="http://schemas.openxmlformats.org/drawingml/2006/main">
              <a:ext uri="{FF2B5EF4-FFF2-40B4-BE49-F238E27FC236}">
                <a16:creationId xmlns:a16="http://schemas.microsoft.com/office/drawing/2014/main" id="{8358B607-8340-4C25-AC87-3EB233E4B466}"/>
              </a:ext>
            </a:extLst>
          </p:cNvPr>
          <p:cNvSpPr>
            <a:spLocks xmlns:a="http://schemas.openxmlformats.org/drawingml/2006/main" noGrp="1"/>
          </p:cNvSpPr>
          <p:nvPr/>
        </p:nvSpPr>
        <p:spPr>
          <a:xfrm xmlns:a="http://schemas.openxmlformats.org/drawingml/2006/main">
            <a:off x="5743575" y="554355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49" name=""/>
          <p:cNvCxnSpPr>
            <a:stCxn xmlns:a="http://schemas.openxmlformats.org/drawingml/2006/main" id="12" idx="1"/>
            <a:endCxn xmlns:a="http://schemas.openxmlformats.org/drawingml/2006/main" id="22" idx="0"/>
          </p:cNvCxnSpPr>
          <p:nvPr/>
        </p:nvCxnSpPr>
        <p:spPr>
          <a:xfrm xmlns:a="http://schemas.openxmlformats.org/drawingml/2006/main" flipH="1">
            <a:off x="5748338" y="3629025"/>
            <a:ext cx="1681163" cy="1914525"/>
          </a:xfrm>
          <a:prstGeom xmlns:a="http://schemas.openxmlformats.org/drawingml/2006/main" prst="bentConnector2">
            <a:avLst/>
          </a:prstGeom>
          <a:ln xmlns:a="http://schemas.openxmlformats.org/drawingml/2006/main" w="19050">
            <a:solidFill>
              <a:srgbClr val="748591"/>
            </a:solidFill>
            <a:prstDash val="solid"/>
            <a:headEnd type="none" w="sm" len="sm"/>
            <a:tailEnd type="none" w="sm" len="sm"/>
          </a:ln>
        </p:spPr>
      </p:cxnSp>
      <p:cxnSp>
        <p:nvCxnSpPr>
          <p:cNvPr id="50" name=""/>
          <p:cNvCxnSpPr>
            <a:stCxn xmlns:a="http://schemas.openxmlformats.org/drawingml/2006/main" id="22" idx="3"/>
            <a:endCxn xmlns:a="http://schemas.openxmlformats.org/drawingml/2006/main" id="15" idx="1"/>
          </p:cNvCxnSpPr>
          <p:nvPr/>
        </p:nvCxnSpPr>
        <p:spPr>
          <a:xfrm xmlns:a="http://schemas.openxmlformats.org/drawingml/2006/main">
            <a:off x="5753100" y="5548313"/>
            <a:ext cx="142875" cy="14288"/>
          </a:xfrm>
          <a:prstGeom xmlns:a="http://schemas.openxmlformats.org/drawingml/2006/main" prst="straightConnector1">
            <a:avLst/>
          </a:prstGeom>
          <a:ln xmlns:a="http://schemas.openxmlformats.org/drawingml/2006/main" w="19050">
            <a:solidFill>
              <a:srgbClr val="748591"/>
            </a:solidFill>
            <a:prstDash val="solid"/>
            <a:headEnd type="none" w="sm" len="sm"/>
            <a:tailEnd type="none" w="sm" len="sm"/>
          </a:ln>
        </p:spPr>
      </p:cxnSp>
      <p:sp>
        <p:nvSpPr>
          <p:cNvPr id="25" name="text-114">
            <a:extLst xmlns:a="http://schemas.openxmlformats.org/drawingml/2006/main">
              <a:ext uri="{FF2B5EF4-FFF2-40B4-BE49-F238E27FC236}">
                <a16:creationId xmlns:a16="http://schemas.microsoft.com/office/drawing/2014/main" id="{03FA5B1B-39BE-486F-991F-4D68B68F36C6}"/>
              </a:ext>
            </a:extLst>
          </p:cNvPr>
          <p:cNvSpPr>
            <a:spLocks xmlns:a="http://schemas.openxmlformats.org/drawingml/2006/main" noGrp="1"/>
          </p:cNvSpPr>
          <p:nvPr/>
        </p:nvSpPr>
        <p:spPr>
          <a:xfrm xmlns:a="http://schemas.openxmlformats.org/drawingml/2006/main">
            <a:off x="619125" y="5257800"/>
            <a:ext cx="5105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725" b="0">
                <a:solidFill>
                  <a:srgbClr val="142C43"/>
                </a:solidFill>
                <a:latin typeface="Arial"/>
                <a:ea typeface="Arial"/>
                <a:cs typeface="Arial"/>
              </a:defRPr>
            </a:pPr>
            <a:r>
              <a:rPr sz="1725" b="0">
                <a:solidFill>
                  <a:srgbClr val="142C43"/>
                </a:solidFill>
                <a:latin typeface="Arial"/>
                <a:ea typeface="Arial"/>
                <a:cs typeface="Arial"/>
              </a:rPr>
              <a:t>Shared ProposalReview result maps to the RiskReview DTO. Review-work phases stay internal.</a:t>
            </a:r>
          </a:p>
        </p:txBody>
      </p:sp>
      <p:sp>
        <p:nvSpPr>
          <p:cNvPr id="26" name="text-115">
            <a:extLst xmlns:a="http://schemas.openxmlformats.org/drawingml/2006/main">
              <a:ext uri="{FF2B5EF4-FFF2-40B4-BE49-F238E27FC236}">
                <a16:creationId xmlns:a16="http://schemas.microsoft.com/office/drawing/2014/main" id="{033692A9-CD6C-45EA-96C0-D9505782E7DC}"/>
              </a:ext>
            </a:extLst>
          </p:cNvPr>
          <p:cNvSpPr>
            <a:spLocks xmlns:a="http://schemas.openxmlformats.org/drawingml/2006/main" noGrp="1"/>
          </p:cNvSpPr>
          <p:nvPr/>
        </p:nvSpPr>
        <p:spPr>
          <a:xfrm xmlns:a="http://schemas.openxmlformats.org/drawingml/2006/main">
            <a:off x="5895975" y="5943600"/>
            <a:ext cx="5600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575" b="0">
                <a:solidFill>
                  <a:srgbClr val="536472"/>
                </a:solidFill>
                <a:latin typeface="Arial"/>
                <a:ea typeface="Arial"/>
                <a:cs typeface="Arial"/>
              </a:defRPr>
            </a:pPr>
            <a:r>
              <a:rPr sz="1575" b="0">
                <a:solidFill>
                  <a:srgbClr val="536472"/>
                </a:solidFill>
                <a:latin typeface="Arial"/>
                <a:ea typeface="Arial"/>
                <a:cs typeface="Arial"/>
              </a:rPr>
              <a:t>Synthetic example: no Founder decision or execution.</a:t>
            </a:r>
          </a:p>
        </p:txBody>
      </p:sp>
    </p:spTree>
    <p:extLst>
      <p:ext uri="{BB962C8B-B14F-4D97-AF65-F5344CB8AC3E}">
        <p14:creationId xmlns:p14="http://schemas.microsoft.com/office/powerpoint/2010/main" val="9721049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16">
            <a:extLst xmlns:a="http://schemas.openxmlformats.org/drawingml/2006/main">
              <a:ext uri="{FF2B5EF4-FFF2-40B4-BE49-F238E27FC236}">
                <a16:creationId xmlns:a16="http://schemas.microsoft.com/office/drawing/2014/main" id="{F86C7881-5906-4DFD-9C3C-F753F3C0B3E7}"/>
              </a:ext>
            </a:extLst>
          </p:cNvPr>
          <p:cNvSpPr>
            <a:spLocks xmlns:a="http://schemas.openxmlformats.org/drawingml/2006/main" noGrp="1"/>
          </p:cNvSpPr>
          <p:nvPr/>
        </p:nvSpPr>
        <p:spPr>
          <a:xfrm xmlns:a="http://schemas.openxmlformats.org/drawingml/2006/main">
            <a:off x="571500" y="333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3225" b="1">
                <a:solidFill>
                  <a:srgbClr val="142C43"/>
                </a:solidFill>
                <a:latin typeface="Arial"/>
                <a:ea typeface="Arial"/>
                <a:cs typeface="Arial"/>
              </a:defRPr>
            </a:pPr>
            <a:r>
              <a:rPr sz="3225" b="1">
                <a:solidFill>
                  <a:srgbClr val="142C43"/>
                </a:solidFill>
                <a:latin typeface="Arial"/>
                <a:ea typeface="Arial"/>
                <a:cs typeface="Arial"/>
              </a:rPr>
              <a:t>Design choices and acceptance</a:t>
            </a:r>
          </a:p>
        </p:txBody>
      </p:sp>
      <p:sp>
        <p:nvSpPr>
          <p:cNvPr id="2" name="text-117">
            <a:extLst xmlns:a="http://schemas.openxmlformats.org/drawingml/2006/main">
              <a:ext uri="{FF2B5EF4-FFF2-40B4-BE49-F238E27FC236}">
                <a16:creationId xmlns:a16="http://schemas.microsoft.com/office/drawing/2014/main" id="{1CD234C7-9CC2-4D30-A030-547C96216C51}"/>
              </a:ext>
            </a:extLst>
          </p:cNvPr>
          <p:cNvSpPr>
            <a:spLocks xmlns:a="http://schemas.openxmlformats.org/drawingml/2006/main" noGrp="1"/>
          </p:cNvSpPr>
          <p:nvPr/>
        </p:nvSpPr>
        <p:spPr>
          <a:xfrm xmlns:a="http://schemas.openxmlformats.org/drawingml/2006/main">
            <a:off x="590550" y="1047750"/>
            <a:ext cx="10991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800" b="0">
                <a:solidFill>
                  <a:srgbClr val="536472"/>
                </a:solidFill>
                <a:latin typeface="Arial"/>
                <a:ea typeface="Arial"/>
                <a:cs typeface="Arial"/>
              </a:defRPr>
            </a:pPr>
            <a:r>
              <a:rPr sz="1800" b="0">
                <a:solidFill>
                  <a:srgbClr val="536472"/>
                </a:solidFill>
                <a:latin typeface="Arial"/>
                <a:ea typeface="Arial"/>
                <a:cs typeface="Arial"/>
              </a:rPr>
              <a:t>A consistent model baseline guides the next implementation stage</a:t>
            </a:r>
          </a:p>
        </p:txBody>
      </p:sp>
      <p:sp>
        <p:nvSpPr>
          <p:cNvPr id="3" name="text-118">
            <a:extLst xmlns:a="http://schemas.openxmlformats.org/drawingml/2006/main">
              <a:ext uri="{FF2B5EF4-FFF2-40B4-BE49-F238E27FC236}">
                <a16:creationId xmlns:a16="http://schemas.microsoft.com/office/drawing/2014/main" id="{5971E3AA-D88E-4EBB-9825-EAD64E925063}"/>
              </a:ext>
            </a:extLst>
          </p:cNvPr>
          <p:cNvSpPr>
            <a:spLocks xmlns:a="http://schemas.openxmlformats.org/drawingml/2006/main" noGrp="1"/>
          </p:cNvSpPr>
          <p:nvPr/>
        </p:nvSpPr>
        <p:spPr>
          <a:xfrm xmlns:a="http://schemas.openxmlformats.org/drawingml/2006/main">
            <a:off x="10287000" y="639127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r">
              <a:defRPr sz="1200" b="0">
                <a:solidFill>
                  <a:srgbClr val="536472"/>
                </a:solidFill>
                <a:latin typeface="Arial"/>
                <a:ea typeface="Arial"/>
                <a:cs typeface="Arial"/>
              </a:defRPr>
            </a:pPr>
            <a:r>
              <a:rPr sz="1200" b="0">
                <a:solidFill>
                  <a:srgbClr val="536472"/>
                </a:solidFill>
                <a:latin typeface="Arial"/>
                <a:ea typeface="Arial"/>
                <a:cs typeface="Arial"/>
              </a:rPr>
              <a:t>A / C   9 / 9</a:t>
            </a:r>
          </a:p>
        </p:txBody>
      </p:sp>
      <p:sp>
        <p:nvSpPr>
          <p:cNvPr id="4" name="text-119">
            <a:extLst xmlns:a="http://schemas.openxmlformats.org/drawingml/2006/main">
              <a:ext uri="{FF2B5EF4-FFF2-40B4-BE49-F238E27FC236}">
                <a16:creationId xmlns:a16="http://schemas.microsoft.com/office/drawing/2014/main" id="{6E9D5EA3-6D9D-4278-9CF9-53D3C6201A4A}"/>
              </a:ext>
            </a:extLst>
          </p:cNvPr>
          <p:cNvSpPr>
            <a:spLocks xmlns:a="http://schemas.openxmlformats.org/drawingml/2006/main" noGrp="1"/>
          </p:cNvSpPr>
          <p:nvPr/>
        </p:nvSpPr>
        <p:spPr>
          <a:xfrm xmlns:a="http://schemas.openxmlformats.org/drawingml/2006/main">
            <a:off x="638175" y="17716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250" b="1">
                <a:solidFill>
                  <a:srgbClr val="142C43"/>
                </a:solidFill>
                <a:latin typeface="Arial"/>
                <a:ea typeface="Arial"/>
                <a:cs typeface="Arial"/>
              </a:defRPr>
            </a:pPr>
            <a:r>
              <a:rPr sz="2250" b="1">
                <a:solidFill>
                  <a:srgbClr val="142C43"/>
                </a:solidFill>
                <a:latin typeface="Arial"/>
                <a:ea typeface="Arial"/>
                <a:cs typeface="Arial"/>
              </a:rPr>
              <a:t>Selected design</a:t>
            </a:r>
          </a:p>
        </p:txBody>
      </p:sp>
      <p:sp>
        <p:nvSpPr>
          <p:cNvPr id="5" name="text-120">
            <a:extLst xmlns:a="http://schemas.openxmlformats.org/drawingml/2006/main">
              <a:ext uri="{FF2B5EF4-FFF2-40B4-BE49-F238E27FC236}">
                <a16:creationId xmlns:a16="http://schemas.microsoft.com/office/drawing/2014/main" id="{554FEA4B-EA00-47DB-B8F6-F76F4E7AD953}"/>
              </a:ext>
            </a:extLst>
          </p:cNvPr>
          <p:cNvSpPr>
            <a:spLocks xmlns:a="http://schemas.openxmlformats.org/drawingml/2006/main" noGrp="1"/>
          </p:cNvSpPr>
          <p:nvPr/>
        </p:nvSpPr>
        <p:spPr>
          <a:xfrm xmlns:a="http://schemas.openxmlformats.org/drawingml/2006/main">
            <a:off x="657225" y="2390775"/>
            <a:ext cx="50101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Modular application and PostgreSQL</a:t>
            </a:r>
          </a:p>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Simpler state ownership and recovery</a:t>
            </a:r>
          </a:p>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Microservices deferred</a:t>
            </a:r>
          </a:p>
        </p:txBody>
      </p:sp>
      <p:sp>
        <p:nvSpPr>
          <p:cNvPr id="6" name="text-121">
            <a:extLst xmlns:a="http://schemas.openxmlformats.org/drawingml/2006/main">
              <a:ext uri="{FF2B5EF4-FFF2-40B4-BE49-F238E27FC236}">
                <a16:creationId xmlns:a16="http://schemas.microsoft.com/office/drawing/2014/main" id="{06E80754-A65E-40FC-A394-1B4C58D0F4B6}"/>
              </a:ext>
            </a:extLst>
          </p:cNvPr>
          <p:cNvSpPr>
            <a:spLocks xmlns:a="http://schemas.openxmlformats.org/drawingml/2006/main" noGrp="1"/>
          </p:cNvSpPr>
          <p:nvPr/>
        </p:nvSpPr>
        <p:spPr>
          <a:xfrm xmlns:a="http://schemas.openxmlformats.org/drawingml/2006/main">
            <a:off x="657225" y="4076700"/>
            <a:ext cx="50101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Independent Risk and exact human approval</a:t>
            </a:r>
          </a:p>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An unrestricted agent with direct tool</a:t>
            </a:r>
          </a:p>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authority was rejected</a:t>
            </a:r>
          </a:p>
        </p:txBody>
      </p:sp>
      <p:sp>
        <p:nvSpPr>
          <p:cNvPr id="7" name="text-122">
            <a:extLst xmlns:a="http://schemas.openxmlformats.org/drawingml/2006/main">
              <a:ext uri="{FF2B5EF4-FFF2-40B4-BE49-F238E27FC236}">
                <a16:creationId xmlns:a16="http://schemas.microsoft.com/office/drawing/2014/main" id="{FF69A0E1-AF34-4B62-99C3-58BF8CC7B26E}"/>
              </a:ext>
            </a:extLst>
          </p:cNvPr>
          <p:cNvSpPr>
            <a:spLocks xmlns:a="http://schemas.openxmlformats.org/drawingml/2006/main" noGrp="1"/>
          </p:cNvSpPr>
          <p:nvPr/>
        </p:nvSpPr>
        <p:spPr>
          <a:xfrm xmlns:a="http://schemas.openxmlformats.org/drawingml/2006/main">
            <a:off x="6600825" y="17716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250" b="1">
                <a:solidFill>
                  <a:srgbClr val="142C43"/>
                </a:solidFill>
                <a:latin typeface="Arial"/>
                <a:ea typeface="Arial"/>
                <a:cs typeface="Arial"/>
              </a:defRPr>
            </a:pPr>
            <a:r>
              <a:rPr sz="2250" b="1">
                <a:solidFill>
                  <a:srgbClr val="142C43"/>
                </a:solidFill>
                <a:latin typeface="Arial"/>
                <a:ea typeface="Arial"/>
                <a:cs typeface="Arial"/>
              </a:rPr>
              <a:t>Acceptance and change</a:t>
            </a:r>
          </a:p>
        </p:txBody>
      </p:sp>
      <p:sp>
        <p:nvSpPr>
          <p:cNvPr id="8" name="text-123">
            <a:extLst xmlns:a="http://schemas.openxmlformats.org/drawingml/2006/main">
              <a:ext uri="{FF2B5EF4-FFF2-40B4-BE49-F238E27FC236}">
                <a16:creationId xmlns:a16="http://schemas.microsoft.com/office/drawing/2014/main" id="{605A381C-660F-4C11-AC9D-46B9C8645A43}"/>
              </a:ext>
            </a:extLst>
          </p:cNvPr>
          <p:cNvSpPr>
            <a:spLocks xmlns:a="http://schemas.openxmlformats.org/drawingml/2006/main" noGrp="1"/>
          </p:cNvSpPr>
          <p:nvPr/>
        </p:nvSpPr>
        <p:spPr>
          <a:xfrm xmlns:a="http://schemas.openxmlformats.org/drawingml/2006/main">
            <a:off x="6619875" y="241935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Trace requirements through models</a:t>
            </a:r>
          </a:p>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and normal plus exception scenarios</a:t>
            </a:r>
          </a:p>
        </p:txBody>
      </p:sp>
      <p:sp>
        <p:nvSpPr>
          <p:cNvPr id="9" name="text-124">
            <a:extLst xmlns:a="http://schemas.openxmlformats.org/drawingml/2006/main">
              <a:ext uri="{FF2B5EF4-FFF2-40B4-BE49-F238E27FC236}">
                <a16:creationId xmlns:a16="http://schemas.microsoft.com/office/drawing/2014/main" id="{34823673-B373-4961-8DF4-4ED9B68A43C0}"/>
              </a:ext>
            </a:extLst>
          </p:cNvPr>
          <p:cNvSpPr>
            <a:spLocks xmlns:a="http://schemas.openxmlformats.org/drawingml/2006/main" noGrp="1"/>
          </p:cNvSpPr>
          <p:nvPr/>
        </p:nvSpPr>
        <p:spPr>
          <a:xfrm xmlns:a="http://schemas.openxmlformats.org/drawingml/2006/main">
            <a:off x="6619875" y="3600450"/>
            <a:ext cx="4762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Review scope, interfaces, ownership</a:t>
            </a:r>
          </a:p>
          <a:p xmlns:a="http://schemas.openxmlformats.org/drawingml/2006/main">
            <a:pPr algn="l">
              <a:defRPr sz="2025" b="0">
                <a:solidFill>
                  <a:srgbClr val="142C43"/>
                </a:solidFill>
                <a:latin typeface="Arial"/>
                <a:ea typeface="Arial"/>
                <a:cs typeface="Arial"/>
              </a:defRPr>
            </a:pPr>
            <a:r>
              <a:rPr sz="2025" b="0">
                <a:solidFill>
                  <a:srgbClr val="142C43"/>
                </a:solidFill>
                <a:latin typeface="Arial"/>
                <a:ea typeface="Arial"/>
                <a:cs typeface="Arial"/>
              </a:rPr>
              <a:t>and affected tests before a change</a:t>
            </a:r>
          </a:p>
        </p:txBody>
      </p:sp>
      <p:sp>
        <p:nvSpPr>
          <p:cNvPr id="10" name="text-125">
            <a:extLst xmlns:a="http://schemas.openxmlformats.org/drawingml/2006/main">
              <a:ext uri="{FF2B5EF4-FFF2-40B4-BE49-F238E27FC236}">
                <a16:creationId xmlns:a16="http://schemas.microsoft.com/office/drawing/2014/main" id="{F44E9D22-A9E5-4AAE-A10A-3BA173FCB247}"/>
              </a:ext>
            </a:extLst>
          </p:cNvPr>
          <p:cNvSpPr>
            <a:spLocks xmlns:a="http://schemas.openxmlformats.org/drawingml/2006/main" noGrp="1"/>
          </p:cNvSpPr>
          <p:nvPr/>
        </p:nvSpPr>
        <p:spPr>
          <a:xfrm xmlns:a="http://schemas.openxmlformats.org/drawingml/2006/main">
            <a:off x="6619875" y="475297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2025" b="0">
                <a:solidFill>
                  <a:srgbClr val="127B78"/>
                </a:solidFill>
                <a:latin typeface="Arial"/>
                <a:ea typeface="Arial"/>
                <a:cs typeface="Arial"/>
              </a:defRPr>
            </a:pPr>
            <a:r>
              <a:rPr sz="2025" b="0">
                <a:solidFill>
                  <a:srgbClr val="127B78"/>
                </a:solidFill>
                <a:latin typeface="Arial"/>
                <a:ea typeface="Arial"/>
                <a:cs typeface="Arial"/>
              </a:rPr>
              <a:t>Prototype and comparative evaluation</a:t>
            </a:r>
          </a:p>
          <a:p xmlns:a="http://schemas.openxmlformats.org/drawingml/2006/main">
            <a:pPr algn="l">
              <a:defRPr sz="2025" b="0">
                <a:solidFill>
                  <a:srgbClr val="127B78"/>
                </a:solidFill>
                <a:latin typeface="Arial"/>
                <a:ea typeface="Arial"/>
                <a:cs typeface="Arial"/>
              </a:defRPr>
            </a:pPr>
            <a:r>
              <a:rPr sz="2025" b="0">
                <a:solidFill>
                  <a:srgbClr val="127B78"/>
                </a:solidFill>
                <a:latin typeface="Arial"/>
                <a:ea typeface="Arial"/>
                <a:cs typeface="Arial"/>
              </a:rPr>
              <a:t>remain later evidence</a:t>
            </a:r>
          </a:p>
        </p:txBody>
      </p:sp>
      <p:sp>
        <p:nvSpPr>
          <p:cNvPr id="11" name="text-126">
            <a:extLst xmlns:a="http://schemas.openxmlformats.org/drawingml/2006/main">
              <a:ext uri="{FF2B5EF4-FFF2-40B4-BE49-F238E27FC236}">
                <a16:creationId xmlns:a16="http://schemas.microsoft.com/office/drawing/2014/main" id="{58A7CE28-2AAA-4C2F-AF26-DF309DC9B1AC}"/>
              </a:ext>
            </a:extLst>
          </p:cNvPr>
          <p:cNvSpPr>
            <a:spLocks xmlns:a="http://schemas.openxmlformats.org/drawingml/2006/main" noGrp="1"/>
          </p:cNvSpPr>
          <p:nvPr/>
        </p:nvSpPr>
        <p:spPr>
          <a:xfrm xmlns:a="http://schemas.openxmlformats.org/drawingml/2006/main">
            <a:off x="619125" y="605790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66675" tIns="47625" rIns="66675" bIns="47625" anchor="ctr">
            <a:noAutofit/>
          </a:bodyPr>
          <a:lstStyle xmlns:a="http://schemas.openxmlformats.org/drawingml/2006/main"/>
          <a:p xmlns:a="http://schemas.openxmlformats.org/drawingml/2006/main">
            <a:pPr algn="l">
              <a:defRPr sz="1425" b="0">
                <a:solidFill>
                  <a:srgbClr val="536472"/>
                </a:solidFill>
                <a:latin typeface="Arial"/>
                <a:ea typeface="Arial"/>
                <a:cs typeface="Arial"/>
              </a:defRPr>
            </a:pPr>
            <a:r>
              <a:rPr sz="1425" b="0">
                <a:solidFill>
                  <a:srgbClr val="536472"/>
                </a:solidFill>
                <a:latin typeface="Arial"/>
                <a:ea typeface="Arial"/>
                <a:cs typeface="Arial"/>
              </a:rPr>
              <a:t>AI assisted preparation. Members must verify, understand and acknowledge their own contributions.</a:t>
            </a:r>
          </a:p>
        </p:txBody>
      </p:sp>
    </p:spTree>
    <p:extLst>
      <p:ext uri="{BB962C8B-B14F-4D97-AF65-F5344CB8AC3E}">
        <p14:creationId xmlns:p14="http://schemas.microsoft.com/office/powerpoint/2010/main" val="1191637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2026-09-21T04:40:27.8350000Z</dcterms:created>
  <dcterms:modified xsi:type="dcterms:W3CDTF">2026-09-21T04:40:27.8350000Z</dcterms:modified>
</coreProperties>
</file>